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5"/>
  </p:notesMasterIdLst>
  <p:sldIdLst>
    <p:sldId id="256" r:id="rId3"/>
    <p:sldId id="535" r:id="rId4"/>
    <p:sldId id="534" r:id="rId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6666"/>
    <a:srgbClr val="509AFD"/>
    <a:srgbClr val="4F7B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9"/>
    <p:restoredTop sz="94697"/>
  </p:normalViewPr>
  <p:slideViewPr>
    <p:cSldViewPr snapToGrid="0" snapToObjects="1">
      <p:cViewPr varScale="1">
        <p:scale>
          <a:sx n="108" d="100"/>
          <a:sy n="108" d="100"/>
        </p:scale>
        <p:origin x="73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tableStyles" Target="tableStyles.xml"/><Relationship Id="rId8" Type="http://schemas.openxmlformats.org/officeDocument/2006/relationships/viewProps" Target="viewProps.xml"/><Relationship Id="rId7" Type="http://schemas.openxmlformats.org/officeDocument/2006/relationships/presProps" Target="presProps.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sym typeface="+mn-ea"/>
              </a:rPr>
              <a:t>Hello everyone, I am Hengbo from ISCAS, professor yu's team. very excited to be here</a:t>
            </a:r>
            <a:endParaRPr lang="zh-CN" altLang="en-US"/>
          </a:p>
          <a:p>
            <a:endParaRPr lang="zh-CN" altLang="en-US"/>
          </a:p>
          <a:p>
            <a:r>
              <a:rPr lang="zh-CN" altLang="en-US">
                <a:sym typeface="+mn-ea"/>
              </a:rPr>
              <a:t>Today, we have a proposal for risc-v server platform OS test.</a:t>
            </a:r>
            <a:endParaRPr lang="zh-CN" altLang="en-US"/>
          </a:p>
          <a:p>
            <a:endParaRPr lang="zh-CN" altLang="en-US"/>
          </a:p>
          <a:p>
            <a:r>
              <a:rPr lang="zh-CN" altLang="en-US">
                <a:sym typeface="+mn-ea"/>
              </a:rPr>
              <a:t>so as you all know, currently, the server platform specification has clear descriptions of the requirements for each component. like server soc, BRS. Correspondingly, in the server platform test specification, there are test cases for each requirement. Each test case has a number and algorithm description. the number is associated with specific requirements, and the algorithm description contains test procedure step-by-step, and it can help to implement test cases. In the server SoC specification, it's the same. testcase and requirement is also related.</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a:p>
            <a:r>
              <a:rPr lang="zh-CN" altLang="en-US"/>
              <a:t>And at present, most test cases in BRS are tested in the UEFI shell. thus we found that RISC-V may need some test cases executed in the Linux shell, like the Linux applications in ARM Server Ready, to cover scenarios that cannot be tested in the UEFI shell. The aim is still to evaluate the hardware's functionality. to see if it meets server platform specification, such as PCIe, clock, PMU, security, etc.</a:t>
            </a:r>
            <a:endParaRPr lang="zh-CN" altLang="en-US"/>
          </a:p>
          <a:p>
            <a:endParaRPr lang="zh-CN" altLang="en-US"/>
          </a:p>
          <a:p>
            <a:r>
              <a:rPr lang="zh-CN" altLang="en-US"/>
              <a:t>So here is our idea, and we are still in the early stages. It is quite similar to BSA or SBSA test in ARM Server Ready, where the entire framework executes in the Linux shell after Linux boots up.</a:t>
            </a:r>
            <a:endParaRPr lang="zh-CN" altLang="en-US"/>
          </a:p>
          <a:p>
            <a:endParaRPr lang="zh-CN" altLang="en-US"/>
          </a:p>
          <a:p>
            <a:r>
              <a:rPr lang="zh-CN" altLang="en-US"/>
              <a:t>In user space, we have a CTS application that interacts with the kernel through procfs, passing control information to the kernel, such as which tests to run and which tests to skip. In kernel space, we compile all the test cases into a kernel module, because some test cases may need to call kernel functions, and then insert it into the kernel. After the tests are completed, the results are sent back to user space via procfs.</a:t>
            </a:r>
            <a:endParaRPr lang="zh-CN" altLang="en-US"/>
          </a:p>
          <a:p>
            <a:endParaRPr lang="zh-CN" altLang="en-US"/>
          </a:p>
          <a:p>
            <a:r>
              <a:rPr lang="zh-CN" altLang="en-US"/>
              <a:t>Currently, the repository and code have not yet started and we plan to begin by implementing the test cases for PCIe</a:t>
            </a:r>
            <a:endParaRPr lang="zh-CN" altLang="en-US"/>
          </a:p>
          <a:p>
            <a:endParaRPr lang="zh-CN" altLang="en-US"/>
          </a:p>
          <a:p>
            <a:r>
              <a:rPr lang="zh-CN" altLang="en-US"/>
              <a:t>so that's all and we would like to hear your opinions.</a:t>
            </a:r>
            <a:endParaRPr lang="zh-CN" altLang="en-US"/>
          </a:p>
          <a:p>
            <a:endParaRPr lang="zh-CN" altLang="en-US"/>
          </a:p>
          <a:p>
            <a:r>
              <a:rPr lang="zh-CN" altLang="en-US"/>
              <a:t>is there any plan about Linux shell testing ? porting from ARM server ready, implementing from scratch or other plan. </a:t>
            </a:r>
            <a:endParaRPr lang="zh-CN" altLang="en-US"/>
          </a:p>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首页封面">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stretch>
            <a:fillRect/>
          </a:stretch>
        </p:blipFill>
        <p:spPr>
          <a:xfrm>
            <a:off x="0" y="0"/>
            <a:ext cx="12192000" cy="6858000"/>
          </a:xfrm>
          <a:prstGeom prst="rect">
            <a:avLst/>
          </a:prstGeom>
        </p:spPr>
      </p:pic>
      <p:pic>
        <p:nvPicPr>
          <p:cNvPr id="8" name="图片 7"/>
          <p:cNvPicPr>
            <a:picLocks noChangeAspect="1"/>
          </p:cNvPicPr>
          <p:nvPr userDrawn="1"/>
        </p:nvPicPr>
        <p:blipFill>
          <a:blip r:embed="rId3"/>
          <a:stretch>
            <a:fillRect/>
          </a:stretch>
        </p:blipFill>
        <p:spPr>
          <a:xfrm>
            <a:off x="254000" y="168729"/>
            <a:ext cx="4483100" cy="266700"/>
          </a:xfrm>
          <a:prstGeom prst="rect">
            <a:avLst/>
          </a:prstGeom>
        </p:spPr>
      </p:pic>
      <p:sp>
        <p:nvSpPr>
          <p:cNvPr id="12" name="文本占位符 11"/>
          <p:cNvSpPr>
            <a:spLocks noGrp="1"/>
          </p:cNvSpPr>
          <p:nvPr>
            <p:ph type="body" sz="quarter" idx="10" hasCustomPrompt="1"/>
          </p:nvPr>
        </p:nvSpPr>
        <p:spPr>
          <a:xfrm>
            <a:off x="3854450" y="4984501"/>
            <a:ext cx="4483100" cy="474625"/>
          </a:xfrm>
          <a:prstGeom prst="rect">
            <a:avLst/>
          </a:prstGeom>
        </p:spPr>
        <p:txBody>
          <a:bodyPr/>
          <a:lstStyle>
            <a:lvl1pPr marL="0" indent="0" algn="ctr">
              <a:buNone/>
              <a:defRPr b="1">
                <a:solidFill>
                  <a:schemeClr val="bg1"/>
                </a:solidFill>
                <a:latin typeface="微软雅黑" panose="020B0503020204020204" pitchFamily="34" charset="-122"/>
                <a:ea typeface="微软雅黑" panose="020B0503020204020204" pitchFamily="34" charset="-122"/>
              </a:defRPr>
            </a:lvl1pPr>
          </a:lstStyle>
          <a:p>
            <a:r>
              <a:rPr kumimoji="1" lang="zh-CN" altLang="en-US" dirty="0"/>
              <a:t>智能软件研究中心通用</a:t>
            </a:r>
            <a:r>
              <a:rPr kumimoji="1" lang="en-US" altLang="zh-CN" dirty="0"/>
              <a:t>PPT</a:t>
            </a:r>
            <a:endParaRPr kumimoji="1" lang="zh-CN" altLang="en-US" dirty="0"/>
          </a:p>
        </p:txBody>
      </p:sp>
      <p:sp>
        <p:nvSpPr>
          <p:cNvPr id="14" name="文本占位符 13"/>
          <p:cNvSpPr>
            <a:spLocks noGrp="1"/>
          </p:cNvSpPr>
          <p:nvPr>
            <p:ph type="body" sz="quarter" idx="11" hasCustomPrompt="1"/>
          </p:nvPr>
        </p:nvSpPr>
        <p:spPr>
          <a:xfrm>
            <a:off x="4902993" y="5816058"/>
            <a:ext cx="2386013" cy="301625"/>
          </a:xfrm>
          <a:prstGeom prst="rect">
            <a:avLst/>
          </a:prstGeom>
        </p:spPr>
        <p:txBody>
          <a:bodyPr/>
          <a:lstStyle>
            <a:lvl1pPr marL="0" indent="0" algn="ctr">
              <a:buNone/>
              <a:defRPr sz="1800">
                <a:solidFill>
                  <a:schemeClr val="bg1"/>
                </a:solidFill>
                <a:latin typeface="微软雅黑" panose="020B0503020204020204" pitchFamily="34" charset="-122"/>
                <a:ea typeface="微软雅黑" panose="020B0503020204020204" pitchFamily="34" charset="-122"/>
              </a:defRPr>
            </a:lvl1pPr>
          </a:lstStyle>
          <a:p>
            <a:r>
              <a:rPr kumimoji="1" lang="zh-CN" altLang="en-US" dirty="0"/>
              <a:t>孟令中  副研究员</a:t>
            </a:r>
            <a:endParaRPr kumimoji="1" lang="zh-CN" altLang="en-US" dirty="0"/>
          </a:p>
        </p:txBody>
      </p:sp>
      <p:sp>
        <p:nvSpPr>
          <p:cNvPr id="16" name="文本占位符 15"/>
          <p:cNvSpPr>
            <a:spLocks noGrp="1"/>
          </p:cNvSpPr>
          <p:nvPr>
            <p:ph type="body" sz="quarter" idx="12" hasCustomPrompt="1"/>
          </p:nvPr>
        </p:nvSpPr>
        <p:spPr>
          <a:xfrm>
            <a:off x="5321299" y="6188386"/>
            <a:ext cx="1549400" cy="285711"/>
          </a:xfrm>
          <a:prstGeom prst="rect">
            <a:avLst/>
          </a:prstGeom>
        </p:spPr>
        <p:txBody>
          <a:bodyPr/>
          <a:lstStyle>
            <a:lvl1pPr marL="0" indent="0" algn="ctr">
              <a:buNone/>
              <a:defRPr sz="1200">
                <a:solidFill>
                  <a:schemeClr val="bg1"/>
                </a:solidFill>
                <a:latin typeface="Arial" panose="020B0604020202090204" pitchFamily="34" charset="0"/>
                <a:cs typeface="Arial" panose="020B0604020202090204" pitchFamily="34" charset="0"/>
              </a:defRPr>
            </a:lvl1pPr>
          </a:lstStyle>
          <a:p>
            <a:r>
              <a:rPr kumimoji="1" lang="en-US" altLang="zh-CN" dirty="0"/>
              <a:t>2019/02/25</a:t>
            </a:r>
            <a:endParaRPr kumimoji="1"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showMasterSp="0" userDrawn="1">
  <p:cSld name="目录页">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stretch>
            <a:fillRect/>
          </a:stretch>
        </p:blipFill>
        <p:spPr>
          <a:xfrm>
            <a:off x="0" y="0"/>
            <a:ext cx="12192000" cy="6858000"/>
          </a:xfrm>
          <a:prstGeom prst="rect">
            <a:avLst/>
          </a:prstGeom>
        </p:spPr>
      </p:pic>
      <p:pic>
        <p:nvPicPr>
          <p:cNvPr id="5" name="图片 4"/>
          <p:cNvPicPr>
            <a:picLocks noChangeAspect="1"/>
          </p:cNvPicPr>
          <p:nvPr userDrawn="1"/>
        </p:nvPicPr>
        <p:blipFill>
          <a:blip r:embed="rId3"/>
          <a:stretch>
            <a:fillRect/>
          </a:stretch>
        </p:blipFill>
        <p:spPr>
          <a:xfrm>
            <a:off x="254000" y="168729"/>
            <a:ext cx="4483100" cy="266700"/>
          </a:xfrm>
          <a:prstGeom prst="rect">
            <a:avLst/>
          </a:prstGeom>
        </p:spPr>
      </p:pic>
      <p:sp>
        <p:nvSpPr>
          <p:cNvPr id="7" name="文本占位符 6"/>
          <p:cNvSpPr>
            <a:spLocks noGrp="1"/>
          </p:cNvSpPr>
          <p:nvPr>
            <p:ph type="body" sz="quarter" idx="10" hasCustomPrompt="1"/>
          </p:nvPr>
        </p:nvSpPr>
        <p:spPr>
          <a:xfrm>
            <a:off x="254000" y="1006737"/>
            <a:ext cx="1493777" cy="613719"/>
          </a:xfrm>
          <a:prstGeom prst="rect">
            <a:avLst/>
          </a:prstGeom>
        </p:spPr>
        <p:txBody>
          <a:bodyPr/>
          <a:lstStyle>
            <a:lvl1pPr marL="0" indent="0">
              <a:buNone/>
              <a:defRPr sz="3600" b="1">
                <a:solidFill>
                  <a:srgbClr val="4F7BF7"/>
                </a:solidFill>
                <a:latin typeface="微软雅黑" panose="020B0503020204020204" pitchFamily="34" charset="-122"/>
                <a:ea typeface="微软雅黑" panose="020B0503020204020204" pitchFamily="34" charset="-122"/>
              </a:defRPr>
            </a:lvl1pPr>
          </a:lstStyle>
          <a:p>
            <a:r>
              <a:rPr kumimoji="1" lang="zh-CN" altLang="en-US" dirty="0"/>
              <a:t>目 录</a:t>
            </a:r>
            <a:endParaRPr kumimoji="1" lang="zh-CN" altLang="en-US" dirty="0"/>
          </a:p>
        </p:txBody>
      </p:sp>
      <p:sp>
        <p:nvSpPr>
          <p:cNvPr id="9" name="文本占位符 8"/>
          <p:cNvSpPr>
            <a:spLocks noGrp="1"/>
          </p:cNvSpPr>
          <p:nvPr>
            <p:ph type="body" sz="quarter" idx="11" hasCustomPrompt="1"/>
          </p:nvPr>
        </p:nvSpPr>
        <p:spPr>
          <a:xfrm>
            <a:off x="1361281" y="1884904"/>
            <a:ext cx="3488510" cy="476331"/>
          </a:xfrm>
          <a:prstGeom prst="rect">
            <a:avLst/>
          </a:prstGeom>
        </p:spPr>
        <p:txBody>
          <a:bodyPr/>
          <a:lstStyle>
            <a:lvl1pPr marL="0" indent="0">
              <a:buNone/>
              <a:defRPr sz="2400" b="1">
                <a:solidFill>
                  <a:srgbClr val="509AFD"/>
                </a:solidFill>
                <a:latin typeface="微软雅黑" panose="020B0503020204020204" pitchFamily="34" charset="-122"/>
                <a:ea typeface="微软雅黑" panose="020B0503020204020204" pitchFamily="34" charset="-122"/>
              </a:defRPr>
            </a:lvl1pPr>
          </a:lstStyle>
          <a:p>
            <a:r>
              <a:rPr kumimoji="1" lang="en-US" altLang="zh-CN" dirty="0"/>
              <a:t>01</a:t>
            </a:r>
            <a:r>
              <a:rPr kumimoji="1" lang="zh-CN" altLang="en-US" dirty="0"/>
              <a:t> 项目介绍</a:t>
            </a:r>
            <a:endParaRPr kumimoji="1" lang="zh-CN" altLang="en-US" dirty="0"/>
          </a:p>
        </p:txBody>
      </p:sp>
      <p:sp>
        <p:nvSpPr>
          <p:cNvPr id="10" name="文本占位符 8"/>
          <p:cNvSpPr>
            <a:spLocks noGrp="1"/>
          </p:cNvSpPr>
          <p:nvPr>
            <p:ph type="body" sz="quarter" idx="12" hasCustomPrompt="1"/>
          </p:nvPr>
        </p:nvSpPr>
        <p:spPr>
          <a:xfrm>
            <a:off x="1361280" y="2577869"/>
            <a:ext cx="3488511" cy="476331"/>
          </a:xfrm>
          <a:prstGeom prst="rect">
            <a:avLst/>
          </a:prstGeom>
        </p:spPr>
        <p:txBody>
          <a:bodyPr/>
          <a:lstStyle>
            <a:lvl1pPr marL="0" indent="0">
              <a:buNone/>
              <a:defRPr sz="2400" b="1">
                <a:solidFill>
                  <a:srgbClr val="509AFD"/>
                </a:solidFill>
                <a:latin typeface="微软雅黑" panose="020B0503020204020204" pitchFamily="34" charset="-122"/>
                <a:ea typeface="微软雅黑" panose="020B0503020204020204" pitchFamily="34" charset="-122"/>
              </a:defRPr>
            </a:lvl1pPr>
          </a:lstStyle>
          <a:p>
            <a:r>
              <a:rPr kumimoji="1" lang="en-US" altLang="zh-CN" dirty="0"/>
              <a:t>02</a:t>
            </a:r>
            <a:r>
              <a:rPr kumimoji="1" lang="zh-CN" altLang="en-US" dirty="0"/>
              <a:t> 项目计划</a:t>
            </a:r>
            <a:endParaRPr kumimoji="1" lang="zh-CN" altLang="en-US" dirty="0"/>
          </a:p>
        </p:txBody>
      </p:sp>
      <p:sp>
        <p:nvSpPr>
          <p:cNvPr id="11" name="文本占位符 8"/>
          <p:cNvSpPr>
            <a:spLocks noGrp="1"/>
          </p:cNvSpPr>
          <p:nvPr>
            <p:ph type="body" sz="quarter" idx="13" hasCustomPrompt="1"/>
          </p:nvPr>
        </p:nvSpPr>
        <p:spPr>
          <a:xfrm>
            <a:off x="1361280" y="3270834"/>
            <a:ext cx="3488512" cy="476331"/>
          </a:xfrm>
          <a:prstGeom prst="rect">
            <a:avLst/>
          </a:prstGeom>
        </p:spPr>
        <p:txBody>
          <a:bodyPr/>
          <a:lstStyle>
            <a:lvl1pPr marL="0" indent="0">
              <a:buNone/>
              <a:defRPr sz="2400" b="1">
                <a:solidFill>
                  <a:srgbClr val="509AFD"/>
                </a:solidFill>
                <a:latin typeface="微软雅黑" panose="020B0503020204020204" pitchFamily="34" charset="-122"/>
                <a:ea typeface="微软雅黑" panose="020B0503020204020204" pitchFamily="34" charset="-122"/>
              </a:defRPr>
            </a:lvl1pPr>
          </a:lstStyle>
          <a:p>
            <a:r>
              <a:rPr kumimoji="1" lang="en-US" altLang="zh-CN" dirty="0"/>
              <a:t>03</a:t>
            </a:r>
            <a:r>
              <a:rPr kumimoji="1" lang="zh-CN" altLang="en-US" dirty="0"/>
              <a:t> 项目所需人力</a:t>
            </a:r>
            <a:endParaRPr kumimoji="1" lang="zh-CN" altLang="en-US" dirty="0"/>
          </a:p>
        </p:txBody>
      </p:sp>
      <p:sp>
        <p:nvSpPr>
          <p:cNvPr id="12" name="文本占位符 8"/>
          <p:cNvSpPr>
            <a:spLocks noGrp="1"/>
          </p:cNvSpPr>
          <p:nvPr>
            <p:ph type="body" sz="quarter" idx="14" hasCustomPrompt="1"/>
          </p:nvPr>
        </p:nvSpPr>
        <p:spPr>
          <a:xfrm>
            <a:off x="1361280" y="3963799"/>
            <a:ext cx="3488512" cy="476331"/>
          </a:xfrm>
          <a:prstGeom prst="rect">
            <a:avLst/>
          </a:prstGeom>
        </p:spPr>
        <p:txBody>
          <a:bodyPr/>
          <a:lstStyle>
            <a:lvl1pPr marL="0" indent="0">
              <a:buNone/>
              <a:defRPr sz="2400" b="1">
                <a:solidFill>
                  <a:srgbClr val="509AFD"/>
                </a:solidFill>
                <a:latin typeface="微软雅黑" panose="020B0503020204020204" pitchFamily="34" charset="-122"/>
                <a:ea typeface="微软雅黑" panose="020B0503020204020204" pitchFamily="34" charset="-122"/>
              </a:defRPr>
            </a:lvl1pPr>
          </a:lstStyle>
          <a:p>
            <a:r>
              <a:rPr kumimoji="1" lang="en-US" altLang="zh-CN" dirty="0"/>
              <a:t>04</a:t>
            </a:r>
            <a:r>
              <a:rPr kumimoji="1" lang="zh-CN" altLang="en-US" dirty="0"/>
              <a:t> 项目市场用户调研</a:t>
            </a:r>
            <a:endParaRPr kumimoji="1"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userDrawn="1">
  <p:cSld name="内页">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stretch>
            <a:fillRect/>
          </a:stretch>
        </p:blipFill>
        <p:spPr>
          <a:xfrm>
            <a:off x="0" y="0"/>
            <a:ext cx="12192000" cy="6858000"/>
          </a:xfrm>
          <a:prstGeom prst="rect">
            <a:avLst/>
          </a:prstGeom>
        </p:spPr>
      </p:pic>
      <p:pic>
        <p:nvPicPr>
          <p:cNvPr id="5" name="图片 4"/>
          <p:cNvPicPr>
            <a:picLocks noChangeAspect="1"/>
          </p:cNvPicPr>
          <p:nvPr userDrawn="1"/>
        </p:nvPicPr>
        <p:blipFill>
          <a:blip r:embed="rId3"/>
          <a:stretch>
            <a:fillRect/>
          </a:stretch>
        </p:blipFill>
        <p:spPr>
          <a:xfrm>
            <a:off x="0" y="749262"/>
            <a:ext cx="12192000" cy="685800"/>
          </a:xfrm>
          <a:prstGeom prst="rect">
            <a:avLst/>
          </a:prstGeom>
        </p:spPr>
      </p:pic>
      <p:sp>
        <p:nvSpPr>
          <p:cNvPr id="6" name="文本占位符 8"/>
          <p:cNvSpPr>
            <a:spLocks noGrp="1"/>
          </p:cNvSpPr>
          <p:nvPr>
            <p:ph type="body" sz="quarter" idx="11" hasCustomPrompt="1"/>
          </p:nvPr>
        </p:nvSpPr>
        <p:spPr>
          <a:xfrm>
            <a:off x="254000" y="894127"/>
            <a:ext cx="2118810" cy="396070"/>
          </a:xfrm>
          <a:prstGeom prst="rect">
            <a:avLst/>
          </a:prstGeom>
        </p:spPr>
        <p:txBody>
          <a:bodyPr/>
          <a:lstStyle>
            <a:lvl1pPr marL="0" indent="0">
              <a:buNone/>
              <a:defRPr sz="2400" b="1">
                <a:solidFill>
                  <a:schemeClr val="bg1"/>
                </a:solidFill>
                <a:latin typeface="微软雅黑" panose="020B0503020204020204" pitchFamily="34" charset="-122"/>
                <a:ea typeface="微软雅黑" panose="020B0503020204020204" pitchFamily="34" charset="-122"/>
              </a:defRPr>
            </a:lvl1pPr>
          </a:lstStyle>
          <a:p>
            <a:r>
              <a:rPr kumimoji="1" lang="en-US" altLang="zh-CN" dirty="0"/>
              <a:t>01</a:t>
            </a:r>
            <a:r>
              <a:rPr kumimoji="1" lang="zh-CN" altLang="en-US" dirty="0"/>
              <a:t> 项目介绍</a:t>
            </a:r>
            <a:endParaRPr kumimoji="1" lang="zh-CN" altLang="en-US" dirty="0"/>
          </a:p>
        </p:txBody>
      </p:sp>
      <p:pic>
        <p:nvPicPr>
          <p:cNvPr id="7" name="图片 6"/>
          <p:cNvPicPr>
            <a:picLocks noChangeAspect="1"/>
          </p:cNvPicPr>
          <p:nvPr userDrawn="1"/>
        </p:nvPicPr>
        <p:blipFill>
          <a:blip r:embed="rId4"/>
          <a:stretch>
            <a:fillRect/>
          </a:stretch>
        </p:blipFill>
        <p:spPr>
          <a:xfrm>
            <a:off x="254000" y="168729"/>
            <a:ext cx="4483100" cy="266700"/>
          </a:xfrm>
          <a:prstGeom prst="rect">
            <a:avLst/>
          </a:prstGeom>
        </p:spPr>
      </p:pic>
      <p:sp>
        <p:nvSpPr>
          <p:cNvPr id="9" name="文本占位符 8"/>
          <p:cNvSpPr>
            <a:spLocks noGrp="1"/>
          </p:cNvSpPr>
          <p:nvPr>
            <p:ph type="body" sz="quarter" idx="12" hasCustomPrompt="1"/>
          </p:nvPr>
        </p:nvSpPr>
        <p:spPr>
          <a:xfrm>
            <a:off x="254000" y="1637802"/>
            <a:ext cx="3784761" cy="428625"/>
          </a:xfrm>
          <a:prstGeom prst="rect">
            <a:avLst/>
          </a:prstGeom>
        </p:spPr>
        <p:txBody>
          <a:bodyPr/>
          <a:lstStyle>
            <a:lvl1pPr marL="0" indent="0">
              <a:buNone/>
              <a:defRPr sz="1800" b="1">
                <a:solidFill>
                  <a:srgbClr val="509AFD"/>
                </a:solidFill>
                <a:latin typeface="微软雅黑" panose="020B0503020204020204" pitchFamily="34" charset="-122"/>
                <a:ea typeface="微软雅黑" panose="020B0503020204020204" pitchFamily="34" charset="-122"/>
              </a:defRPr>
            </a:lvl1pPr>
          </a:lstStyle>
          <a:p>
            <a:r>
              <a:rPr kumimoji="1" lang="zh-CN" altLang="en-US" dirty="0"/>
              <a:t>副标题：本项目介绍</a:t>
            </a:r>
            <a:r>
              <a:rPr kumimoji="1" lang="en-US" altLang="zh-CN" dirty="0"/>
              <a:t>…</a:t>
            </a:r>
            <a:endParaRPr kumimoji="1" lang="zh-CN" altLang="en-US" dirty="0"/>
          </a:p>
        </p:txBody>
      </p:sp>
      <p:sp>
        <p:nvSpPr>
          <p:cNvPr id="11" name="文本占位符 10"/>
          <p:cNvSpPr>
            <a:spLocks noGrp="1"/>
          </p:cNvSpPr>
          <p:nvPr>
            <p:ph type="body" sz="quarter" idx="13" hasCustomPrompt="1"/>
          </p:nvPr>
        </p:nvSpPr>
        <p:spPr>
          <a:xfrm>
            <a:off x="254000" y="2234713"/>
            <a:ext cx="2152650" cy="382588"/>
          </a:xfrm>
          <a:prstGeom prst="rect">
            <a:avLst/>
          </a:prstGeom>
        </p:spPr>
        <p:txBody>
          <a:bodyPr/>
          <a:lstStyle>
            <a:lvl1pPr marL="0" indent="0">
              <a:buNone/>
              <a:defRPr sz="1400">
                <a:solidFill>
                  <a:srgbClr val="666666"/>
                </a:solidFill>
                <a:latin typeface="微软雅黑" panose="020B0503020204020204" pitchFamily="34" charset="-122"/>
                <a:ea typeface="微软雅黑" panose="020B0503020204020204" pitchFamily="34" charset="-122"/>
              </a:defRPr>
            </a:lvl1pPr>
          </a:lstStyle>
          <a:p>
            <a:r>
              <a:rPr kumimoji="1" lang="zh-CN" altLang="en-US" dirty="0"/>
              <a:t>正文：本项目内容</a:t>
            </a:r>
            <a:r>
              <a:rPr kumimoji="1" lang="en-US" altLang="zh-CN" dirty="0"/>
              <a:t>…</a:t>
            </a:r>
            <a:endParaRPr kumimoji="1"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showMasterSp="0" userDrawn="1">
  <p:cSld name="结束页封面">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stretch>
            <a:fillRect/>
          </a:stretch>
        </p:blipFill>
        <p:spPr>
          <a:xfrm>
            <a:off x="0" y="0"/>
            <a:ext cx="12192000" cy="6858000"/>
          </a:xfrm>
          <a:prstGeom prst="rect">
            <a:avLst/>
          </a:prstGeom>
        </p:spPr>
      </p:pic>
      <p:pic>
        <p:nvPicPr>
          <p:cNvPr id="4" name="图片 3"/>
          <p:cNvPicPr>
            <a:picLocks noChangeAspect="1"/>
          </p:cNvPicPr>
          <p:nvPr userDrawn="1"/>
        </p:nvPicPr>
        <p:blipFill>
          <a:blip r:embed="rId3"/>
          <a:stretch>
            <a:fillRect/>
          </a:stretch>
        </p:blipFill>
        <p:spPr>
          <a:xfrm>
            <a:off x="254000" y="168729"/>
            <a:ext cx="4483100" cy="266700"/>
          </a:xfrm>
          <a:prstGeom prst="rect">
            <a:avLst/>
          </a:prstGeom>
        </p:spPr>
      </p:pic>
      <p:sp>
        <p:nvSpPr>
          <p:cNvPr id="6" name="文本占位符 5"/>
          <p:cNvSpPr>
            <a:spLocks noGrp="1"/>
          </p:cNvSpPr>
          <p:nvPr>
            <p:ph type="body" sz="quarter" idx="10" hasCustomPrompt="1"/>
          </p:nvPr>
        </p:nvSpPr>
        <p:spPr>
          <a:xfrm>
            <a:off x="4662266" y="2660249"/>
            <a:ext cx="2867467" cy="696686"/>
          </a:xfrm>
          <a:prstGeom prst="rect">
            <a:avLst/>
          </a:prstGeom>
        </p:spPr>
        <p:txBody>
          <a:bodyPr/>
          <a:lstStyle>
            <a:lvl1pPr marL="0" indent="0" algn="ctr">
              <a:buNone/>
              <a:defRPr sz="4800" b="1">
                <a:solidFill>
                  <a:schemeClr val="bg1"/>
                </a:solidFill>
                <a:latin typeface="微软雅黑" panose="020B0503020204020204" pitchFamily="34" charset="-122"/>
                <a:ea typeface="微软雅黑" panose="020B0503020204020204" pitchFamily="34" charset="-122"/>
              </a:defRPr>
            </a:lvl1pPr>
          </a:lstStyle>
          <a:p>
            <a:r>
              <a:rPr kumimoji="1" lang="zh-CN" altLang="en-US" dirty="0"/>
              <a:t>谢 谢</a:t>
            </a:r>
            <a:endParaRPr kumimoji="1" lang="zh-CN" altLang="en-US" dirty="0"/>
          </a:p>
        </p:txBody>
      </p:sp>
      <p:sp>
        <p:nvSpPr>
          <p:cNvPr id="8" name="文本占位符 7"/>
          <p:cNvSpPr>
            <a:spLocks noGrp="1"/>
          </p:cNvSpPr>
          <p:nvPr>
            <p:ph type="body" sz="quarter" idx="11" hasCustomPrompt="1"/>
          </p:nvPr>
        </p:nvSpPr>
        <p:spPr>
          <a:xfrm>
            <a:off x="5193505" y="3716080"/>
            <a:ext cx="1804988" cy="358212"/>
          </a:xfrm>
          <a:prstGeom prst="rect">
            <a:avLst/>
          </a:prstGeom>
        </p:spPr>
        <p:txBody>
          <a:bodyPr/>
          <a:lstStyle>
            <a:lvl1pPr marL="0" indent="0" algn="ctr">
              <a:buNone/>
              <a:defRPr sz="1600">
                <a:solidFill>
                  <a:schemeClr val="bg1"/>
                </a:solidFill>
                <a:latin typeface="微软雅黑" panose="020B0503020204020204" pitchFamily="34" charset="-122"/>
                <a:ea typeface="微软雅黑" panose="020B0503020204020204" pitchFamily="34" charset="-122"/>
              </a:defRPr>
            </a:lvl1pPr>
          </a:lstStyle>
          <a:p>
            <a:r>
              <a:rPr kumimoji="1" lang="zh-CN" altLang="en-US" dirty="0"/>
              <a:t>欢迎交流合作</a:t>
            </a:r>
            <a:endParaRPr kumimoji="1" lang="zh-CN" altLang="en-US" dirty="0"/>
          </a:p>
        </p:txBody>
      </p:sp>
      <p:sp>
        <p:nvSpPr>
          <p:cNvPr id="9" name="文本占位符 7"/>
          <p:cNvSpPr>
            <a:spLocks noGrp="1"/>
          </p:cNvSpPr>
          <p:nvPr>
            <p:ph type="body" sz="quarter" idx="12" hasCustomPrompt="1"/>
          </p:nvPr>
        </p:nvSpPr>
        <p:spPr>
          <a:xfrm>
            <a:off x="5193505" y="4074292"/>
            <a:ext cx="1804988" cy="358212"/>
          </a:xfrm>
          <a:prstGeom prst="rect">
            <a:avLst/>
          </a:prstGeom>
        </p:spPr>
        <p:txBody>
          <a:bodyPr/>
          <a:lstStyle>
            <a:lvl1pPr marL="0" indent="0" algn="ctr">
              <a:buNone/>
              <a:defRPr sz="1200">
                <a:solidFill>
                  <a:schemeClr val="bg1"/>
                </a:solidFill>
                <a:latin typeface="微软雅黑" panose="020B0503020204020204" pitchFamily="34" charset="-122"/>
                <a:ea typeface="微软雅黑" panose="020B0503020204020204" pitchFamily="34" charset="-122"/>
              </a:defRPr>
            </a:lvl1pPr>
          </a:lstStyle>
          <a:p>
            <a:r>
              <a:rPr kumimoji="1" lang="en-US" altLang="zh-CN" dirty="0"/>
              <a:t>2019/2/25</a:t>
            </a:r>
            <a:endParaRPr kumimoji="1"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普通备用页">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1031631" y="365125"/>
            <a:ext cx="12942277" cy="1325563"/>
          </a:xfr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1031631" y="6356350"/>
            <a:ext cx="3376246"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970585" y="6356350"/>
            <a:ext cx="5064369" cy="365125"/>
          </a:xfrm>
        </p:spPr>
        <p:txBody>
          <a:bodyPr/>
          <a:lstStyle/>
          <a:p>
            <a:endParaRPr lang="zh-CN" altLang="en-US"/>
          </a:p>
        </p:txBody>
      </p:sp>
      <p:sp>
        <p:nvSpPr>
          <p:cNvPr id="5" name="灯片编号占位符 4"/>
          <p:cNvSpPr>
            <a:spLocks noGrp="1"/>
          </p:cNvSpPr>
          <p:nvPr>
            <p:ph type="sldNum" sz="quarter" idx="12"/>
          </p:nvPr>
        </p:nvSpPr>
        <p:spPr>
          <a:xfrm>
            <a:off x="10597662" y="6356350"/>
            <a:ext cx="3376246"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image" Target="../media/image2.png"/><Relationship Id="rId7" Type="http://schemas.openxmlformats.org/officeDocument/2006/relationships/image" Target="../media/image4.jpeg"/><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图片 8"/>
          <p:cNvPicPr>
            <a:picLocks noChangeAspect="1"/>
          </p:cNvPicPr>
          <p:nvPr userDrawn="1"/>
        </p:nvPicPr>
        <p:blipFill>
          <a:blip r:embed="rId7"/>
          <a:stretch>
            <a:fillRect/>
          </a:stretch>
        </p:blipFill>
        <p:spPr>
          <a:xfrm>
            <a:off x="0" y="0"/>
            <a:ext cx="12192000" cy="6858000"/>
          </a:xfrm>
          <a:prstGeom prst="rect">
            <a:avLst/>
          </a:prstGeom>
        </p:spPr>
      </p:pic>
      <p:pic>
        <p:nvPicPr>
          <p:cNvPr id="8" name="图片 7"/>
          <p:cNvPicPr>
            <a:picLocks noChangeAspect="1"/>
          </p:cNvPicPr>
          <p:nvPr userDrawn="1"/>
        </p:nvPicPr>
        <p:blipFill>
          <a:blip r:embed="rId8"/>
          <a:stretch>
            <a:fillRect/>
          </a:stretch>
        </p:blipFill>
        <p:spPr>
          <a:xfrm>
            <a:off x="254000" y="168729"/>
            <a:ext cx="4483100" cy="2667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9" Type="http://schemas.openxmlformats.org/officeDocument/2006/relationships/slideLayout" Target="../slideLayouts/slideLayout3.xml"/><Relationship Id="rId8" Type="http://schemas.openxmlformats.org/officeDocument/2006/relationships/image" Target="../media/image10.png"/><Relationship Id="rId7" Type="http://schemas.openxmlformats.org/officeDocument/2006/relationships/tags" Target="../tags/tag4.xml"/><Relationship Id="rId6" Type="http://schemas.openxmlformats.org/officeDocument/2006/relationships/image" Target="../media/image9.png"/><Relationship Id="rId5" Type="http://schemas.openxmlformats.org/officeDocument/2006/relationships/tags" Target="../tags/tag3.xml"/><Relationship Id="rId4" Type="http://schemas.openxmlformats.org/officeDocument/2006/relationships/image" Target="../media/image8.png"/><Relationship Id="rId3" Type="http://schemas.openxmlformats.org/officeDocument/2006/relationships/tags" Target="../tags/tag2.xml"/><Relationship Id="rId2" Type="http://schemas.openxmlformats.org/officeDocument/2006/relationships/image" Target="../media/image7.png"/><Relationship Id="rId10" Type="http://schemas.openxmlformats.org/officeDocument/2006/relationships/notesSlide" Target="../notesSlides/notesSlide1.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9" Type="http://schemas.openxmlformats.org/officeDocument/2006/relationships/tags" Target="../tags/tag13.xml"/><Relationship Id="rId8" Type="http://schemas.openxmlformats.org/officeDocument/2006/relationships/tags" Target="../tags/tag12.xml"/><Relationship Id="rId7" Type="http://schemas.openxmlformats.org/officeDocument/2006/relationships/tags" Target="../tags/tag11.xml"/><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2" Type="http://schemas.openxmlformats.org/officeDocument/2006/relationships/notesSlide" Target="../notesSlides/notesSlide2.xml"/><Relationship Id="rId21" Type="http://schemas.openxmlformats.org/officeDocument/2006/relationships/slideLayout" Target="../slideLayouts/slideLayout3.xml"/><Relationship Id="rId20" Type="http://schemas.openxmlformats.org/officeDocument/2006/relationships/tags" Target="../tags/tag24.xml"/><Relationship Id="rId2" Type="http://schemas.openxmlformats.org/officeDocument/2006/relationships/tags" Target="../tags/tag6.xml"/><Relationship Id="rId19" Type="http://schemas.openxmlformats.org/officeDocument/2006/relationships/tags" Target="../tags/tag23.xml"/><Relationship Id="rId18" Type="http://schemas.openxmlformats.org/officeDocument/2006/relationships/tags" Target="../tags/tag22.xml"/><Relationship Id="rId17" Type="http://schemas.openxmlformats.org/officeDocument/2006/relationships/tags" Target="../tags/tag21.xml"/><Relationship Id="rId16" Type="http://schemas.openxmlformats.org/officeDocument/2006/relationships/tags" Target="../tags/tag20.xml"/><Relationship Id="rId15" Type="http://schemas.openxmlformats.org/officeDocument/2006/relationships/tags" Target="../tags/tag19.xml"/><Relationship Id="rId14" Type="http://schemas.openxmlformats.org/officeDocument/2006/relationships/tags" Target="../tags/tag18.xml"/><Relationship Id="rId13" Type="http://schemas.openxmlformats.org/officeDocument/2006/relationships/tags" Target="../tags/tag17.xml"/><Relationship Id="rId12" Type="http://schemas.openxmlformats.org/officeDocument/2006/relationships/tags" Target="../tags/tag16.xml"/><Relationship Id="rId11" Type="http://schemas.openxmlformats.org/officeDocument/2006/relationships/tags" Target="../tags/tag15.xml"/><Relationship Id="rId10" Type="http://schemas.openxmlformats.org/officeDocument/2006/relationships/tags" Target="../tags/tag14.xml"/><Relationship Id="rId1" Type="http://schemas.openxmlformats.org/officeDocument/2006/relationships/tags" Target="../tags/tag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1296035" y="4984750"/>
            <a:ext cx="9600565" cy="474345"/>
          </a:xfrm>
        </p:spPr>
        <p:txBody>
          <a:bodyPr/>
          <a:lstStyle/>
          <a:p>
            <a:r>
              <a:rPr kumimoji="1" lang="en-US" altLang="zh-CN" dirty="0">
                <a:latin typeface="微软雅黑" charset="0"/>
                <a:ea typeface="微软雅黑" charset="0"/>
                <a:cs typeface="微软雅黑" charset="0"/>
                <a:sym typeface="+mn-ea"/>
              </a:rPr>
              <a:t>RISC-V Server Platform OS Test proposal</a:t>
            </a:r>
            <a:endParaRPr kumimoji="1" lang="en-US" altLang="zh-CN" dirty="0"/>
          </a:p>
        </p:txBody>
      </p:sp>
      <p:sp>
        <p:nvSpPr>
          <p:cNvPr id="3" name="文本占位符 2"/>
          <p:cNvSpPr>
            <a:spLocks noGrp="1"/>
          </p:cNvSpPr>
          <p:nvPr>
            <p:ph type="body" sz="quarter" idx="11"/>
          </p:nvPr>
        </p:nvSpPr>
        <p:spPr/>
        <p:txBody>
          <a:bodyPr/>
          <a:lstStyle/>
          <a:p>
            <a:r>
              <a:rPr kumimoji="1" lang="en-US" altLang="zh-CN" dirty="0"/>
              <a:t>Hengbo Zhu</a:t>
            </a:r>
            <a:endParaRPr kumimoji="1" lang="en-US" altLang="zh-CN" dirty="0"/>
          </a:p>
        </p:txBody>
      </p:sp>
      <p:sp>
        <p:nvSpPr>
          <p:cNvPr id="4" name="文本占位符 3"/>
          <p:cNvSpPr>
            <a:spLocks noGrp="1"/>
          </p:cNvSpPr>
          <p:nvPr>
            <p:ph type="body" sz="quarter" idx="12"/>
          </p:nvPr>
        </p:nvSpPr>
        <p:spPr/>
        <p:txBody>
          <a:bodyPr/>
          <a:lstStyle/>
          <a:p>
            <a:r>
              <a:rPr kumimoji="1" lang="en-US" altLang="zh-CN"/>
              <a:t>2024/09/11</a:t>
            </a:r>
            <a:endParaRPr kumimoji="1" lang="en-US" altLang="zh-C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1"/>
          </p:nvPr>
        </p:nvSpPr>
        <p:spPr>
          <a:xfrm>
            <a:off x="254000" y="894080"/>
            <a:ext cx="8821420" cy="396240"/>
          </a:xfrm>
        </p:spPr>
        <p:txBody>
          <a:bodyPr/>
          <a:lstStyle/>
          <a:p>
            <a:r>
              <a:rPr kumimoji="1" lang="en-US" altLang="zh-CN" dirty="0">
                <a:latin typeface="微软雅黑" charset="0"/>
                <a:ea typeface="微软雅黑" charset="0"/>
                <a:cs typeface="微软雅黑" charset="0"/>
                <a:sym typeface="+mn-ea"/>
              </a:rPr>
              <a:t>01 Server Platform OS Test proposal</a:t>
            </a:r>
            <a:endParaRPr kumimoji="1" lang="en-US" altLang="zh-CN" dirty="0">
              <a:latin typeface="微软雅黑" charset="0"/>
              <a:ea typeface="微软雅黑" charset="0"/>
              <a:cs typeface="微软雅黑" charset="0"/>
              <a:sym typeface="+mn-ea"/>
            </a:endParaRPr>
          </a:p>
        </p:txBody>
      </p:sp>
      <p:pic>
        <p:nvPicPr>
          <p:cNvPr id="19" name="图片 18"/>
          <p:cNvPicPr>
            <a:picLocks noChangeAspect="1"/>
          </p:cNvPicPr>
          <p:nvPr>
            <p:custDataLst>
              <p:tags r:id="rId1"/>
            </p:custDataLst>
          </p:nvPr>
        </p:nvPicPr>
        <p:blipFill>
          <a:blip r:embed="rId2"/>
          <a:stretch>
            <a:fillRect/>
          </a:stretch>
        </p:blipFill>
        <p:spPr>
          <a:xfrm>
            <a:off x="626745" y="2038350"/>
            <a:ext cx="4766310" cy="2086610"/>
          </a:xfrm>
          <a:prstGeom prst="rect">
            <a:avLst/>
          </a:prstGeom>
        </p:spPr>
      </p:pic>
      <p:pic>
        <p:nvPicPr>
          <p:cNvPr id="20" name="图片 19"/>
          <p:cNvPicPr>
            <a:picLocks noChangeAspect="1"/>
          </p:cNvPicPr>
          <p:nvPr>
            <p:custDataLst>
              <p:tags r:id="rId3"/>
            </p:custDataLst>
          </p:nvPr>
        </p:nvPicPr>
        <p:blipFill>
          <a:blip r:embed="rId4"/>
          <a:stretch>
            <a:fillRect/>
          </a:stretch>
        </p:blipFill>
        <p:spPr>
          <a:xfrm>
            <a:off x="5807075" y="2180590"/>
            <a:ext cx="4834255" cy="1944370"/>
          </a:xfrm>
          <a:prstGeom prst="rect">
            <a:avLst/>
          </a:prstGeom>
        </p:spPr>
      </p:pic>
      <p:pic>
        <p:nvPicPr>
          <p:cNvPr id="21" name="图片 20"/>
          <p:cNvPicPr>
            <a:picLocks noChangeAspect="1"/>
          </p:cNvPicPr>
          <p:nvPr>
            <p:custDataLst>
              <p:tags r:id="rId5"/>
            </p:custDataLst>
          </p:nvPr>
        </p:nvPicPr>
        <p:blipFill>
          <a:blip r:embed="rId6"/>
          <a:stretch>
            <a:fillRect/>
          </a:stretch>
        </p:blipFill>
        <p:spPr>
          <a:xfrm>
            <a:off x="843280" y="4944745"/>
            <a:ext cx="4549775" cy="759460"/>
          </a:xfrm>
          <a:prstGeom prst="rect">
            <a:avLst/>
          </a:prstGeom>
        </p:spPr>
      </p:pic>
      <p:pic>
        <p:nvPicPr>
          <p:cNvPr id="22" name="图片 21"/>
          <p:cNvPicPr>
            <a:picLocks noChangeAspect="1"/>
          </p:cNvPicPr>
          <p:nvPr>
            <p:custDataLst>
              <p:tags r:id="rId7"/>
            </p:custDataLst>
          </p:nvPr>
        </p:nvPicPr>
        <p:blipFill>
          <a:blip r:embed="rId8"/>
          <a:stretch>
            <a:fillRect/>
          </a:stretch>
        </p:blipFill>
        <p:spPr>
          <a:xfrm>
            <a:off x="5907405" y="4904105"/>
            <a:ext cx="4633595" cy="800100"/>
          </a:xfrm>
          <a:prstGeom prst="rect">
            <a:avLst/>
          </a:prstGeom>
        </p:spPr>
      </p:pic>
      <p:sp>
        <p:nvSpPr>
          <p:cNvPr id="25" name="文本框 24"/>
          <p:cNvSpPr txBox="1"/>
          <p:nvPr/>
        </p:nvSpPr>
        <p:spPr>
          <a:xfrm>
            <a:off x="1727200" y="4358640"/>
            <a:ext cx="2367915" cy="337185"/>
          </a:xfrm>
          <a:prstGeom prst="rect">
            <a:avLst/>
          </a:prstGeom>
          <a:noFill/>
        </p:spPr>
        <p:txBody>
          <a:bodyPr wrap="square" rtlCol="0">
            <a:spAutoFit/>
          </a:bodyPr>
          <a:p>
            <a:r>
              <a:rPr lang="en-US" altLang="zh-CN" sz="1600">
                <a:latin typeface="Verdana Regular" panose="020B0804030504040204" charset="0"/>
                <a:cs typeface="Verdana Regular" panose="020B0804030504040204" charset="0"/>
              </a:rPr>
              <a:t>server platform spec</a:t>
            </a:r>
            <a:endParaRPr lang="en-US" altLang="zh-CN" sz="1600">
              <a:latin typeface="Verdana Regular" panose="020B0804030504040204" charset="0"/>
              <a:cs typeface="Verdana Regular" panose="020B0804030504040204" charset="0"/>
            </a:endParaRPr>
          </a:p>
        </p:txBody>
      </p:sp>
      <p:sp>
        <p:nvSpPr>
          <p:cNvPr id="26" name="文本框 25"/>
          <p:cNvSpPr txBox="1"/>
          <p:nvPr/>
        </p:nvSpPr>
        <p:spPr>
          <a:xfrm>
            <a:off x="6583045" y="4358640"/>
            <a:ext cx="3017520" cy="337185"/>
          </a:xfrm>
          <a:prstGeom prst="rect">
            <a:avLst/>
          </a:prstGeom>
          <a:noFill/>
        </p:spPr>
        <p:txBody>
          <a:bodyPr wrap="square" rtlCol="0">
            <a:spAutoFit/>
          </a:bodyPr>
          <a:p>
            <a:r>
              <a:rPr lang="en-US" altLang="zh-CN" sz="1600">
                <a:latin typeface="Verdana Regular" panose="020B0804030504040204" charset="0"/>
                <a:cs typeface="Verdana Regular" panose="020B0804030504040204" charset="0"/>
              </a:rPr>
              <a:t>server platform test spec</a:t>
            </a:r>
            <a:endParaRPr lang="en-US" altLang="zh-CN" sz="1600">
              <a:latin typeface="Verdana Regular" panose="020B0804030504040204" charset="0"/>
              <a:cs typeface="Verdana Regular" panose="020B0804030504040204" charset="0"/>
            </a:endParaRPr>
          </a:p>
        </p:txBody>
      </p:sp>
      <p:sp>
        <p:nvSpPr>
          <p:cNvPr id="27" name="文本框 26"/>
          <p:cNvSpPr txBox="1"/>
          <p:nvPr/>
        </p:nvSpPr>
        <p:spPr>
          <a:xfrm>
            <a:off x="1727200" y="6035040"/>
            <a:ext cx="2367915" cy="337185"/>
          </a:xfrm>
          <a:prstGeom prst="rect">
            <a:avLst/>
          </a:prstGeom>
          <a:noFill/>
        </p:spPr>
        <p:txBody>
          <a:bodyPr wrap="square" rtlCol="0">
            <a:spAutoFit/>
          </a:bodyPr>
          <a:p>
            <a:r>
              <a:rPr lang="en-US" altLang="zh-CN" sz="1600">
                <a:latin typeface="Verdana Regular" panose="020B0804030504040204" charset="0"/>
                <a:cs typeface="Verdana Regular" panose="020B0804030504040204" charset="0"/>
              </a:rPr>
              <a:t>server soc spec</a:t>
            </a:r>
            <a:endParaRPr lang="en-US" altLang="zh-CN" sz="1600">
              <a:latin typeface="Verdana Regular" panose="020B0804030504040204" charset="0"/>
              <a:cs typeface="Verdana Regular" panose="020B0804030504040204" charset="0"/>
            </a:endParaRPr>
          </a:p>
        </p:txBody>
      </p:sp>
      <p:sp>
        <p:nvSpPr>
          <p:cNvPr id="28" name="文本框 27"/>
          <p:cNvSpPr txBox="1"/>
          <p:nvPr/>
        </p:nvSpPr>
        <p:spPr>
          <a:xfrm>
            <a:off x="6583045" y="6035040"/>
            <a:ext cx="2367915" cy="337185"/>
          </a:xfrm>
          <a:prstGeom prst="rect">
            <a:avLst/>
          </a:prstGeom>
          <a:noFill/>
        </p:spPr>
        <p:txBody>
          <a:bodyPr wrap="square" rtlCol="0">
            <a:spAutoFit/>
          </a:bodyPr>
          <a:p>
            <a:r>
              <a:rPr lang="en-US" altLang="zh-CN" sz="1600">
                <a:latin typeface="Verdana Regular" panose="020B0804030504040204" charset="0"/>
                <a:cs typeface="Verdana Regular" panose="020B0804030504040204" charset="0"/>
              </a:rPr>
              <a:t>server soc test spec</a:t>
            </a:r>
            <a:endParaRPr lang="en-US" altLang="zh-CN" sz="1600">
              <a:latin typeface="Verdana Regular" panose="020B0804030504040204" charset="0"/>
              <a:cs typeface="Verdana Regular" panose="020B08040305040402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2" name="直接连接符 41"/>
          <p:cNvCxnSpPr/>
          <p:nvPr/>
        </p:nvCxnSpPr>
        <p:spPr>
          <a:xfrm flipH="1">
            <a:off x="5487670" y="2687320"/>
            <a:ext cx="4518660" cy="0"/>
          </a:xfrm>
          <a:prstGeom prst="line">
            <a:avLst/>
          </a:prstGeom>
          <a:ln w="6350" cmpd="sng">
            <a:solidFill>
              <a:schemeClr val="tx1"/>
            </a:solidFill>
            <a:prstDash val="lgDash"/>
          </a:ln>
        </p:spPr>
        <p:style>
          <a:lnRef idx="2">
            <a:schemeClr val="accent1"/>
          </a:lnRef>
          <a:fillRef idx="0">
            <a:srgbClr val="FFFFFF"/>
          </a:fillRef>
          <a:effectRef idx="0">
            <a:srgbClr val="FFFFFF"/>
          </a:effectRef>
          <a:fontRef idx="minor">
            <a:schemeClr val="tx1"/>
          </a:fontRef>
        </p:style>
      </p:cxnSp>
      <p:sp>
        <p:nvSpPr>
          <p:cNvPr id="2" name="文本占位符 1"/>
          <p:cNvSpPr>
            <a:spLocks noGrp="1"/>
          </p:cNvSpPr>
          <p:nvPr>
            <p:ph type="body" sz="quarter" idx="11"/>
          </p:nvPr>
        </p:nvSpPr>
        <p:spPr>
          <a:xfrm>
            <a:off x="254000" y="894080"/>
            <a:ext cx="8821420" cy="396240"/>
          </a:xfrm>
        </p:spPr>
        <p:txBody>
          <a:bodyPr/>
          <a:lstStyle/>
          <a:p>
            <a:r>
              <a:rPr kumimoji="1" lang="en-US" altLang="zh-CN" dirty="0">
                <a:latin typeface="微软雅黑" charset="0"/>
                <a:ea typeface="微软雅黑" charset="0"/>
                <a:cs typeface="微软雅黑" charset="0"/>
                <a:sym typeface="+mn-ea"/>
              </a:rPr>
              <a:t>01 Server Platform OS Test proposal</a:t>
            </a:r>
            <a:endParaRPr kumimoji="1" lang="en-US" altLang="zh-CN" dirty="0">
              <a:latin typeface="微软雅黑" charset="0"/>
              <a:ea typeface="微软雅黑" charset="0"/>
              <a:cs typeface="微软雅黑" charset="0"/>
              <a:sym typeface="+mn-ea"/>
            </a:endParaRPr>
          </a:p>
        </p:txBody>
      </p:sp>
      <p:sp>
        <p:nvSpPr>
          <p:cNvPr id="9" name="圆角矩形 8"/>
          <p:cNvSpPr/>
          <p:nvPr>
            <p:custDataLst>
              <p:tags r:id="rId1"/>
            </p:custDataLst>
          </p:nvPr>
        </p:nvSpPr>
        <p:spPr>
          <a:xfrm>
            <a:off x="664845" y="1797050"/>
            <a:ext cx="3893185" cy="476250"/>
          </a:xfrm>
          <a:prstGeom prst="roundRect">
            <a:avLst>
              <a:gd name="adj" fmla="val 3590"/>
            </a:avLst>
          </a:prstGeom>
          <a:solidFill>
            <a:schemeClr val="accent2">
              <a:lumMod val="40000"/>
              <a:lumOff val="6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600">
                <a:solidFill>
                  <a:schemeClr val="tx1"/>
                </a:solidFill>
                <a:latin typeface="Verdana Regular" panose="020B0804030504040204" charset="0"/>
                <a:cs typeface="Verdana Regular" panose="020B0804030504040204" charset="0"/>
                <a:sym typeface="+mn-ea"/>
              </a:rPr>
              <a:t>Server Platfor</a:t>
            </a:r>
            <a:r>
              <a:rPr lang="en-US" altLang="zh-CN" sz="1600">
                <a:solidFill>
                  <a:schemeClr val="tx1"/>
                </a:solidFill>
                <a:latin typeface="Verdana Regular" panose="020B0804030504040204" charset="0"/>
                <a:cs typeface="Verdana Regular" panose="020B0804030504040204" charset="0"/>
                <a:sym typeface="+mn-ea"/>
              </a:rPr>
              <a:t>m Tests</a:t>
            </a:r>
            <a:endParaRPr lang="en-US" altLang="zh-CN" sz="1600">
              <a:solidFill>
                <a:schemeClr val="tx1"/>
              </a:solidFill>
              <a:latin typeface="Verdana Regular" panose="020B0804030504040204" charset="0"/>
              <a:cs typeface="Verdana Regular" panose="020B0804030504040204" charset="0"/>
            </a:endParaRPr>
          </a:p>
        </p:txBody>
      </p:sp>
      <p:sp>
        <p:nvSpPr>
          <p:cNvPr id="3" name="圆角矩形 2"/>
          <p:cNvSpPr/>
          <p:nvPr>
            <p:custDataLst>
              <p:tags r:id="rId2"/>
            </p:custDataLst>
          </p:nvPr>
        </p:nvSpPr>
        <p:spPr>
          <a:xfrm>
            <a:off x="664845" y="2466975"/>
            <a:ext cx="3920490" cy="1711960"/>
          </a:xfrm>
          <a:prstGeom prst="roundRect">
            <a:avLst>
              <a:gd name="adj" fmla="val 3590"/>
            </a:avLst>
          </a:prstGeom>
          <a:solidFill>
            <a:schemeClr val="accent6">
              <a:lumMod val="20000"/>
              <a:lumOff val="8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b" anchorCtr="0"/>
          <a:p>
            <a:pPr algn="ctr"/>
            <a:r>
              <a:rPr lang="en-US" altLang="zh-CN" sz="1600">
                <a:solidFill>
                  <a:schemeClr val="tx1"/>
                </a:solidFill>
                <a:latin typeface="Verdana Regular" panose="020B0804030504040204" charset="0"/>
                <a:cs typeface="Verdana Regular" panose="020B0804030504040204" charset="0"/>
                <a:sym typeface="+mn-ea"/>
              </a:rPr>
              <a:t>OS/</a:t>
            </a:r>
            <a:r>
              <a:rPr lang="en-US" altLang="zh-CN" sz="1600">
                <a:solidFill>
                  <a:schemeClr val="tx1"/>
                </a:solidFill>
                <a:latin typeface="Verdana Regular" panose="020B0804030504040204" charset="0"/>
                <a:cs typeface="Verdana Regular" panose="020B0804030504040204" charset="0"/>
                <a:sym typeface="+mn-ea"/>
              </a:rPr>
              <a:t>Linux</a:t>
            </a:r>
            <a:endParaRPr lang="en-US" altLang="zh-CN" sz="1600">
              <a:solidFill>
                <a:schemeClr val="tx1"/>
              </a:solidFill>
              <a:latin typeface="Verdana Regular" panose="020B0804030504040204" charset="0"/>
              <a:cs typeface="Verdana Regular" panose="020B0804030504040204" charset="0"/>
              <a:sym typeface="+mn-ea"/>
            </a:endParaRPr>
          </a:p>
        </p:txBody>
      </p:sp>
      <p:sp>
        <p:nvSpPr>
          <p:cNvPr id="4" name="圆角矩形 3"/>
          <p:cNvSpPr/>
          <p:nvPr>
            <p:custDataLst>
              <p:tags r:id="rId3"/>
            </p:custDataLst>
          </p:nvPr>
        </p:nvSpPr>
        <p:spPr>
          <a:xfrm>
            <a:off x="664845" y="4334510"/>
            <a:ext cx="3920490" cy="476250"/>
          </a:xfrm>
          <a:prstGeom prst="roundRect">
            <a:avLst>
              <a:gd name="adj" fmla="val 3590"/>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600">
                <a:solidFill>
                  <a:schemeClr val="tx1"/>
                </a:solidFill>
                <a:latin typeface="Verdana Regular" panose="020B0804030504040204" charset="0"/>
                <a:cs typeface="Verdana Regular" panose="020B0804030504040204" charset="0"/>
                <a:sym typeface="+mn-ea"/>
              </a:rPr>
              <a:t>Firmware</a:t>
            </a:r>
            <a:endParaRPr lang="en-US" altLang="zh-CN" sz="1600">
              <a:solidFill>
                <a:schemeClr val="tx1"/>
              </a:solidFill>
              <a:latin typeface="Verdana Regular" panose="020B0804030504040204" charset="0"/>
              <a:cs typeface="Verdana Regular" panose="020B0804030504040204" charset="0"/>
              <a:sym typeface="+mn-ea"/>
            </a:endParaRPr>
          </a:p>
        </p:txBody>
      </p:sp>
      <p:sp>
        <p:nvSpPr>
          <p:cNvPr id="5" name="圆角矩形 4"/>
          <p:cNvSpPr/>
          <p:nvPr>
            <p:custDataLst>
              <p:tags r:id="rId4"/>
            </p:custDataLst>
          </p:nvPr>
        </p:nvSpPr>
        <p:spPr>
          <a:xfrm>
            <a:off x="664845" y="4966335"/>
            <a:ext cx="3935730" cy="1640205"/>
          </a:xfrm>
          <a:prstGeom prst="roundRect">
            <a:avLst>
              <a:gd name="adj" fmla="val 3590"/>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b" anchorCtr="0"/>
          <a:p>
            <a:pPr algn="ctr"/>
            <a:r>
              <a:rPr lang="en-US" altLang="zh-CN" sz="1600">
                <a:solidFill>
                  <a:schemeClr val="tx1"/>
                </a:solidFill>
                <a:latin typeface="Verdana Regular" panose="020B0804030504040204" charset="0"/>
                <a:cs typeface="Verdana Regular" panose="020B0804030504040204" charset="0"/>
                <a:sym typeface="+mn-ea"/>
              </a:rPr>
              <a:t>Hardware</a:t>
            </a:r>
            <a:endParaRPr lang="en-US" altLang="zh-CN" sz="1600">
              <a:solidFill>
                <a:schemeClr val="tx1"/>
              </a:solidFill>
              <a:latin typeface="Verdana Regular" panose="020B0804030504040204" charset="0"/>
              <a:cs typeface="Verdana Regular" panose="020B0804030504040204" charset="0"/>
              <a:sym typeface="+mn-ea"/>
            </a:endParaRPr>
          </a:p>
        </p:txBody>
      </p:sp>
      <p:sp>
        <p:nvSpPr>
          <p:cNvPr id="6" name="圆角矩形 5"/>
          <p:cNvSpPr/>
          <p:nvPr>
            <p:custDataLst>
              <p:tags r:id="rId5"/>
            </p:custDataLst>
          </p:nvPr>
        </p:nvSpPr>
        <p:spPr>
          <a:xfrm>
            <a:off x="1381760" y="2653030"/>
            <a:ext cx="2363470" cy="476250"/>
          </a:xfrm>
          <a:prstGeom prst="roundRect">
            <a:avLst>
              <a:gd name="adj" fmla="val 3590"/>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600">
                <a:solidFill>
                  <a:schemeClr val="tx1"/>
                </a:solidFill>
                <a:latin typeface="Verdana Regular" panose="020B0804030504040204" charset="0"/>
                <a:cs typeface="Verdana Regular" panose="020B0804030504040204" charset="0"/>
                <a:sym typeface="+mn-ea"/>
              </a:rPr>
              <a:t>ACPI </a:t>
            </a:r>
            <a:r>
              <a:rPr lang="en-US" altLang="zh-CN" sz="1600">
                <a:solidFill>
                  <a:schemeClr val="tx1"/>
                </a:solidFill>
                <a:latin typeface="Verdana Regular" panose="020B0804030504040204" charset="0"/>
                <a:cs typeface="Verdana Regular" panose="020B0804030504040204" charset="0"/>
                <a:sym typeface="+mn-ea"/>
              </a:rPr>
              <a:t>table</a:t>
            </a:r>
            <a:endParaRPr lang="en-US" altLang="zh-CN" sz="1600">
              <a:solidFill>
                <a:schemeClr val="tx1"/>
              </a:solidFill>
              <a:latin typeface="Verdana Regular" panose="020B0804030504040204" charset="0"/>
              <a:cs typeface="Verdana Regular" panose="020B0804030504040204" charset="0"/>
              <a:sym typeface="+mn-ea"/>
            </a:endParaRPr>
          </a:p>
        </p:txBody>
      </p:sp>
      <p:sp>
        <p:nvSpPr>
          <p:cNvPr id="7" name="圆角矩形 6"/>
          <p:cNvSpPr/>
          <p:nvPr>
            <p:custDataLst>
              <p:tags r:id="rId6"/>
            </p:custDataLst>
          </p:nvPr>
        </p:nvSpPr>
        <p:spPr>
          <a:xfrm>
            <a:off x="1381760" y="3302000"/>
            <a:ext cx="2363470" cy="476250"/>
          </a:xfrm>
          <a:prstGeom prst="roundRect">
            <a:avLst>
              <a:gd name="adj" fmla="val 3590"/>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600">
                <a:solidFill>
                  <a:schemeClr val="tx1"/>
                </a:solidFill>
                <a:latin typeface="Verdana Regular" panose="020B0804030504040204" charset="0"/>
                <a:cs typeface="Verdana Regular" panose="020B0804030504040204" charset="0"/>
                <a:sym typeface="+mn-ea"/>
              </a:rPr>
              <a:t>Driver</a:t>
            </a:r>
            <a:r>
              <a:rPr lang="en-US" altLang="zh-CN" sz="1600">
                <a:solidFill>
                  <a:schemeClr val="tx1"/>
                </a:solidFill>
                <a:latin typeface="Verdana Regular" panose="020B0804030504040204" charset="0"/>
                <a:cs typeface="Verdana Regular" panose="020B0804030504040204" charset="0"/>
                <a:sym typeface="+mn-ea"/>
              </a:rPr>
              <a:t>s</a:t>
            </a:r>
            <a:endParaRPr lang="en-US" altLang="zh-CN" sz="1600">
              <a:solidFill>
                <a:schemeClr val="tx1"/>
              </a:solidFill>
              <a:latin typeface="Verdana Regular" panose="020B0804030504040204" charset="0"/>
              <a:cs typeface="Verdana Regular" panose="020B0804030504040204" charset="0"/>
              <a:sym typeface="+mn-ea"/>
            </a:endParaRPr>
          </a:p>
        </p:txBody>
      </p:sp>
      <p:sp>
        <p:nvSpPr>
          <p:cNvPr id="8" name="圆角矩形 7"/>
          <p:cNvSpPr/>
          <p:nvPr>
            <p:custDataLst>
              <p:tags r:id="rId7"/>
            </p:custDataLst>
          </p:nvPr>
        </p:nvSpPr>
        <p:spPr>
          <a:xfrm>
            <a:off x="901700" y="5205095"/>
            <a:ext cx="1058545" cy="326390"/>
          </a:xfrm>
          <a:prstGeom prst="roundRect">
            <a:avLst>
              <a:gd name="adj" fmla="val 3590"/>
            </a:avLst>
          </a:prstGeom>
          <a:solidFill>
            <a:schemeClr val="accent2">
              <a:lumMod val="40000"/>
              <a:lumOff val="6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600">
                <a:solidFill>
                  <a:schemeClr val="tx1"/>
                </a:solidFill>
                <a:latin typeface="Verdana Regular" panose="020B0804030504040204" charset="0"/>
                <a:cs typeface="Verdana Regular" panose="020B0804030504040204" charset="0"/>
                <a:sym typeface="+mn-ea"/>
              </a:rPr>
              <a:t>PCI</a:t>
            </a:r>
            <a:r>
              <a:rPr lang="en-US" altLang="zh-CN" sz="1600">
                <a:solidFill>
                  <a:schemeClr val="tx1"/>
                </a:solidFill>
                <a:latin typeface="Verdana Regular" panose="020B0804030504040204" charset="0"/>
                <a:cs typeface="Verdana Regular" panose="020B0804030504040204" charset="0"/>
                <a:sym typeface="+mn-ea"/>
              </a:rPr>
              <a:t>e</a:t>
            </a:r>
            <a:endParaRPr lang="en-US" altLang="zh-CN" sz="1600">
              <a:solidFill>
                <a:schemeClr val="tx1"/>
              </a:solidFill>
              <a:latin typeface="Verdana Regular" panose="020B0804030504040204" charset="0"/>
              <a:cs typeface="Verdana Regular" panose="020B0804030504040204" charset="0"/>
              <a:sym typeface="+mn-ea"/>
            </a:endParaRPr>
          </a:p>
        </p:txBody>
      </p:sp>
      <p:sp>
        <p:nvSpPr>
          <p:cNvPr id="10" name="圆角矩形 9"/>
          <p:cNvSpPr/>
          <p:nvPr>
            <p:custDataLst>
              <p:tags r:id="rId8"/>
            </p:custDataLst>
          </p:nvPr>
        </p:nvSpPr>
        <p:spPr>
          <a:xfrm>
            <a:off x="2149475" y="5215255"/>
            <a:ext cx="1059180" cy="326390"/>
          </a:xfrm>
          <a:prstGeom prst="roundRect">
            <a:avLst>
              <a:gd name="adj" fmla="val 3590"/>
            </a:avLst>
          </a:prstGeom>
          <a:solidFill>
            <a:schemeClr val="accent2">
              <a:lumMod val="40000"/>
              <a:lumOff val="6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600">
                <a:solidFill>
                  <a:schemeClr val="tx1"/>
                </a:solidFill>
                <a:latin typeface="Verdana Regular" panose="020B0804030504040204" charset="0"/>
                <a:cs typeface="Verdana Regular" panose="020B0804030504040204" charset="0"/>
                <a:sym typeface="+mn-ea"/>
              </a:rPr>
              <a:t>Clock</a:t>
            </a:r>
            <a:endParaRPr lang="en-US" altLang="zh-CN" sz="1600">
              <a:solidFill>
                <a:schemeClr val="tx1"/>
              </a:solidFill>
              <a:latin typeface="Verdana Regular" panose="020B0804030504040204" charset="0"/>
              <a:cs typeface="Verdana Regular" panose="020B0804030504040204" charset="0"/>
              <a:sym typeface="+mn-ea"/>
            </a:endParaRPr>
          </a:p>
        </p:txBody>
      </p:sp>
      <p:sp>
        <p:nvSpPr>
          <p:cNvPr id="11" name="圆角矩形 10"/>
          <p:cNvSpPr/>
          <p:nvPr>
            <p:custDataLst>
              <p:tags r:id="rId9"/>
            </p:custDataLst>
          </p:nvPr>
        </p:nvSpPr>
        <p:spPr>
          <a:xfrm>
            <a:off x="3390265" y="5205095"/>
            <a:ext cx="1059180" cy="319405"/>
          </a:xfrm>
          <a:prstGeom prst="roundRect">
            <a:avLst>
              <a:gd name="adj" fmla="val 3590"/>
            </a:avLst>
          </a:prstGeom>
          <a:solidFill>
            <a:schemeClr val="accent2">
              <a:lumMod val="40000"/>
              <a:lumOff val="6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600">
                <a:solidFill>
                  <a:schemeClr val="tx1"/>
                </a:solidFill>
                <a:latin typeface="Verdana Regular" panose="020B0804030504040204" charset="0"/>
                <a:cs typeface="Verdana Regular" panose="020B0804030504040204" charset="0"/>
                <a:sym typeface="+mn-ea"/>
              </a:rPr>
              <a:t>PMU</a:t>
            </a:r>
            <a:endParaRPr lang="en-US" altLang="zh-CN" sz="1600">
              <a:solidFill>
                <a:schemeClr val="tx1"/>
              </a:solidFill>
              <a:latin typeface="Verdana Regular" panose="020B0804030504040204" charset="0"/>
              <a:cs typeface="Verdana Regular" panose="020B0804030504040204" charset="0"/>
              <a:sym typeface="+mn-ea"/>
            </a:endParaRPr>
          </a:p>
        </p:txBody>
      </p:sp>
      <p:sp>
        <p:nvSpPr>
          <p:cNvPr id="16" name="圆角矩形 15"/>
          <p:cNvSpPr/>
          <p:nvPr>
            <p:custDataLst>
              <p:tags r:id="rId10"/>
            </p:custDataLst>
          </p:nvPr>
        </p:nvSpPr>
        <p:spPr>
          <a:xfrm>
            <a:off x="901700" y="5755005"/>
            <a:ext cx="1059180" cy="326390"/>
          </a:xfrm>
          <a:prstGeom prst="roundRect">
            <a:avLst>
              <a:gd name="adj" fmla="val 3590"/>
            </a:avLst>
          </a:prstGeom>
          <a:solidFill>
            <a:schemeClr val="accent2">
              <a:lumMod val="40000"/>
              <a:lumOff val="6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600">
                <a:solidFill>
                  <a:schemeClr val="tx1"/>
                </a:solidFill>
                <a:latin typeface="Verdana Regular" panose="020B0804030504040204" charset="0"/>
                <a:cs typeface="Verdana Regular" panose="020B0804030504040204" charset="0"/>
                <a:sym typeface="+mn-ea"/>
              </a:rPr>
              <a:t>Security</a:t>
            </a:r>
            <a:endParaRPr lang="en-US" altLang="zh-CN" sz="1600">
              <a:solidFill>
                <a:schemeClr val="tx1"/>
              </a:solidFill>
              <a:latin typeface="Verdana Regular" panose="020B0804030504040204" charset="0"/>
              <a:cs typeface="Verdana Regular" panose="020B0804030504040204" charset="0"/>
              <a:sym typeface="+mn-ea"/>
            </a:endParaRPr>
          </a:p>
        </p:txBody>
      </p:sp>
      <p:sp>
        <p:nvSpPr>
          <p:cNvPr id="18" name="圆角矩形 17"/>
          <p:cNvSpPr/>
          <p:nvPr>
            <p:custDataLst>
              <p:tags r:id="rId11"/>
            </p:custDataLst>
          </p:nvPr>
        </p:nvSpPr>
        <p:spPr>
          <a:xfrm>
            <a:off x="2149475" y="5755005"/>
            <a:ext cx="1059180" cy="319405"/>
          </a:xfrm>
          <a:prstGeom prst="roundRect">
            <a:avLst>
              <a:gd name="adj" fmla="val 3590"/>
            </a:avLst>
          </a:prstGeom>
          <a:solidFill>
            <a:schemeClr val="accent2">
              <a:lumMod val="40000"/>
              <a:lumOff val="6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600">
                <a:solidFill>
                  <a:schemeClr val="tx1"/>
                </a:solidFill>
                <a:latin typeface="Verdana Regular" panose="020B0804030504040204" charset="0"/>
                <a:cs typeface="Verdana Regular" panose="020B0804030504040204" charset="0"/>
                <a:sym typeface="+mn-ea"/>
              </a:rPr>
              <a:t>...</a:t>
            </a:r>
            <a:endParaRPr lang="en-US" altLang="zh-CN" sz="1600">
              <a:solidFill>
                <a:schemeClr val="tx1"/>
              </a:solidFill>
              <a:latin typeface="Verdana Regular" panose="020B0804030504040204" charset="0"/>
              <a:cs typeface="Verdana Regular" panose="020B0804030504040204" charset="0"/>
              <a:sym typeface="+mn-ea"/>
            </a:endParaRPr>
          </a:p>
        </p:txBody>
      </p:sp>
      <p:sp>
        <p:nvSpPr>
          <p:cNvPr id="35" name="圆角矩形 34"/>
          <p:cNvSpPr/>
          <p:nvPr>
            <p:custDataLst>
              <p:tags r:id="rId12"/>
            </p:custDataLst>
          </p:nvPr>
        </p:nvSpPr>
        <p:spPr>
          <a:xfrm>
            <a:off x="5872480" y="1797050"/>
            <a:ext cx="3903345" cy="476250"/>
          </a:xfrm>
          <a:prstGeom prst="roundRect">
            <a:avLst>
              <a:gd name="adj" fmla="val 3590"/>
            </a:avLst>
          </a:prstGeom>
          <a:solidFill>
            <a:schemeClr val="accent2">
              <a:lumMod val="40000"/>
              <a:lumOff val="6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600">
                <a:solidFill>
                  <a:schemeClr val="tx1"/>
                </a:solidFill>
                <a:latin typeface="Verdana Regular" panose="020B0804030504040204" charset="0"/>
                <a:cs typeface="Verdana Regular" panose="020B0804030504040204" charset="0"/>
                <a:sym typeface="+mn-ea"/>
              </a:rPr>
              <a:t>CTS </a:t>
            </a:r>
            <a:r>
              <a:rPr lang="en-US" altLang="zh-CN" sz="1600">
                <a:solidFill>
                  <a:schemeClr val="tx1"/>
                </a:solidFill>
                <a:latin typeface="Verdana Regular" panose="020B0804030504040204" charset="0"/>
                <a:cs typeface="Verdana Regular" panose="020B0804030504040204" charset="0"/>
                <a:sym typeface="+mn-ea"/>
              </a:rPr>
              <a:t>Application</a:t>
            </a:r>
            <a:endParaRPr lang="en-US" altLang="zh-CN" sz="1600">
              <a:solidFill>
                <a:schemeClr val="tx1"/>
              </a:solidFill>
              <a:latin typeface="Verdana Regular" panose="020B0804030504040204" charset="0"/>
              <a:cs typeface="Verdana Regular" panose="020B0804030504040204" charset="0"/>
              <a:sym typeface="+mn-ea"/>
            </a:endParaRPr>
          </a:p>
        </p:txBody>
      </p:sp>
      <p:sp>
        <p:nvSpPr>
          <p:cNvPr id="36" name="圆角矩形 35"/>
          <p:cNvSpPr/>
          <p:nvPr>
            <p:custDataLst>
              <p:tags r:id="rId13"/>
            </p:custDataLst>
          </p:nvPr>
        </p:nvSpPr>
        <p:spPr>
          <a:xfrm>
            <a:off x="7280910" y="2425065"/>
            <a:ext cx="2501900" cy="476250"/>
          </a:xfrm>
          <a:prstGeom prst="roundRect">
            <a:avLst>
              <a:gd name="adj" fmla="val 3590"/>
            </a:avLst>
          </a:prstGeom>
          <a:solidFill>
            <a:schemeClr val="accent2">
              <a:lumMod val="40000"/>
              <a:lumOff val="6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600">
                <a:solidFill>
                  <a:schemeClr val="tx1"/>
                </a:solidFill>
                <a:latin typeface="Verdana Regular" panose="020B0804030504040204" charset="0"/>
                <a:cs typeface="Verdana Regular" panose="020B0804030504040204" charset="0"/>
                <a:sym typeface="+mn-ea"/>
              </a:rPr>
              <a:t>Pro</a:t>
            </a:r>
            <a:r>
              <a:rPr lang="en-US" altLang="zh-CN" sz="1600">
                <a:solidFill>
                  <a:schemeClr val="tx1"/>
                </a:solidFill>
                <a:latin typeface="Verdana Regular" panose="020B0804030504040204" charset="0"/>
                <a:cs typeface="Verdana Regular" panose="020B0804030504040204" charset="0"/>
                <a:sym typeface="+mn-ea"/>
              </a:rPr>
              <a:t>cfs interface</a:t>
            </a:r>
            <a:endParaRPr lang="en-US" altLang="zh-CN" sz="1600">
              <a:solidFill>
                <a:schemeClr val="tx1"/>
              </a:solidFill>
              <a:latin typeface="Verdana Regular" panose="020B0804030504040204" charset="0"/>
              <a:cs typeface="Verdana Regular" panose="020B0804030504040204" charset="0"/>
              <a:sym typeface="+mn-ea"/>
            </a:endParaRPr>
          </a:p>
        </p:txBody>
      </p:sp>
      <p:sp>
        <p:nvSpPr>
          <p:cNvPr id="38" name="圆角矩形 37"/>
          <p:cNvSpPr/>
          <p:nvPr>
            <p:custDataLst>
              <p:tags r:id="rId14"/>
            </p:custDataLst>
          </p:nvPr>
        </p:nvSpPr>
        <p:spPr>
          <a:xfrm>
            <a:off x="5879465" y="3131185"/>
            <a:ext cx="3920490" cy="2084070"/>
          </a:xfrm>
          <a:prstGeom prst="roundRect">
            <a:avLst>
              <a:gd name="adj" fmla="val 3590"/>
            </a:avLst>
          </a:prstGeom>
          <a:solidFill>
            <a:schemeClr val="accent6">
              <a:lumMod val="20000"/>
              <a:lumOff val="8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b" anchorCtr="0"/>
          <a:p>
            <a:pPr algn="ctr"/>
            <a:r>
              <a:rPr lang="en-US" altLang="zh-CN" sz="1600">
                <a:solidFill>
                  <a:schemeClr val="tx1"/>
                </a:solidFill>
                <a:latin typeface="Verdana Regular" panose="020B0804030504040204" charset="0"/>
                <a:cs typeface="Verdana Regular" panose="020B0804030504040204" charset="0"/>
                <a:sym typeface="+mn-ea"/>
              </a:rPr>
              <a:t>OS/</a:t>
            </a:r>
            <a:r>
              <a:rPr lang="en-US" altLang="zh-CN" sz="1600">
                <a:solidFill>
                  <a:schemeClr val="tx1"/>
                </a:solidFill>
                <a:latin typeface="Verdana Regular" panose="020B0804030504040204" charset="0"/>
                <a:cs typeface="Verdana Regular" panose="020B0804030504040204" charset="0"/>
                <a:sym typeface="+mn-ea"/>
              </a:rPr>
              <a:t>Linux</a:t>
            </a:r>
            <a:endParaRPr lang="en-US" altLang="zh-CN" sz="1600">
              <a:solidFill>
                <a:schemeClr val="tx1"/>
              </a:solidFill>
              <a:latin typeface="Verdana Regular" panose="020B0804030504040204" charset="0"/>
              <a:cs typeface="Verdana Regular" panose="020B0804030504040204" charset="0"/>
              <a:sym typeface="+mn-ea"/>
            </a:endParaRPr>
          </a:p>
        </p:txBody>
      </p:sp>
      <p:sp>
        <p:nvSpPr>
          <p:cNvPr id="39" name="圆角矩形 38"/>
          <p:cNvSpPr/>
          <p:nvPr>
            <p:custDataLst>
              <p:tags r:id="rId15"/>
            </p:custDataLst>
          </p:nvPr>
        </p:nvSpPr>
        <p:spPr>
          <a:xfrm>
            <a:off x="5879465" y="5391150"/>
            <a:ext cx="3920490" cy="476250"/>
          </a:xfrm>
          <a:prstGeom prst="roundRect">
            <a:avLst>
              <a:gd name="adj" fmla="val 3590"/>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600">
                <a:solidFill>
                  <a:schemeClr val="tx1"/>
                </a:solidFill>
                <a:latin typeface="Verdana Regular" panose="020B0804030504040204" charset="0"/>
                <a:cs typeface="Verdana Regular" panose="020B0804030504040204" charset="0"/>
                <a:sym typeface="+mn-ea"/>
              </a:rPr>
              <a:t>Firmware</a:t>
            </a:r>
            <a:endParaRPr lang="en-US" altLang="zh-CN" sz="1600">
              <a:solidFill>
                <a:schemeClr val="tx1"/>
              </a:solidFill>
              <a:latin typeface="Verdana Regular" panose="020B0804030504040204" charset="0"/>
              <a:cs typeface="Verdana Regular" panose="020B0804030504040204" charset="0"/>
              <a:sym typeface="+mn-ea"/>
            </a:endParaRPr>
          </a:p>
        </p:txBody>
      </p:sp>
      <p:sp>
        <p:nvSpPr>
          <p:cNvPr id="40" name="圆角矩形 39"/>
          <p:cNvSpPr/>
          <p:nvPr>
            <p:custDataLst>
              <p:tags r:id="rId16"/>
            </p:custDataLst>
          </p:nvPr>
        </p:nvSpPr>
        <p:spPr>
          <a:xfrm>
            <a:off x="5879465" y="6043295"/>
            <a:ext cx="3920490" cy="476250"/>
          </a:xfrm>
          <a:prstGeom prst="roundRect">
            <a:avLst>
              <a:gd name="adj" fmla="val 3590"/>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600">
                <a:solidFill>
                  <a:schemeClr val="tx1"/>
                </a:solidFill>
                <a:latin typeface="Verdana Regular" panose="020B0804030504040204" charset="0"/>
                <a:cs typeface="Verdana Regular" panose="020B0804030504040204" charset="0"/>
                <a:sym typeface="+mn-ea"/>
              </a:rPr>
              <a:t>Hardware</a:t>
            </a:r>
            <a:endParaRPr lang="en-US" altLang="zh-CN" sz="1600">
              <a:solidFill>
                <a:schemeClr val="tx1"/>
              </a:solidFill>
              <a:latin typeface="Verdana Regular" panose="020B0804030504040204" charset="0"/>
              <a:cs typeface="Verdana Regular" panose="020B0804030504040204" charset="0"/>
              <a:sym typeface="+mn-ea"/>
            </a:endParaRPr>
          </a:p>
        </p:txBody>
      </p:sp>
      <p:cxnSp>
        <p:nvCxnSpPr>
          <p:cNvPr id="41" name="直接连接符 40"/>
          <p:cNvCxnSpPr/>
          <p:nvPr/>
        </p:nvCxnSpPr>
        <p:spPr>
          <a:xfrm>
            <a:off x="5115560" y="1648460"/>
            <a:ext cx="0" cy="4958080"/>
          </a:xfrm>
          <a:prstGeom prst="line">
            <a:avLst/>
          </a:prstGeom>
          <a:ln w="6350" cmpd="sng">
            <a:solidFill>
              <a:schemeClr val="tx1"/>
            </a:solidFill>
            <a:prstDash val="lgDash"/>
          </a:ln>
        </p:spPr>
        <p:style>
          <a:lnRef idx="2">
            <a:schemeClr val="accent1"/>
          </a:lnRef>
          <a:fillRef idx="0">
            <a:srgbClr val="FFFFFF"/>
          </a:fillRef>
          <a:effectRef idx="0">
            <a:srgbClr val="FFFFFF"/>
          </a:effectRef>
          <a:fontRef idx="minor">
            <a:schemeClr val="tx1"/>
          </a:fontRef>
        </p:style>
      </p:cxnSp>
      <p:sp>
        <p:nvSpPr>
          <p:cNvPr id="43" name="圆角矩形 42"/>
          <p:cNvSpPr/>
          <p:nvPr>
            <p:custDataLst>
              <p:tags r:id="rId17"/>
            </p:custDataLst>
          </p:nvPr>
        </p:nvSpPr>
        <p:spPr>
          <a:xfrm>
            <a:off x="5396230" y="2422525"/>
            <a:ext cx="641985" cy="240665"/>
          </a:xfrm>
          <a:prstGeom prst="roundRect">
            <a:avLst>
              <a:gd name="adj" fmla="val 3590"/>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en-US" altLang="zh-CN" sz="1200">
                <a:solidFill>
                  <a:schemeClr val="tx1"/>
                </a:solidFill>
                <a:latin typeface="Verdana Regular" panose="020B0804030504040204" charset="0"/>
                <a:cs typeface="Verdana Regular" panose="020B0804030504040204" charset="0"/>
                <a:sym typeface="+mn-ea"/>
              </a:rPr>
              <a:t>user</a:t>
            </a:r>
            <a:endParaRPr lang="en-US" altLang="zh-CN" sz="1200">
              <a:solidFill>
                <a:schemeClr val="tx1"/>
              </a:solidFill>
              <a:latin typeface="Verdana Regular" panose="020B0804030504040204" charset="0"/>
              <a:cs typeface="Verdana Regular" panose="020B0804030504040204" charset="0"/>
              <a:sym typeface="+mn-ea"/>
            </a:endParaRPr>
          </a:p>
        </p:txBody>
      </p:sp>
      <p:sp>
        <p:nvSpPr>
          <p:cNvPr id="44" name="圆角矩形 43"/>
          <p:cNvSpPr/>
          <p:nvPr>
            <p:custDataLst>
              <p:tags r:id="rId18"/>
            </p:custDataLst>
          </p:nvPr>
        </p:nvSpPr>
        <p:spPr>
          <a:xfrm>
            <a:off x="5396230" y="2714625"/>
            <a:ext cx="796290" cy="207010"/>
          </a:xfrm>
          <a:prstGeom prst="roundRect">
            <a:avLst>
              <a:gd name="adj" fmla="val 3590"/>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en-US" altLang="zh-CN" sz="1200">
                <a:solidFill>
                  <a:schemeClr val="tx1"/>
                </a:solidFill>
                <a:latin typeface="Verdana Regular" panose="020B0804030504040204" charset="0"/>
                <a:cs typeface="Verdana Regular" panose="020B0804030504040204" charset="0"/>
                <a:sym typeface="+mn-ea"/>
              </a:rPr>
              <a:t>kernel</a:t>
            </a:r>
            <a:endParaRPr lang="en-US" altLang="zh-CN" sz="1200">
              <a:solidFill>
                <a:schemeClr val="tx1"/>
              </a:solidFill>
              <a:latin typeface="Verdana Regular" panose="020B0804030504040204" charset="0"/>
              <a:cs typeface="Verdana Regular" panose="020B0804030504040204" charset="0"/>
              <a:sym typeface="+mn-ea"/>
            </a:endParaRPr>
          </a:p>
        </p:txBody>
      </p:sp>
      <p:sp>
        <p:nvSpPr>
          <p:cNvPr id="47" name="圆角矩形 46"/>
          <p:cNvSpPr/>
          <p:nvPr>
            <p:custDataLst>
              <p:tags r:id="rId19"/>
            </p:custDataLst>
          </p:nvPr>
        </p:nvSpPr>
        <p:spPr>
          <a:xfrm>
            <a:off x="6572885" y="3606800"/>
            <a:ext cx="2502535" cy="1078865"/>
          </a:xfrm>
          <a:prstGeom prst="roundRect">
            <a:avLst>
              <a:gd name="adj" fmla="val 3590"/>
            </a:avLst>
          </a:prstGeom>
          <a:solidFill>
            <a:schemeClr val="accent2">
              <a:lumMod val="40000"/>
              <a:lumOff val="6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b" anchorCtr="0"/>
          <a:p>
            <a:pPr algn="ctr"/>
            <a:r>
              <a:rPr lang="en-US" altLang="zh-CN" sz="1600">
                <a:solidFill>
                  <a:schemeClr val="tx1"/>
                </a:solidFill>
                <a:latin typeface="Verdana Regular" panose="020B0804030504040204" charset="0"/>
                <a:cs typeface="Verdana Regular" panose="020B0804030504040204" charset="0"/>
                <a:sym typeface="+mn-ea"/>
              </a:rPr>
              <a:t>CTS ko</a:t>
            </a:r>
            <a:endParaRPr lang="en-US" altLang="zh-CN" sz="1600">
              <a:solidFill>
                <a:schemeClr val="tx1"/>
              </a:solidFill>
              <a:latin typeface="Verdana Regular" panose="020B0804030504040204" charset="0"/>
              <a:cs typeface="Verdana Regular" panose="020B0804030504040204" charset="0"/>
              <a:sym typeface="+mn-ea"/>
            </a:endParaRPr>
          </a:p>
        </p:txBody>
      </p:sp>
      <p:sp>
        <p:nvSpPr>
          <p:cNvPr id="45" name="圆角矩形 44"/>
          <p:cNvSpPr/>
          <p:nvPr>
            <p:custDataLst>
              <p:tags r:id="rId20"/>
            </p:custDataLst>
          </p:nvPr>
        </p:nvSpPr>
        <p:spPr>
          <a:xfrm>
            <a:off x="6812280" y="3781425"/>
            <a:ext cx="1242695" cy="476250"/>
          </a:xfrm>
          <a:prstGeom prst="roundRect">
            <a:avLst>
              <a:gd name="adj" fmla="val 3590"/>
            </a:avLst>
          </a:prstGeom>
          <a:solidFill>
            <a:schemeClr val="accent2">
              <a:lumMod val="40000"/>
              <a:lumOff val="6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600">
                <a:solidFill>
                  <a:schemeClr val="tx1"/>
                </a:solidFill>
                <a:latin typeface="Verdana Regular" panose="020B0804030504040204" charset="0"/>
                <a:cs typeface="Verdana Regular" panose="020B0804030504040204" charset="0"/>
                <a:sym typeface="+mn-ea"/>
              </a:rPr>
              <a:t>testcase</a:t>
            </a:r>
            <a:endParaRPr lang="en-US" altLang="zh-CN" sz="1600">
              <a:solidFill>
                <a:schemeClr val="tx1"/>
              </a:solidFill>
              <a:latin typeface="Verdana Regular" panose="020B0804030504040204" charset="0"/>
              <a:cs typeface="Verdana Regular" panose="020B0804030504040204" charset="0"/>
              <a:sym typeface="+mn-ea"/>
            </a:endParaRPr>
          </a:p>
        </p:txBody>
      </p:sp>
      <p:cxnSp>
        <p:nvCxnSpPr>
          <p:cNvPr id="48" name="直接箭头连接符 47"/>
          <p:cNvCxnSpPr/>
          <p:nvPr/>
        </p:nvCxnSpPr>
        <p:spPr>
          <a:xfrm>
            <a:off x="7824470" y="2273300"/>
            <a:ext cx="707390" cy="149225"/>
          </a:xfrm>
          <a:prstGeom prst="straightConnector1">
            <a:avLst/>
          </a:prstGeom>
          <a:ln>
            <a:solidFill>
              <a:srgbClr val="FF0000"/>
            </a:solidFill>
            <a:headEnd type="arrow"/>
            <a:tailEnd type="arrow"/>
          </a:ln>
        </p:spPr>
        <p:style>
          <a:lnRef idx="2">
            <a:schemeClr val="accent1"/>
          </a:lnRef>
          <a:fillRef idx="0">
            <a:srgbClr val="FFFFFF"/>
          </a:fillRef>
          <a:effectRef idx="0">
            <a:srgbClr val="FFFFFF"/>
          </a:effectRef>
          <a:fontRef idx="minor">
            <a:schemeClr val="tx1"/>
          </a:fontRef>
        </p:style>
      </p:cxnSp>
      <p:cxnSp>
        <p:nvCxnSpPr>
          <p:cNvPr id="49" name="直接箭头连接符 48"/>
          <p:cNvCxnSpPr>
            <a:stCxn id="47" idx="0"/>
            <a:endCxn id="36" idx="2"/>
          </p:cNvCxnSpPr>
          <p:nvPr/>
        </p:nvCxnSpPr>
        <p:spPr>
          <a:xfrm flipV="1">
            <a:off x="7824470" y="2901315"/>
            <a:ext cx="707390" cy="705485"/>
          </a:xfrm>
          <a:prstGeom prst="straightConnector1">
            <a:avLst/>
          </a:prstGeom>
          <a:ln>
            <a:solidFill>
              <a:srgbClr val="FF0000"/>
            </a:solidFill>
            <a:headEnd type="arrow"/>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heme/theme1.xml><?xml version="1.0" encoding="utf-8"?>
<a:theme xmlns:a="http://schemas.openxmlformats.org/drawingml/2006/main" name="普通样式">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373</Words>
  <Application>WPS 文字</Application>
  <PresentationFormat>宽屏</PresentationFormat>
  <Paragraphs>58</Paragraphs>
  <Slides>3</Slides>
  <Notes>0</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3</vt:i4>
      </vt:variant>
    </vt:vector>
  </HeadingPairs>
  <TitlesOfParts>
    <vt:vector size="21" baseType="lpstr">
      <vt:lpstr>Arial</vt:lpstr>
      <vt:lpstr>宋体</vt:lpstr>
      <vt:lpstr>Wingdings</vt:lpstr>
      <vt:lpstr>微软雅黑</vt:lpstr>
      <vt:lpstr>汉仪旗黑</vt:lpstr>
      <vt:lpstr>Wingdings</vt:lpstr>
      <vt:lpstr>微软雅黑</vt:lpstr>
      <vt:lpstr>Verdana Regular</vt:lpstr>
      <vt:lpstr>Calibri</vt:lpstr>
      <vt:lpstr>Arial</vt:lpstr>
      <vt:lpstr>宋体</vt:lpstr>
      <vt:lpstr>Arial Unicode MS</vt:lpstr>
      <vt:lpstr>等线</vt:lpstr>
      <vt:lpstr>汉仪中等线KW</vt:lpstr>
      <vt:lpstr>等线 Light</vt:lpstr>
      <vt:lpstr>Helvetica Neue</vt:lpstr>
      <vt:lpstr>汉仪书宋二KW</vt:lpstr>
      <vt:lpstr>普通样式</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User</dc:creator>
  <cp:lastModifiedBy>朱恒博</cp:lastModifiedBy>
  <cp:revision>3100</cp:revision>
  <dcterms:created xsi:type="dcterms:W3CDTF">2024-09-11T05:09:47Z</dcterms:created>
  <dcterms:modified xsi:type="dcterms:W3CDTF">2024-09-11T05:09:47Z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2052-6.7.1.8828</vt:lpwstr>
  </property>
  <property fmtid="{D5CDD505-2E9C-101B-9397-08002B2CF9AE}" pid="3" name="ICV">
    <vt:lpwstr>3509165E7E262FBA3BFBE0668B056B15_43</vt:lpwstr>
  </property>
</Properties>
</file>