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A3552">
              <a:alpha val="92000"/>
            </a:srgbClr>
          </a:solidFill>
          <a:ln w="12700">
            <a:solidFill>
              <a:srgbClr val="1A35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749808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822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辅助内核开发能力对比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Hermes vs OpenClaw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4F0"/>
                </a:solidFill>
              </a:rPr>
              <a:t>为什么“工程执行型 Agent”更适合 Linux 内核 / 驱动 / BSP 团队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154680"/>
            <a:ext cx="47548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汇报对象：</a:t>
            </a:r>
            <a:pPr indent="0" marL="0">
              <a:buNone/>
            </a:pPr>
            <a:r>
              <a:rPr lang="en-US" sz="1200" dirty="0">
                <a:solidFill>
                  <a:srgbClr val="D8E4F0"/>
                </a:solidFill>
              </a:rPr>
              <a:t>管理层 / 技术负责人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汇报目标：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4F0"/>
                </a:solidFill>
              </a:rPr>
              <a:t>选型判断与能力定位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核心结论：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E0D6"/>
                </a:solidFill>
              </a:rPr>
              <a:t>Hermes 更适合作为内核研发辅助 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83880" y="914400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0F1A2A"/>
          </a:solidFill>
          <a:ln w="12700">
            <a:solidFill>
              <a:srgbClr val="3551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914400"/>
            <a:ext cx="3246120" cy="38404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102412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0496" y="1024128"/>
            <a:ext cx="91440" cy="914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41664" y="102412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repo grep compatible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94192" y="19568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ARCH=arm64 olddefconfig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94192" y="24688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-j16 drivers/clk/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94192" y="29809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2.417] probe defer: regulator not ready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94192" y="34930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 -- drivers/clock/foo.c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94192" y="40050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write RCA + next actions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83880" y="5504688"/>
            <a:ext cx="3246120" cy="512064"/>
          </a:xfrm>
          <a:prstGeom prst="roundRect">
            <a:avLst>
              <a:gd name="adj" fmla="val 10714"/>
            </a:avLst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565099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执行闭环 &gt; 触达入口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基于当前目录中的分析文档自动生成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55680" y="6382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一句话结论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聚焦 AI 辅助 Linux 内核 / 驱动 / BSP 研发，而非泛化个人助手场景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444752"/>
            <a:ext cx="3145536" cy="384048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9616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OpenClaw 更擅长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3154680" cy="2724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多渠道、长期在线的个人 AI 助手平台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Gateway / 消息入口 / 语音 / Canvas 等产品化体验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让助手在更多终端和工作区“可触达”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28016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44752"/>
            <a:ext cx="3145536" cy="384048"/>
          </a:xfrm>
          <a:prstGeom prst="roundRect">
            <a:avLst>
              <a:gd name="adj" fmla="val 14286"/>
            </a:avLst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499616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Hermes 更擅长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1810512"/>
            <a:ext cx="3154680" cy="2724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直接进入代码仓、本地工具链和文件系统工作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围绕查问题、改代码、跑构建、看日志形成闭环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把技能、记忆、文档沉淀成团队长期资产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2801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最终判断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057400"/>
            <a:ext cx="2743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在 AI 辅助 Linux 内核 / BSP 开发场景里，Hermes 更直接提升生产力。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58200" y="3108960"/>
            <a:ext cx="27432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4F0"/>
                </a:solidFill>
              </a:rPr>
              <a:t>原因不在于入口更多，而在于它更像一个能直接下场干活的工程执行型 Agent。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5074920"/>
            <a:ext cx="10058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285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E9C"/>
                </a:solidFill>
              </a:rPr>
              <a:t>结论归纳：OpenClaw 解决“助手在哪用”；Hermes 解决“助手怎样真正参与研发”。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执行型 Agent 更匹配低层研发的真实瓶颈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0" y="6382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内核研发真正需要 AI 做什么？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关键不只是问答，而是进入真实研发现场，打通查-改-编-测-记的执行闭环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8FB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581912"/>
            <a:ext cx="420624" cy="420624"/>
          </a:xfrm>
          <a:prstGeom prst="ellipse">
            <a:avLst/>
          </a:prstGeom>
          <a:solidFill>
            <a:srgbClr val="1F5E9C"/>
          </a:solidFill>
          <a:ln w="12700">
            <a:solidFill>
              <a:srgbClr val="1F5E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67335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90472" y="1581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搜索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2075688"/>
            <a:ext cx="2834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查结构体、宏、Kconfig、DTS、调用链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5FA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1581912"/>
            <a:ext cx="420624" cy="420624"/>
          </a:xfrm>
          <a:prstGeom prst="ellipse">
            <a:avLst/>
          </a:prstGeom>
          <a:solidFill>
            <a:srgbClr val="1F5E9C"/>
          </a:solidFill>
          <a:ln w="12700">
            <a:solidFill>
              <a:srgbClr val="1F5E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67335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85232" y="1581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Patch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36592" y="2075688"/>
            <a:ext cx="2834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局部改代码、设备树、文档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8FB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31352" y="1581912"/>
            <a:ext cx="420624" cy="420624"/>
          </a:xfrm>
          <a:prstGeom prst="ellipse">
            <a:avLst/>
          </a:prstGeom>
          <a:solidFill>
            <a:srgbClr val="1F5E9C"/>
          </a:solidFill>
          <a:ln w="12700">
            <a:solidFill>
              <a:srgbClr val="1F5E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9368" y="167335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79992" y="1581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编译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31352" y="2075688"/>
            <a:ext cx="2834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运行 make / 脚本 / 交叉编译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38328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5FA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3547872"/>
            <a:ext cx="420624" cy="420624"/>
          </a:xfrm>
          <a:prstGeom prst="ellipse">
            <a:avLst/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63931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90472" y="3547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日志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" y="4041648"/>
            <a:ext cx="2834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看 warning、link error、dmesg、boot log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338328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8FB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3547872"/>
            <a:ext cx="420624" cy="420624"/>
          </a:xfrm>
          <a:prstGeom prst="ellipse">
            <a:avLst/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63931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85232" y="3547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分析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36592" y="4041648"/>
            <a:ext cx="2834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定位 root cause 与影响范围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66760" y="338328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5FA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31352" y="3547872"/>
            <a:ext cx="420624" cy="420624"/>
          </a:xfrm>
          <a:prstGeom prst="ellipse">
            <a:avLst/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59368" y="363931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79992" y="3547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沉淀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31352" y="4041648"/>
            <a:ext cx="2834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写 RCA、流程、团队技能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05840" y="5440680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5641848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核心判断：在 Linux 内核 / BSP 场景里，“执行”比“触达”更重要。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AI 价值取决于是否真正进入源码树与构建系统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155680" y="6382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OpenClaw 与 Hermes 的设计中心不同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两者都强，但优化目标不一样：一个偏平台触达，一个偏工程执行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90472"/>
            <a:ext cx="4974336" cy="384048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45336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OpenClaw：assistant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856232"/>
            <a:ext cx="4983480" cy="3822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personal AI assistant / local-first gateway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multi-channel inbox、voice、canvas、companion apps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多代理路由、多入口接入、长期在线体验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重点回答：助手在哪些入口可用？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9632" y="1325880"/>
            <a:ext cx="5321808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1490472"/>
            <a:ext cx="4992624" cy="384048"/>
          </a:xfrm>
          <a:prstGeom prst="roundRect">
            <a:avLst>
              <a:gd name="adj" fmla="val 14286"/>
            </a:avLst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545336"/>
            <a:ext cx="4809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Hermes：engineering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82512" y="1856232"/>
            <a:ext cx="5001768" cy="3822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CLI Agent，围绕终端、文件、源码树工作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read / search / patch / write / terminal 执行闭环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delegate_task、skill、memory 支持复杂问题拆解与沉淀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重点回答：助手怎样真正参与研发？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68112" y="2816352"/>
            <a:ext cx="1078992" cy="658368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35204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5"/>
                </a:solidFill>
              </a:rPr>
              <a:t>设计中心差异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不是谁强谁弱，而是谁更匹配当前研发目标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0" y="6382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Hermes 的 4 个核心优势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在内核开发里，真正拉开差距的是源码树就地作业、构建验证闭环和复杂问题分治能力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8FB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664208"/>
            <a:ext cx="530352" cy="530352"/>
          </a:xfrm>
          <a:prstGeom prst="ellipse">
            <a:avLst/>
          </a:prstGeom>
          <a:solidFill>
            <a:srgbClr val="1F5E9C"/>
          </a:solidFill>
          <a:ln w="12700">
            <a:solidFill>
              <a:srgbClr val="1F5E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181965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64792" y="1636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更贴近源码树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4792" y="2039112"/>
            <a:ext cx="37033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就地搜索、阅读、修改 C / DTS / Kconfig / 文档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5FA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664208"/>
            <a:ext cx="530352" cy="530352"/>
          </a:xfrm>
          <a:prstGeom prst="ellipse">
            <a:avLst/>
          </a:prstGeom>
          <a:solidFill>
            <a:srgbClr val="1F5E9C"/>
          </a:solidFill>
          <a:ln w="12700">
            <a:solidFill>
              <a:srgbClr val="1F5E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81965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59752" y="1636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更贴近构建系统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9752" y="2039112"/>
            <a:ext cx="37033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可直接调用 shell、脚本、编译与验证命令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70332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8FB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950208"/>
            <a:ext cx="530352" cy="530352"/>
          </a:xfrm>
          <a:prstGeom prst="ellipse">
            <a:avLst/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410565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64792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更适合复杂问题拆解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64792" y="4325112"/>
            <a:ext cx="37033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子代理并行分析 crash、probe、性能回退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5FA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950208"/>
            <a:ext cx="530352" cy="530352"/>
          </a:xfrm>
          <a:prstGeom prst="ellipse">
            <a:avLst/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410565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9752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更利于长期知识沉淀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9752" y="4325112"/>
            <a:ext cx="37033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技能、记忆、文档一体化保留团队经验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17320" y="5623560"/>
            <a:ext cx="9326880" cy="530352"/>
          </a:xfrm>
          <a:prstGeom prst="roundRect">
            <a:avLst>
              <a:gd name="adj" fmla="val 13793"/>
            </a:avLst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5788152"/>
            <a:ext cx="8641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Hermes 不是把 AI 放在聊天入口，而是把 AI 放在工程闭环里。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优势来自工作形态，而不只是模型能力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0" y="6382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Hermes 在哪些低层场景更有价值？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这些任务共同特点是：需要同时看代码、日志、配置与文档，并持续迭代验证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13232" y="1463040"/>
            <a:ext cx="325526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驱动 probe 失败定位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77824" y="2121408"/>
            <a:ext cx="274320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B2430"/>
                </a:solidFill>
              </a:rPr>
              <a:t>查 compatible、时钟、regulator、EPROBE_DEFER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877824" y="2724912"/>
            <a:ext cx="2651760" cy="0"/>
          </a:xfrm>
          <a:prstGeom prst="line">
            <a:avLst/>
          </a:prstGeom>
          <a:noFill/>
          <a:ln w="12700">
            <a:solidFill>
              <a:srgbClr val="11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35424" y="1463040"/>
            <a:ext cx="325526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DTS 与驱动不匹配分析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00016" y="2121408"/>
            <a:ext cx="274320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B2430"/>
                </a:solidFill>
              </a:rPr>
              <a:t>检查节点、binding、phandle、覆盖关系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700016" y="2724912"/>
            <a:ext cx="2651760" cy="0"/>
          </a:xfrm>
          <a:prstGeom prst="line">
            <a:avLst/>
          </a:prstGeom>
          <a:noFill/>
          <a:ln w="12700">
            <a:solidFill>
              <a:srgbClr val="11A3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57616" y="1463040"/>
            <a:ext cx="325526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交叉编译/链接错误处理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22208" y="2121408"/>
            <a:ext cx="274320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B2430"/>
                </a:solidFill>
              </a:rPr>
              <a:t>定位 symbol、Kconfig、only-build-break 问题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522208" y="2724912"/>
            <a:ext cx="2651760" cy="0"/>
          </a:xfrm>
          <a:prstGeom prst="line">
            <a:avLst/>
          </a:prstGeom>
          <a:noFill/>
          <a:ln w="12700">
            <a:solidFill>
              <a:srgbClr val="11A3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520440"/>
            <a:ext cx="325526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性能回退分析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7824" y="4178808"/>
            <a:ext cx="274320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B2430"/>
                </a:solidFill>
              </a:rPr>
              <a:t>并行查看 diff、热路径、锁竞争与配置变化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77824" y="4782312"/>
            <a:ext cx="2651760" cy="0"/>
          </a:xfrm>
          <a:prstGeom prst="line">
            <a:avLst/>
          </a:prstGeom>
          <a:noFill/>
          <a:ln w="12700">
            <a:solidFill>
              <a:srgbClr val="11A3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35424" y="3520440"/>
            <a:ext cx="325526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</a:rPr>
              <a:t>上游提交流程辅助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00016" y="4178808"/>
            <a:ext cx="274320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B2430"/>
                </a:solidFill>
              </a:rPr>
              <a:t>同步补 patch、commit message、设计说明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700016" y="4782312"/>
            <a:ext cx="2651760" cy="0"/>
          </a:xfrm>
          <a:prstGeom prst="line">
            <a:avLst/>
          </a:prstGeom>
          <a:noFill/>
          <a:ln w="12700">
            <a:solidFill>
              <a:srgbClr val="11A3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57616" y="3520440"/>
            <a:ext cx="325526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22208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8A5B"/>
                </a:solidFill>
              </a:rPr>
              <a:t>更多场景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22208" y="4178808"/>
            <a:ext cx="274320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B2430"/>
                </a:solidFill>
              </a:rPr>
              <a:t>bring-up / suspend-resume / PM / clock / regulator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522208" y="4782312"/>
            <a:ext cx="2651760" cy="0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1908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典型价值来自低层复杂场景，而不是泛化问答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55680" y="6382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分维度对比：谁更适合内核研发？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对个人助手场景，OpenClaw 很强；对低层研发场景，Hermes 更关键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103120" cy="438912"/>
          </a:xfrm>
          <a:prstGeom prst="rect">
            <a:avLst/>
          </a:prstGeom>
          <a:solidFill>
            <a:srgbClr val="13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453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维度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0" y="1417320"/>
            <a:ext cx="2331720" cy="438912"/>
          </a:xfrm>
          <a:prstGeom prst="rect">
            <a:avLst/>
          </a:prstGeom>
          <a:solidFill>
            <a:srgbClr val="11A3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54533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Hermes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74920" y="1417320"/>
            <a:ext cx="301752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5453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OpenClaw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1783080" cy="438912"/>
          </a:xfrm>
          <a:prstGeom prst="rect">
            <a:avLst/>
          </a:prstGeom>
          <a:solidFill>
            <a:srgbClr val="13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54533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更适合内核开发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856232"/>
            <a:ext cx="21031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04825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产品中心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0" y="1856232"/>
            <a:ext cx="23317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2048256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工程执行 Agent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4920" y="1856232"/>
            <a:ext cx="30175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2048256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多渠道助手平台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2440" y="1856232"/>
            <a:ext cx="178308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204825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5B"/>
                </a:solidFill>
              </a:rPr>
              <a:t>Hermes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423160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61518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源码树就地作业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0" y="2423160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61518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74920" y="2423160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2615184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非核心主叙事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2423160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65592" y="2615184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5B"/>
                </a:solidFill>
              </a:rPr>
              <a:t>Hermes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2990088"/>
            <a:ext cx="21031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1821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构建 / 验证闭环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0" y="2990088"/>
            <a:ext cx="23317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318211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强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74920" y="2990088"/>
            <a:ext cx="30175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182112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非主卖点中心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2990088"/>
            <a:ext cx="178308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65592" y="318211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5B"/>
                </a:solidFill>
              </a:rPr>
              <a:t>Hermes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3557016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74904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文件精细 patch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0" y="3557016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3749040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强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74920" y="3557016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8072" y="3749040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平台能力导向更强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92440" y="3557016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65592" y="374904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5B"/>
                </a:solidFill>
              </a:rPr>
              <a:t>Hermes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4123944"/>
            <a:ext cx="21031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31596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多渠道接入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0" y="4123944"/>
            <a:ext cx="23317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16352" y="4315968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一般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74920" y="4123944"/>
            <a:ext cx="30175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48072" y="4315968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极强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92440" y="4123944"/>
            <a:ext cx="178308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65592" y="4315968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4545"/>
                </a:solidFill>
              </a:rPr>
              <a:t>OpenClaw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4690872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48828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语音 / 移动端 / Canvas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0" y="4690872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16352" y="4882896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非重点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74920" y="4690872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8072" y="4882896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</a:rPr>
              <a:t>很强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092440" y="4690872"/>
            <a:ext cx="1783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65592" y="488289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4545"/>
                </a:solidFill>
              </a:rPr>
              <a:t>OpenClaw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96112" y="5440680"/>
            <a:ext cx="10378440" cy="658368"/>
          </a:xfrm>
          <a:prstGeom prst="roundRect">
            <a:avLst>
              <a:gd name="adj" fmla="val 11111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88720" y="5632704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判断标准不是“谁的入口更多”，而是“谁更能打穿代码-构建-日志-文档这条链”。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548640" y="641908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表格对比展示了两者优化目标的根本差异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1155680" y="6382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为什么这不只是工具差异，而是效率模型差异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从管理层视角，真正值得关注的是提效、降错和知识复利的可持续性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65960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1F5E9C"/>
          </a:solidFill>
          <a:ln w="12700">
            <a:solidFill>
              <a:srgbClr val="1F5E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04825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短期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" y="2514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提效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3063240"/>
            <a:ext cx="26974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AI 直接参与仓库、构建、日志和文档，降低工程执行摩擦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3168" y="1965960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04825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中期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3168" y="2514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降错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3168" y="3063240"/>
            <a:ext cx="26974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跨 DTS、driver、Kconfig、日志的联动问题更容易被系统化定位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173736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76488" y="1965960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04825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长期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76488" y="2514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沉淀知识资产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6488" y="3063240"/>
            <a:ext cx="26974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把个人经验固化为技能、记忆和可复用工作流，形成团队复利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管理价值 = 提效 + 降错 + 团队知识复利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55680" y="6382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40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最终建议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1"/>
                </a:solidFill>
              </a:rPr>
              <a:t>什么时候选 OpenClaw，什么时候选 Hermes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737360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01952"/>
            <a:ext cx="4791456" cy="384048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956816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更适合 OpenClaw 的情况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267712"/>
            <a:ext cx="4800600" cy="2724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需要多渠道助手、长期在线和丰富入口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需要 Telegram / Slack / Discord / WhatsApp 等覆盖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强调移动端、语音、Canvas 等交互体验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建设目标是 assistant platform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1901952"/>
            <a:ext cx="4791456" cy="384048"/>
          </a:xfrm>
          <a:prstGeom prst="roundRect">
            <a:avLst>
              <a:gd name="adj" fmla="val 14286"/>
            </a:avLst>
          </a:prstGeom>
          <a:solidFill>
            <a:srgbClr val="11A3A3"/>
          </a:solidFill>
          <a:ln w="12700">
            <a:solidFill>
              <a:srgbClr val="11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956816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更适合 Hermes 的情况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267712"/>
            <a:ext cx="4800600" cy="2724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目标是 Linux 内核 / 驱动 / BSP 团队提效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需要 AI 深入代码分析、patch、编译、日志和文档沉淀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需要沉淀调试套路、构建命令和项目约定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</a:rPr>
              <a:t>建设目标是 engineering agent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97280" y="5623560"/>
            <a:ext cx="10058400" cy="658368"/>
          </a:xfrm>
          <a:prstGeom prst="roundRect">
            <a:avLst>
              <a:gd name="adj" fmla="val 11111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5815584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一句话总结：OpenClaw 更像“把 AI 放到很多地方去用”，Hermes 更像“把 AI 放进研发现场里干活”。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对 AI 辅助 Linux 内核 / BSP 开发，优先考虑工程执行型 Agent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0" y="63825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vs OpenClaw：AI 辅助内核开发能力对比</dc:title>
  <dc:subject>Hermes vs OpenClaw</dc:subject>
  <dc:creator>Hermes</dc:creator>
  <cp:lastModifiedBy>Hermes</cp:lastModifiedBy>
  <cp:revision>1</cp:revision>
  <dcterms:created xsi:type="dcterms:W3CDTF">2026-04-14T01:32:37Z</dcterms:created>
  <dcterms:modified xsi:type="dcterms:W3CDTF">2026-04-14T01:32:37Z</dcterms:modified>
</cp:coreProperties>
</file>