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49808"/>
            <a:ext cx="2103120" cy="256032"/>
          </a:xfrm>
          <a:prstGeom prst="roundRect">
            <a:avLst>
              <a:gd name="adj" fmla="val 25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04672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技术评审版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Hermes vs OpenClaw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9808" y="201168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E3F0"/>
                </a:solidFill>
              </a:rPr>
              <a:t>面向 Linux 内核 / 驱动 / BSP 团队的 AI Agent 技术评审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788920"/>
            <a:ext cx="53949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评审关注点：</a:t>
            </a:r>
            <a:pPr indent="0" marL="0">
              <a:buNone/>
            </a:pPr>
            <a:r>
              <a:rPr lang="en-US" sz="1200" dirty="0">
                <a:solidFill>
                  <a:srgbClr val="D8E3F0"/>
                </a:solidFill>
              </a:rPr>
              <a:t>源码树作业、构建验证闭环、复杂缺陷分治、知识沉淀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适用对象：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3F0"/>
                </a:solidFill>
              </a:rPr>
              <a:t>Kernel / Driver / DTS / Kconfig / Bring-up / Performance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结论预告：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E0D6"/>
                </a:solidFill>
              </a:rPr>
              <a:t>Hermes 更像进入研发现场的 engineering agent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83880" y="914400"/>
            <a:ext cx="3337560" cy="4663440"/>
          </a:xfrm>
          <a:prstGeom prst="roundRect">
            <a:avLst>
              <a:gd name="adj" fmla="val 2192"/>
            </a:avLst>
          </a:prstGeom>
          <a:solidFill>
            <a:srgbClr val="0C1828"/>
          </a:solidFill>
          <a:ln w="12700">
            <a:solidFill>
              <a:srgbClr val="3551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914400"/>
            <a:ext cx="3337560" cy="384048"/>
          </a:xfrm>
          <a:prstGeom prst="rect">
            <a:avLst/>
          </a:prstGeom>
          <a:solidFill>
            <a:srgbClr val="223A54"/>
          </a:solidFill>
          <a:ln w="12700">
            <a:solidFill>
              <a:srgbClr val="223A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1024128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0496" y="1024128"/>
            <a:ext cx="91440" cy="91440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41664" y="1024128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48132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D6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rg "compatible" arch/ drivers/ dts/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8394192" y="205740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D6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ARCH=arm64 CROSS_COMPILE=aarch64-linux-gnu-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8394192" y="263347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3B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ld.lld: undefined reference to foo_clk_init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8394192" y="320954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3B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 3.821] probe defer: regulator not ready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8394192" y="378561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D6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diff -- drivers/clk/foo.c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8394192" y="436168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D6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write RCA + patch plan + regression notes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8183880" y="5687568"/>
            <a:ext cx="3337560" cy="438912"/>
          </a:xfrm>
          <a:prstGeom prst="roundRect">
            <a:avLst>
              <a:gd name="adj" fmla="val 125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5824728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核心评判标准：执行闭环深度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1908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4E3"/>
                </a:solidFill>
              </a:rPr>
              <a:t>当前目录中的技术分析文档自动汇总生成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10996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4E3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先定义评审问题：低层研发到底需要什么样的 AI Agent？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如果评审目标是 Linux 内核 / BSP 提效，评价标准应围绕真实工程动作，而不是消息入口数量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72184"/>
            <a:ext cx="2368296" cy="256032"/>
          </a:xfrm>
          <a:prstGeom prst="roundRect">
            <a:avLst>
              <a:gd name="adj" fmla="val 21429"/>
            </a:avLst>
          </a:prstGeom>
          <a:solidFill>
            <a:srgbClr val="1B5FA7"/>
          </a:solidFill>
          <a:ln w="12700">
            <a:solidFill>
              <a:srgbClr val="1B5F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27048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代码理解类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822960" y="1837944"/>
            <a:ext cx="2368296" cy="12527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搜索结构体、宏、Kconfig、DTS 节点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跟踪 symbol 定义与调用路径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比较不同架构/SoC 的实现差异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93592" y="13258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58184" y="1472184"/>
            <a:ext cx="2368296" cy="256032"/>
          </a:xfrm>
          <a:prstGeom prst="roundRect">
            <a:avLst>
              <a:gd name="adj" fmla="val 21429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2192" y="1527048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修改与验证类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3758184" y="1837944"/>
            <a:ext cx="2368296" cy="12527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小步 patch 驱动 / DTS / Kconfig / 文档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运行 make、脚本与检查工具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读取 warning / error / linker 报错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28816" y="13258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93408" y="1472184"/>
            <a:ext cx="2368296" cy="256032"/>
          </a:xfrm>
          <a:prstGeom prst="roundRect">
            <a:avLst>
              <a:gd name="adj" fmla="val 21429"/>
            </a:avLst>
          </a:prstGeom>
          <a:solidFill>
            <a:srgbClr val="6A5AE0"/>
          </a:solidFill>
          <a:ln w="12700">
            <a:solidFill>
              <a:srgbClr val="6A5A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57416" y="1527048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调试与定位类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6693408" y="1837944"/>
            <a:ext cx="2368296" cy="12527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分析 boot log、dmesg、oops、panic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追踪 probe defer / clock / regulator 依赖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定位性能回退与回归引入点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464040" y="1325880"/>
            <a:ext cx="2057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28632" y="1472184"/>
            <a:ext cx="1728216" cy="256032"/>
          </a:xfrm>
          <a:prstGeom prst="roundRect">
            <a:avLst>
              <a:gd name="adj" fmla="val 21429"/>
            </a:avLst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1527048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长周期协作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9628632" y="1837944"/>
            <a:ext cx="1728216" cy="12527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沉淀复现步骤与调试流程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保留平台约束与提交规范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输出 RCA 与回归记录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41248" y="3749040"/>
            <a:ext cx="106527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39502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3"/>
                </a:solidFill>
              </a:rPr>
              <a:t>低层研发的典型闭环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78992" y="4407408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EEF5FD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452628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3"/>
                </a:solidFill>
              </a:rPr>
              <a:t>查定义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06040" y="4471416"/>
            <a:ext cx="292608" cy="164592"/>
          </a:xfrm>
          <a:prstGeom prst="chevron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90672" y="4407408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EEF9F8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0672" y="452628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3"/>
                </a:solidFill>
              </a:rPr>
              <a:t>改代码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17720" y="4471416"/>
            <a:ext cx="292608" cy="164592"/>
          </a:xfrm>
          <a:prstGeom prst="chevron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02352" y="4407408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EEF5FD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452628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3"/>
                </a:solidFill>
              </a:rPr>
              <a:t>跑构建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29400" y="4471416"/>
            <a:ext cx="292608" cy="164592"/>
          </a:xfrm>
          <a:prstGeom prst="chevron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14032" y="4407408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EEF9F8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14032" y="452628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3"/>
                </a:solidFill>
              </a:rPr>
              <a:t>看日志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41080" y="4471416"/>
            <a:ext cx="292608" cy="164592"/>
          </a:xfrm>
          <a:prstGeom prst="chevron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25712" y="4407408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EEF5FD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52628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33"/>
                </a:solidFill>
              </a:rPr>
              <a:t>复盘沉淀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87552" y="5577840"/>
            <a:ext cx="10241280" cy="530352"/>
          </a:xfrm>
          <a:prstGeom prst="roundRect">
            <a:avLst>
              <a:gd name="adj" fmla="val 13793"/>
            </a:avLst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61872" y="5751576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结论：评审重点应是“能否打穿查-改-编-测-记闭环”，而不是“能接入多少入口”。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548640" y="641908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技术评审的标准必须回到真实工作负载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10996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从工作界面看：Hermes 更贴近源码树与工具链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内核/BSP 开发天然围绕仓库目录、shell、Makefile/Kconfig/DTS、日志与 patch 运转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3794760" cy="4315968"/>
          </a:xfrm>
          <a:prstGeom prst="roundRect">
            <a:avLst>
              <a:gd name="adj" fmla="val 1928"/>
            </a:avLst>
          </a:prstGeom>
          <a:solidFill>
            <a:srgbClr val="EEF5FD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44752"/>
            <a:ext cx="3465576" cy="256032"/>
          </a:xfrm>
          <a:prstGeom prst="roundRect">
            <a:avLst>
              <a:gd name="adj" fmla="val 21429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9616"/>
            <a:ext cx="3337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Hermes：工作在仓库旁边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822960" y="1810512"/>
            <a:ext cx="3465576" cy="369417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终端执行：make、clang/gcc、脚本、检查命令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文件操作：read_file / search_files / patch / write_file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任务编排：todo + delegate_task 适合复杂缺陷分治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知识沉淀：skill + memory 绑定项目约定与调试套路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输出物一体化：patch、RCA、回归记录、说明文档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81728" y="2907792"/>
            <a:ext cx="658368" cy="475488"/>
          </a:xfrm>
          <a:prstGeom prst="chevron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34930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5"/>
                </a:solidFill>
              </a:rPr>
              <a:t>更靠近执行环境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32120" y="1298448"/>
            <a:ext cx="2880360" cy="4315968"/>
          </a:xfrm>
          <a:prstGeom prst="roundRect">
            <a:avLst>
              <a:gd name="adj" fmla="val 2540"/>
            </a:avLst>
          </a:prstGeom>
          <a:solidFill>
            <a:srgbClr val="F3F1FE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1444752"/>
            <a:ext cx="2551176" cy="256032"/>
          </a:xfrm>
          <a:prstGeom prst="roundRect">
            <a:avLst>
              <a:gd name="adj" fmla="val 21429"/>
            </a:avLst>
          </a:prstGeom>
          <a:solidFill>
            <a:srgbClr val="6A5AE0"/>
          </a:solidFill>
          <a:ln w="12700">
            <a:solidFill>
              <a:srgbClr val="6A5A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499616"/>
            <a:ext cx="2423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OpenClaw：平台触达能力强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696712" y="1810512"/>
            <a:ext cx="2551176" cy="369417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Gateway / 多渠道 inbox / voice / canvas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长期在线、入口丰富、助手平台化体验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多代理路由与多工作区隔离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更偏“助手在哪些界面可用”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668512" y="1298448"/>
            <a:ext cx="2788920" cy="4315968"/>
          </a:xfrm>
          <a:prstGeom prst="roundRect">
            <a:avLst>
              <a:gd name="adj" fmla="val 2623"/>
            </a:avLst>
          </a:prstGeom>
          <a:solidFill>
            <a:srgbClr val="EEF9F8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33104" y="1444752"/>
            <a:ext cx="2459736" cy="256032"/>
          </a:xfrm>
          <a:prstGeom prst="roundRect">
            <a:avLst>
              <a:gd name="adj" fmla="val 21429"/>
            </a:avLst>
          </a:prstGeom>
          <a:solidFill>
            <a:srgbClr val="1B5FA7"/>
          </a:solidFill>
          <a:ln w="12700">
            <a:solidFill>
              <a:srgbClr val="1B5F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97112" y="1499616"/>
            <a:ext cx="2331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对内核研发的含义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8833104" y="1810512"/>
            <a:ext cx="2459736" cy="369417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主战场仍是源码树与 shell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问题通常跨 DTS / driver / Kconfig / 日志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关键在于本地闭环，不在于移动端或语音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因此 Hermes 的工作形态更直接匹配需求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评估维度：谁更贴近真实执行环境，而不是谁更像个人助手平台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0996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Hermes 对低层研发更有价值的能力栈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技术评审应关注：工具粒度、执行闭环、问题拆解能力，以及是否支持长期项目记忆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13232" y="1353312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517904"/>
            <a:ext cx="475488" cy="475488"/>
          </a:xfrm>
          <a:prstGeom prst="ellipse">
            <a:avLst/>
          </a:prstGeom>
          <a:solidFill>
            <a:srgbClr val="1B5FA7"/>
          </a:solidFill>
          <a:ln w="12700">
            <a:solidFill>
              <a:srgbClr val="1B5F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65506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99616" y="153619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22033"/>
                </a:solidFill>
              </a:rPr>
              <a:t>细粒度源码操作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77824" y="2103120"/>
            <a:ext cx="312724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C2430"/>
                </a:solidFill>
              </a:rPr>
              <a:t>按路径搜索、分页带行号读取、精准 patch，适合内核仓库的小步迭代。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4361688" y="1353312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517904"/>
            <a:ext cx="475488" cy="47548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165506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48072" y="153619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22033"/>
                </a:solidFill>
              </a:rPr>
              <a:t>构建与日志闭环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26280" y="2103120"/>
            <a:ext cx="312724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C2430"/>
                </a:solidFill>
              </a:rPr>
              <a:t>直接运行 make / script / checker，围绕 warning、link error、boot log 快速迭代。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8010144" y="1353312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74736" y="1517904"/>
            <a:ext cx="475488" cy="475488"/>
          </a:xfrm>
          <a:prstGeom prst="ellipse">
            <a:avLst/>
          </a:prstGeom>
          <a:solidFill>
            <a:srgbClr val="6A5AE0"/>
          </a:solidFill>
          <a:ln w="12700">
            <a:solidFill>
              <a:srgbClr val="6A5A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65506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96528" y="153619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22033"/>
                </a:solidFill>
              </a:rPr>
              <a:t>复杂缺陷分治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174736" y="2103120"/>
            <a:ext cx="312724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C2430"/>
                </a:solidFill>
              </a:rPr>
              <a:t>并行查看 DTS、driver、Kconfig、diff 与日志，更适合跨层定位。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713232" y="3337560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" y="3502152"/>
            <a:ext cx="475488" cy="475488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63931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99616" y="352044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22033"/>
                </a:solidFill>
              </a:rPr>
              <a:t>技能沉淀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77824" y="4087368"/>
            <a:ext cx="312724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C2430"/>
                </a:solidFill>
              </a:rPr>
              <a:t>可把 probe 排查顺序、交叉编译命令、提交流程固化为团队技能。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4361688" y="3337560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3502152"/>
            <a:ext cx="475488" cy="475488"/>
          </a:xfrm>
          <a:prstGeom prst="ellipse">
            <a:avLst/>
          </a:prstGeom>
          <a:solidFill>
            <a:srgbClr val="21845C"/>
          </a:solidFill>
          <a:ln w="12700">
            <a:solidFill>
              <a:srgbClr val="2184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72584" y="363931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48072" y="352044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22033"/>
                </a:solidFill>
              </a:rPr>
              <a:t>持久记忆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4526280" y="4087368"/>
            <a:ext cx="312724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C2430"/>
                </a:solidFill>
              </a:rPr>
              <a:t>持续记住项目约定、平台限制与维护者偏好，适合长周期维护。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8010144" y="3337560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74736" y="3502152"/>
            <a:ext cx="475488" cy="475488"/>
          </a:xfrm>
          <a:prstGeom prst="ellipse">
            <a:avLst/>
          </a:prstGeom>
          <a:solidFill>
            <a:srgbClr val="1B5FA7"/>
          </a:solidFill>
          <a:ln w="12700">
            <a:solidFill>
              <a:srgbClr val="1B5F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363931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96528" y="352044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22033"/>
                </a:solidFill>
              </a:rPr>
              <a:t>文档与实现一体化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8174736" y="4087368"/>
            <a:ext cx="3127248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C2430"/>
                </a:solidFill>
              </a:rPr>
              <a:t>代码、RCA、回归说明与 patch plan 可在同一上下文持续生成。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1078992" y="5559552"/>
            <a:ext cx="10058400" cy="530352"/>
          </a:xfrm>
          <a:prstGeom prst="roundRect">
            <a:avLst>
              <a:gd name="adj" fmla="val 13793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35024" y="5733288"/>
            <a:ext cx="9555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</a:rPr>
              <a:t>核心判断：Hermes 更像“驻留在代码仓里的工程代理”，而不是“部署在多入口上的个人助手”。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548640" y="641908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技术优势来自操作粒度与闭环能力，而不是渠道数量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10996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典型 Linux 内核 / BSP 场景：Hermes 更容易落地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下面这些问题都不是单纯问答场景，而是需要同时查看源码、配置、日志并迭代验证的工程问题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13232" y="1353312"/>
            <a:ext cx="3456432" cy="1600200"/>
          </a:xfrm>
          <a:prstGeom prst="roundRect">
            <a:avLst>
              <a:gd name="adj" fmla="val 4571"/>
            </a:avLst>
          </a:prstGeom>
          <a:solidFill>
            <a:srgbClr val="EEF5FD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499616"/>
            <a:ext cx="3127248" cy="256032"/>
          </a:xfrm>
          <a:prstGeom prst="roundRect">
            <a:avLst>
              <a:gd name="adj" fmla="val 21429"/>
            </a:avLst>
          </a:prstGeom>
          <a:solidFill>
            <a:srgbClr val="1B5FA7"/>
          </a:solidFill>
          <a:ln w="12700">
            <a:solidFill>
              <a:srgbClr val="1B5F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54480"/>
            <a:ext cx="2999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驱动 probe 失败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877824" y="1865376"/>
            <a:ext cx="3127248" cy="97840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查 compatible、match table、clock/reset/regulator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结合 dmesg 与 probe 路径定位 -EPROBE_DEFER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61688" y="1353312"/>
            <a:ext cx="3456432" cy="1600200"/>
          </a:xfrm>
          <a:prstGeom prst="roundRect">
            <a:avLst>
              <a:gd name="adj" fmla="val 4571"/>
            </a:avLst>
          </a:prstGeom>
          <a:solidFill>
            <a:srgbClr val="EEF9F8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499616"/>
            <a:ext cx="3127248" cy="256032"/>
          </a:xfrm>
          <a:prstGeom prst="roundRect">
            <a:avLst>
              <a:gd name="adj" fmla="val 21429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554480"/>
            <a:ext cx="2999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设备树与驱动不匹配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4526280" y="1865376"/>
            <a:ext cx="3127248" cy="97840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核对 DTS / dtsi / binding / phandle 关系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把设备树、驱动和日志放进同一分析上下文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10144" y="1353312"/>
            <a:ext cx="3456432" cy="1600200"/>
          </a:xfrm>
          <a:prstGeom prst="roundRect">
            <a:avLst>
              <a:gd name="adj" fmla="val 4571"/>
            </a:avLst>
          </a:prstGeom>
          <a:solidFill>
            <a:srgbClr val="F3F1FE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4736" y="1499616"/>
            <a:ext cx="3127248" cy="256032"/>
          </a:xfrm>
          <a:prstGeom prst="roundRect">
            <a:avLst>
              <a:gd name="adj" fmla="val 21429"/>
            </a:avLst>
          </a:prstGeom>
          <a:solidFill>
            <a:srgbClr val="6A5AE0"/>
          </a:solidFill>
          <a:ln w="12700">
            <a:solidFill>
              <a:srgbClr val="6A5A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1554480"/>
            <a:ext cx="2999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交叉编译/链接异常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8174736" y="1865376"/>
            <a:ext cx="3127248" cy="97840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围绕 undefined symbol、Kconfig 依赖快速追踪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小步 patch 后立即复验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3232" y="3310128"/>
            <a:ext cx="3456432" cy="1600200"/>
          </a:xfrm>
          <a:prstGeom prst="roundRect">
            <a:avLst>
              <a:gd name="adj" fmla="val 4571"/>
            </a:avLst>
          </a:prstGeom>
          <a:solidFill>
            <a:srgbClr val="FFF6E4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3456432"/>
            <a:ext cx="3127248" cy="256032"/>
          </a:xfrm>
          <a:prstGeom prst="roundRect">
            <a:avLst>
              <a:gd name="adj" fmla="val 21429"/>
            </a:avLst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3511296"/>
            <a:ext cx="2999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性能回退分析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877824" y="3822192"/>
            <a:ext cx="3127248" cy="97840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把 diff、热路径、锁竞争、配置变化拆成并行子任务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形成阶段化调查清单与复盘说明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61688" y="3310128"/>
            <a:ext cx="3456432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3456432"/>
            <a:ext cx="3127248" cy="256032"/>
          </a:xfrm>
          <a:prstGeom prst="roundRect">
            <a:avLst>
              <a:gd name="adj" fmla="val 21429"/>
            </a:avLst>
          </a:prstGeom>
          <a:solidFill>
            <a:srgbClr val="21845C"/>
          </a:solidFill>
          <a:ln w="12700">
            <a:solidFill>
              <a:srgbClr val="2184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3511296"/>
            <a:ext cx="2999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上游提交流程辅助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4526280" y="3822192"/>
            <a:ext cx="3127248" cy="97840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补 patch 切分、commit message、设计说明与回归记录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更适合沉淀 maintainer 偏好和提交流程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10144" y="3310128"/>
            <a:ext cx="3456432" cy="1600200"/>
          </a:xfrm>
          <a:prstGeom prst="roundRect">
            <a:avLst>
              <a:gd name="adj" fmla="val 4571"/>
            </a:avLst>
          </a:prstGeom>
          <a:solidFill>
            <a:srgbClr val="EEF5FD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74736" y="3456432"/>
            <a:ext cx="3127248" cy="256032"/>
          </a:xfrm>
          <a:prstGeom prst="roundRect">
            <a:avLst>
              <a:gd name="adj" fmla="val 21429"/>
            </a:avLst>
          </a:prstGeom>
          <a:solidFill>
            <a:srgbClr val="1B5FA7"/>
          </a:solidFill>
          <a:ln w="12700">
            <a:solidFill>
              <a:srgbClr val="1B5F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38744" y="3511296"/>
            <a:ext cx="2999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更多低层场景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8174736" y="3822192"/>
            <a:ext cx="3127248" cy="97840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bring-up、suspend/resume、clock、regulator、runtime PM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共性是都依赖真实执行环境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这些场景共同验证：执行型 agent 在低层研发中更容易变成真实产出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10996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复杂缺陷示例：Hermes 更适合做多维度分治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低层 bug 经常跨 DTS、driver、Kconfig、构建与 runtime 多个层次，一个视角往往看不清问题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794760" y="1298448"/>
            <a:ext cx="4434840" cy="658368"/>
          </a:xfrm>
          <a:prstGeom prst="roundRect">
            <a:avLst>
              <a:gd name="adj" fmla="val 11111"/>
            </a:avLst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05072" y="1527048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示例问题：板级启动后外设 probe 失败，且 suspend/resume 异常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6016752" y="1956816"/>
            <a:ext cx="-4297680" cy="402336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359152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EEF5FD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2487168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1B5FA7"/>
          </a:solidFill>
          <a:ln w="12700">
            <a:solidFill>
              <a:srgbClr val="1B5F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54203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子任务 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" y="2926080"/>
            <a:ext cx="187452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1C2430"/>
                </a:solidFill>
              </a:rPr>
              <a:t>DTS / dtsi / binding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C2430"/>
                </a:solidFill>
              </a:rPr>
              <a:t>compatible、phandle、时钟关系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6016752" y="1956816"/>
            <a:ext cx="-1463040" cy="402336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7872" y="2359152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EEF9F8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12464" y="2487168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254203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子任务 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12464" y="2926080"/>
            <a:ext cx="187452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1C2430"/>
                </a:solidFill>
              </a:rPr>
              <a:t>driver probe / pm_ops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C2430"/>
                </a:solidFill>
              </a:rPr>
              <a:t>错误路径、defer 逻辑、runtime PM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6016752" y="1956816"/>
            <a:ext cx="1371600" cy="402336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2359152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F3F1FE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47104" y="2487168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6A5AE0"/>
          </a:solidFill>
          <a:ln w="12700">
            <a:solidFill>
              <a:srgbClr val="6A5A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7104" y="254203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子任务 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47104" y="2926080"/>
            <a:ext cx="187452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1C2430"/>
                </a:solidFill>
              </a:rPr>
              <a:t>Kconfig / Makefile / 构建日志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C2430"/>
                </a:solidFill>
              </a:rPr>
              <a:t>依赖缺失、only-build-break、符号缺失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6016752" y="1956816"/>
            <a:ext cx="4206240" cy="402336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17152" y="2359152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FFF6E4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81744" y="2487168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81744" y="254203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子任务 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81744" y="2926080"/>
            <a:ext cx="187452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1C2430"/>
                </a:solidFill>
              </a:rPr>
              <a:t>最近 diff / 回归引入点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C2430"/>
                </a:solidFill>
              </a:rPr>
              <a:t>变更切面、风险范围、最小修复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1920240" y="4443984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12848" y="4663440"/>
            <a:ext cx="7726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1C2430"/>
                </a:solidFill>
              </a:rPr>
              <a:t>关键差异：Hermes 把多代理直接服务于当前工程问题的拆解与执行。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对于 crash、probe、回归、性能问题，多维度并行调查的价值很高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10996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表格化技术对比：哪个更利于内核 / BSP 团队？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这里的“优先”只针对 AI 辅助低层研发场景，不针对泛化个人助手市场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874520" cy="420624"/>
          </a:xfrm>
          <a:prstGeom prst="rect">
            <a:avLst/>
          </a:prstGeom>
          <a:solidFill>
            <a:srgbClr val="1220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426464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维度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1298448"/>
            <a:ext cx="3154680" cy="420624"/>
          </a:xfrm>
          <a:prstGeom prst="rect">
            <a:avLst/>
          </a:prstGeom>
          <a:solidFill>
            <a:srgbClr val="0E9F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32304" y="1426464"/>
            <a:ext cx="3044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Hermes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32120" y="1298448"/>
            <a:ext cx="3246120" cy="420624"/>
          </a:xfrm>
          <a:prstGeom prst="rect">
            <a:avLst/>
          </a:prstGeom>
          <a:solidFill>
            <a:srgbClr val="6A5A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86984" y="1426464"/>
            <a:ext cx="3136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OpenClaw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778240" y="1298448"/>
            <a:ext cx="2084832" cy="420624"/>
          </a:xfrm>
          <a:prstGeom prst="rect">
            <a:avLst/>
          </a:prstGeom>
          <a:solidFill>
            <a:srgbClr val="1220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33104" y="1426464"/>
            <a:ext cx="1975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本场景更优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719072"/>
            <a:ext cx="187452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828800"/>
            <a:ext cx="17282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设计中心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377440" y="1719072"/>
            <a:ext cx="315468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1828800"/>
            <a:ext cx="300837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工程执行闭环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532120" y="1719072"/>
            <a:ext cx="324612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05272" y="1828800"/>
            <a:ext cx="30998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多渠道助手平台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778240" y="1719072"/>
            <a:ext cx="2084832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1392" y="1828800"/>
            <a:ext cx="19385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1845C"/>
                </a:solidFill>
              </a:rPr>
              <a:t>Hermes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02920" y="2304288"/>
            <a:ext cx="1874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414016"/>
            <a:ext cx="17282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源码树作业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377440" y="2304288"/>
            <a:ext cx="31546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50592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读/搜/改/patch 一体化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532120" y="2304288"/>
            <a:ext cx="3246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05272" y="2414016"/>
            <a:ext cx="30998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不是主叙事中心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8778240" y="2304288"/>
            <a:ext cx="208483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51392" y="2414016"/>
            <a:ext cx="19385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1845C"/>
                </a:solidFill>
              </a:rPr>
              <a:t>Hermes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502920" y="2889504"/>
            <a:ext cx="187452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2999232"/>
            <a:ext cx="17282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终端/构建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377440" y="2889504"/>
            <a:ext cx="315468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2999232"/>
            <a:ext cx="300837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shell / make / script / log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532120" y="2889504"/>
            <a:ext cx="324612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05272" y="2999232"/>
            <a:ext cx="30998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可支持，但非核心卖点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8778240" y="2889504"/>
            <a:ext cx="2084832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51392" y="2999232"/>
            <a:ext cx="19385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1845C"/>
                </a:solidFill>
              </a:rPr>
              <a:t>Hermes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502920" y="3474720"/>
            <a:ext cx="1874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3584448"/>
            <a:ext cx="17282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复杂问题分治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2377440" y="3474720"/>
            <a:ext cx="31546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0592" y="3584448"/>
            <a:ext cx="300837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更偏问题拆解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5532120" y="3474720"/>
            <a:ext cx="3246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05272" y="3584448"/>
            <a:ext cx="30998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更偏代理路由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8778240" y="3474720"/>
            <a:ext cx="208483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51392" y="3584448"/>
            <a:ext cx="19385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1845C"/>
                </a:solidFill>
              </a:rPr>
              <a:t>Hermes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502920" y="4059936"/>
            <a:ext cx="187452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4169664"/>
            <a:ext cx="17282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经验沉淀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2377440" y="4059936"/>
            <a:ext cx="315468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50592" y="4169664"/>
            <a:ext cx="300837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skill + memory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5532120" y="4059936"/>
            <a:ext cx="324612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05272" y="4169664"/>
            <a:ext cx="30998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可做，但平台导向更强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8778240" y="4059936"/>
            <a:ext cx="2084832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51392" y="4169664"/>
            <a:ext cx="19385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1845C"/>
                </a:solidFill>
              </a:rPr>
              <a:t>Hermes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502920" y="4645152"/>
            <a:ext cx="1874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" y="4754880"/>
            <a:ext cx="17282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多入口触达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2377440" y="4645152"/>
            <a:ext cx="31546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50592" y="4754880"/>
            <a:ext cx="300837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一般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5532120" y="4645152"/>
            <a:ext cx="3246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05272" y="4754880"/>
            <a:ext cx="30998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C2430"/>
                </a:solidFill>
              </a:rPr>
              <a:t>极强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8778240" y="4645152"/>
            <a:ext cx="208483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851392" y="4754880"/>
            <a:ext cx="19385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4545"/>
                </a:solidFill>
              </a:rPr>
              <a:t>OpenClaw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914400" y="5468112"/>
            <a:ext cx="10332720" cy="457200"/>
          </a:xfrm>
          <a:prstGeom prst="roundRect">
            <a:avLst>
              <a:gd name="adj" fmla="val 16000"/>
            </a:avLst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07008" y="5614416"/>
            <a:ext cx="9738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结论：如果问题被严格限定为“AI 辅助 Linux 内核 / BSP 开发”，Hermes 的相对优势更清晰。</a:t>
            </a:r>
            <a:endParaRPr lang="en-US" sz="1260" dirty="0"/>
          </a:p>
        </p:txBody>
      </p:sp>
      <p:sp>
        <p:nvSpPr>
          <p:cNvPr id="62" name="Text 60"/>
          <p:cNvSpPr/>
          <p:nvPr/>
        </p:nvSpPr>
        <p:spPr>
          <a:xfrm>
            <a:off x="548640" y="641908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表格用于技术评审，不等于否定 OpenClaw 在平台化方向的优势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110996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公平边界：OpenClaw 并不弱，只是优化目标不同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技术评审要避免“绝对优劣”的误判，应明确对比前提与适用边界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F3F1FE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99616"/>
            <a:ext cx="4745736" cy="256032"/>
          </a:xfrm>
          <a:prstGeom prst="roundRect">
            <a:avLst>
              <a:gd name="adj" fmla="val 21429"/>
            </a:avLst>
          </a:prstGeom>
          <a:solidFill>
            <a:srgbClr val="6A5AE0"/>
          </a:solidFill>
          <a:ln w="12700">
            <a:solidFill>
              <a:srgbClr val="6A5A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54480"/>
            <a:ext cx="4617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什么时候 OpenClaw 更值得选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822960" y="1865376"/>
            <a:ext cx="4745736" cy="33101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目标是建设多渠道、长期在线的 AI 助手平台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需要 Telegram / Slack / Discord / WhatsApp 等统一接入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强调语音、移动端、Canvas 等交互形态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平台层的路由、在线化和触达能力是首要诉求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46520" y="1353312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EEF9F8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11112" y="1499616"/>
            <a:ext cx="4745736" cy="256032"/>
          </a:xfrm>
          <a:prstGeom prst="roundRect">
            <a:avLst>
              <a:gd name="adj" fmla="val 21429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554480"/>
            <a:ext cx="4617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什么时候 Hermes 更值得选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611112" y="1865376"/>
            <a:ext cx="4745736" cy="33101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目标是 Linux kernel / driver / BSP 团队提效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需要 AI 深入参与代码理解、patch、编译、日志分析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需要把调试套路、构建命令、维护者偏好沉淀下来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希望 AI 从“问答工具”升级为“工程执行工具”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05840" y="5468112"/>
            <a:ext cx="10195560" cy="457200"/>
          </a:xfrm>
          <a:prstGeom prst="roundRect">
            <a:avLst>
              <a:gd name="adj" fmla="val 16000"/>
            </a:avLst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5614416"/>
            <a:ext cx="9692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22033"/>
                </a:solidFill>
              </a:rPr>
              <a:t>换句话说：OpenClaw 更擅长“平台化触达”，Hermes 更擅长“工程化执行”。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结论成立的前提：评审对象是低层研发，而不是泛化助手平台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0996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技术评审结论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3F0"/>
                </a:solidFill>
              </a:rPr>
              <a:t>对 AI 辅助 Linux 内核 / BSP 开发，优先考虑工程执行型 Agent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83664"/>
            <a:ext cx="3465576" cy="256032"/>
          </a:xfrm>
          <a:prstGeom prst="roundRect">
            <a:avLst>
              <a:gd name="adj" fmla="val 21429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938528"/>
            <a:ext cx="3337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Hermes 的关键胜出点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822960" y="2249424"/>
            <a:ext cx="3465576" cy="27614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更贴近 shell、源码树和构建系统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更适合细粒度 patch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更容易形成查-改-编-测-记闭环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更适合复杂低层问题分治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更适合沉淀平台知识与流程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81728" y="1737360"/>
            <a:ext cx="3017520" cy="3383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883664"/>
            <a:ext cx="2688336" cy="256032"/>
          </a:xfrm>
          <a:prstGeom prst="roundRect">
            <a:avLst>
              <a:gd name="adj" fmla="val 21429"/>
            </a:avLst>
          </a:prstGeom>
          <a:solidFill>
            <a:srgbClr val="6A5AE0"/>
          </a:solidFill>
          <a:ln w="12700">
            <a:solidFill>
              <a:srgbClr val="6A5A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1938528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OpenClaw 的强项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4846320" y="2249424"/>
            <a:ext cx="2688336" cy="27614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多渠道入口覆盖强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长期在线体验好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语音 / 移动端 / Canvas 丰富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更像成熟助手平台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927848" y="173736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883664"/>
            <a:ext cx="3282696" cy="256032"/>
          </a:xfrm>
          <a:prstGeom prst="roundRect">
            <a:avLst>
              <a:gd name="adj" fmla="val 21429"/>
            </a:avLst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56448" y="1938528"/>
            <a:ext cx="3154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推荐表述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8092440" y="2249424"/>
            <a:ext cx="3282696" cy="27614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平台化个人助手：优先参考 OpenClaw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内核/BSP 团队提效：优先选择 Hermes 路线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C2430"/>
                </a:solidFill>
              </a:rPr>
              <a:t>决策应基于工作流匹配度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0120" y="5468112"/>
            <a:ext cx="10287000" cy="512064"/>
          </a:xfrm>
          <a:prstGeom prst="roundRect">
            <a:avLst>
              <a:gd name="adj" fmla="val 14286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5632704"/>
            <a:ext cx="9738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一句话总结：OpenClaw 更像“把 AI 放到很多地方去用”，Hermes 更像“把 AI 放进研发现场里干活”。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4E3"/>
                </a:solidFill>
              </a:rPr>
              <a:t>技术评审版：结论限定在 Linux 内核 / 驱动 / BSP 场景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0996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4E3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Hermes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vs OpenClaw：面向 Linux 内核/BSP 团队的技术评审版</dc:title>
  <dc:subject>Hermes vs OpenClaw technical review</dc:subject>
  <dc:creator>Hermes</dc:creator>
  <cp:lastModifiedBy>Hermes</cp:lastModifiedBy>
  <cp:revision>1</cp:revision>
  <dcterms:created xsi:type="dcterms:W3CDTF">2026-04-14T03:07:57Z</dcterms:created>
  <dcterms:modified xsi:type="dcterms:W3CDTF">2026-04-14T03:07:57Z</dcterms:modified>
</cp:coreProperties>
</file>