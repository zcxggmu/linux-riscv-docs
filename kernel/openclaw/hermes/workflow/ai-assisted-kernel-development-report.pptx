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097280" cy="164592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783080" y="640080"/>
            <a:ext cx="502920" cy="164592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23160" y="640080"/>
            <a:ext cx="685800" cy="164592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8138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AI辅助内核开发
多智能体工作流汇报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423160"/>
            <a:ext cx="2286000" cy="420624"/>
          </a:xfrm>
          <a:prstGeom prst="round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50591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探索 → 规划 →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423160"/>
            <a:ext cx="1965960" cy="420624"/>
          </a:xfrm>
          <a:prstGeom prst="round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450591"/>
            <a:ext cx="1965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13E"/>
                </a:solidFill>
                <a:latin typeface="Microsoft YaHei"/>
              </a:rPr>
              <a:t>审核 ↔ 调试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13248" y="2423160"/>
            <a:ext cx="2011680" cy="420624"/>
          </a:xfrm>
          <a:prstGeom prst="round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13248" y="2450591"/>
            <a:ext cx="2011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13E"/>
                </a:solidFill>
                <a:latin typeface="Microsoft YaHei"/>
              </a:rPr>
              <a:t>Patch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8046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4F0"/>
                </a:solidFill>
                <a:latin typeface="Microsoft YaHei"/>
              </a:rPr>
              <a:t>面向 Linux 内核 / RISC-V / KVM 等高上下文、高验证成本场景
将“问题发现到补丁准备”组织为可审计、可迭代、带人工闸门的工程系统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051560"/>
            <a:ext cx="2468880" cy="4480560"/>
          </a:xfrm>
          <a:prstGeom prst="roundRect">
            <a:avLst/>
          </a:prstGeom>
          <a:solidFill>
            <a:srgbClr val="202E55"/>
          </a:solidFill>
          <a:ln>
            <a:solidFill>
              <a:srgbClr val="3B4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0" y="1417320"/>
            <a:ext cx="1554480" cy="384048"/>
          </a:xfrm>
          <a:prstGeom prst="round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444752"/>
            <a:ext cx="1554480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探索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921240" y="1801368"/>
            <a:ext cx="0" cy="27432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0" y="2130552"/>
            <a:ext cx="1554480" cy="384048"/>
          </a:xfrm>
          <a:prstGeom prst="round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157984"/>
            <a:ext cx="1554480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6213E"/>
                </a:solidFill>
                <a:latin typeface="Microsoft YaHei"/>
              </a:rPr>
              <a:t>规划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921240" y="2514600"/>
            <a:ext cx="0" cy="27432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0" y="2843784"/>
            <a:ext cx="1554480" cy="384048"/>
          </a:xfrm>
          <a:prstGeom prst="round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871216"/>
            <a:ext cx="1554480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6213E"/>
                </a:solidFill>
                <a:latin typeface="Microsoft YaHei"/>
              </a:rPr>
              <a:t>生成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921240" y="3227832"/>
            <a:ext cx="0" cy="27432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44000" y="3557015"/>
            <a:ext cx="1554480" cy="384048"/>
          </a:xfrm>
          <a:prstGeom prst="roundRect">
            <a:avLst/>
          </a:prstGeom>
          <a:solidFill>
            <a:srgbClr val="F0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3584447"/>
            <a:ext cx="1554480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审核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921240" y="3941063"/>
            <a:ext cx="0" cy="27432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0" y="4270248"/>
            <a:ext cx="1554480" cy="384048"/>
          </a:xfrm>
          <a:prstGeom prst="roundRect">
            <a:avLst/>
          </a:prstGeom>
          <a:solidFill>
            <a:srgbClr val="2B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4297680"/>
            <a:ext cx="1554480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调试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9893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8"/>
                </a:solidFill>
                <a:latin typeface="Microsoft YaHei"/>
              </a:rPr>
              <a:t>汇报内容：方案概览、架构、迭代闭环、示例、落地建议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213E"/>
                </a:solidFill>
                <a:latin typeface="Microsoft YaHei"/>
              </a:rPr>
              <a:t>为什么需要这套工作流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6B7A"/>
                </a:solidFill>
                <a:latin typeface="Microsoft YaHei"/>
              </a:rPr>
              <a:t>核心判断：内核开发不是“让一个模型写代码”，而是把高风险认知活动拆成可验证的职责链。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109728" cy="1828800"/>
          </a:xfrm>
          <a:prstGeom prst="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72184"/>
            <a:ext cx="3337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当前挑战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3467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内核语义强依赖架构背景、邮件列表上下文和历史设计取舍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一次性大任务容易导致 token 开销、实现偏航和审查风险同步放大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“能编过”不等于“能被上游接受”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2588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325880"/>
            <a:ext cx="109728" cy="1828800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472184"/>
            <a:ext cx="29260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设计原则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984248"/>
            <a:ext cx="29352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小问题切分，单轮只处理一个窄议题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状态与证据外置为工件，避免上下文膨胀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关键节点保留人工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325880"/>
            <a:ext cx="109728" cy="18288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472184"/>
            <a:ext cx="3200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目标结果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984248"/>
            <a:ext cx="32095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建立 discover → plan → generate → review → debug → patch 的闭环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形成可审计、可重试、可复盘的研发流水线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把人工时间集中在高价值判断上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41648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6213E"/>
                </a:solidFill>
                <a:latin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262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C6B7A"/>
                </a:solidFill>
                <a:latin typeface="Microsoft YaHei"/>
              </a:rPr>
              <a:t>核心智能体层级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37947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041648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0F7673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5262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C6B7A"/>
                </a:solidFill>
                <a:latin typeface="Microsoft YaHei"/>
              </a:rPr>
              <a:t>人工闸门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7947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041648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22B8CF"/>
                </a:solidFill>
                <a:latin typeface="Microsoft YaHei"/>
              </a:rPr>
              <a:t>2+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5262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C6B7A"/>
                </a:solidFill>
                <a:latin typeface="Microsoft YaHei"/>
              </a:rPr>
              <a:t>生成/审核迭代轮次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379476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4041648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5B700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5262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C6B7A"/>
                </a:solidFill>
                <a:latin typeface="Microsoft YaHei"/>
              </a:rPr>
              <a:t>每轮仅 1 个 issue/分支/目标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2356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02B38"/>
                </a:solidFill>
                <a:latin typeface="Microsoft YaHei"/>
              </a:rPr>
              <a:t>结论：AI 更适合承担“探索、方案生成、验证、归因、修复”的模块化工作，而不是跳过流程直接投递上游。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213E"/>
                </a:solidFill>
                <a:latin typeface="Microsoft YaHei"/>
              </a:rPr>
              <a:t>多智能体总体架构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6B7A"/>
                </a:solidFill>
                <a:latin typeface="Microsoft YaHei"/>
              </a:rPr>
              <a:t>控制中枢负责编排；探索、规划、生成、审核、调试五层分工协作；人类只在高风险节点审批。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83480" y="1417320"/>
            <a:ext cx="219456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83480" y="1591056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YaHei"/>
              </a:rPr>
              <a:t>Orchestrator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841248"/>
            <a:ext cx="1554480" cy="384048"/>
          </a:xfrm>
          <a:prstGeom prst="round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868680"/>
            <a:ext cx="1554480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Human Gates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1225296"/>
            <a:ext cx="0" cy="192024"/>
          </a:xfrm>
          <a:prstGeom prst="line">
            <a:avLst/>
          </a:prstGeom>
          <a:ln w="31750">
            <a:solidFill>
              <a:srgbClr val="D948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150876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109728" cy="1417320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55063"/>
            <a:ext cx="31546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探索层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67128"/>
            <a:ext cx="31638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Scout-Code：找代码差距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Scout-History：找 lore/历史证据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Triage：去重、评分、过滤伪问题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109728" cy="1417320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46704"/>
            <a:ext cx="31546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规划层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858768"/>
            <a:ext cx="31638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Planner：file-level 最小方案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Test-Designer：测试矩阵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Risk-Reviewer：ABI/UAPI/回滚风险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28016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280160"/>
            <a:ext cx="109728" cy="118872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426463"/>
            <a:ext cx="31546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生成层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193852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Implementer-A：主实现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Implementer-B：备选实现/worktree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269748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2697480"/>
            <a:ext cx="109728" cy="1371600"/>
          </a:xfrm>
          <a:prstGeom prst="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2843784"/>
            <a:ext cx="31546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审核层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3355848"/>
            <a:ext cx="3163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Spec-Review：是否满足设计目标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Code-Review：质量/边界/并发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Upstream-Review：patch 粒度与提交叙事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43434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4343400"/>
            <a:ext cx="109728" cy="1325880"/>
          </a:xfrm>
          <a:prstGeom prst="rect">
            <a:avLst/>
          </a:prstGeom>
          <a:solidFill>
            <a:srgbClr val="2B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4489704"/>
            <a:ext cx="31546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调试层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5001768"/>
            <a:ext cx="3163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Failure-Analyzer：根因分析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Fix-Agent：定向修复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Regression-Guard：防回归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4206240" y="1810512"/>
            <a:ext cx="777240" cy="384048"/>
          </a:xfrm>
          <a:prstGeom prst="line">
            <a:avLst/>
          </a:prstGeom>
          <a:ln w="31750">
            <a:solidFill>
              <a:srgbClr val="0F7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206240" y="1810512"/>
            <a:ext cx="777240" cy="2075688"/>
          </a:xfrm>
          <a:prstGeom prst="line">
            <a:avLst/>
          </a:prstGeom>
          <a:ln w="31750">
            <a:solidFill>
              <a:srgbClr val="22B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178040" y="1810512"/>
            <a:ext cx="777239" cy="64007"/>
          </a:xfrm>
          <a:prstGeom prst="line">
            <a:avLst/>
          </a:prstGeom>
          <a:ln w="3175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178040" y="1810512"/>
            <a:ext cx="777239" cy="1481328"/>
          </a:xfrm>
          <a:prstGeom prst="line">
            <a:avLst/>
          </a:prstGeom>
          <a:ln w="31750">
            <a:solidFill>
              <a:srgbClr val="D948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78040" y="1810512"/>
            <a:ext cx="777239" cy="3172968"/>
          </a:xfrm>
          <a:prstGeom prst="line">
            <a:avLst/>
          </a:prstGeom>
          <a:ln w="31750">
            <a:solidFill>
              <a:srgbClr val="2B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68680" y="58978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02B38"/>
                </a:solidFill>
                <a:latin typeface="Microsoft YaHei"/>
              </a:rPr>
              <a:t>关键约束：同一 issue 在生成阶段只能有一个主写分支；审核可并行；调试必须串行回到审核。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213E"/>
                </a:solidFill>
                <a:latin typeface="Microsoft YaHei"/>
              </a:rPr>
              <a:t>五阶段主线：探索 → 规划 → 生成 → 审核 → 调试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645920" cy="438912"/>
          </a:xfrm>
          <a:prstGeom prst="round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645920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C6B7A"/>
                </a:solidFill>
                <a:latin typeface="Microsoft YaHei"/>
              </a:rPr>
              <a:t>发现真实问题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23160" y="1271016"/>
            <a:ext cx="210312" cy="0"/>
          </a:xfrm>
          <a:prstGeom prst="line">
            <a:avLst/>
          </a:prstGeom>
          <a:ln w="25400">
            <a:solidFill>
              <a:srgbClr val="C8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0" y="1051560"/>
            <a:ext cx="1645920" cy="438912"/>
          </a:xfrm>
          <a:prstGeom prst="round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078992"/>
            <a:ext cx="1645920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6213E"/>
                </a:solidFill>
                <a:latin typeface="Microsoft YaHei"/>
              </a:rPr>
              <a:t>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554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C6B7A"/>
                </a:solidFill>
                <a:latin typeface="Microsoft YaHei"/>
              </a:rPr>
              <a:t>形成最小方案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34840" y="1271016"/>
            <a:ext cx="210312" cy="0"/>
          </a:xfrm>
          <a:prstGeom prst="line">
            <a:avLst/>
          </a:prstGeom>
          <a:ln w="25400">
            <a:solidFill>
              <a:srgbClr val="C8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54880" y="1051560"/>
            <a:ext cx="1645920" cy="438912"/>
          </a:xfrm>
          <a:prstGeom prst="round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078992"/>
            <a:ext cx="1645920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6213E"/>
                </a:solidFill>
                <a:latin typeface="Microsoft YaHei"/>
              </a:rPr>
              <a:t>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554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C6B7A"/>
                </a:solidFill>
                <a:latin typeface="Microsoft YaHei"/>
              </a:rPr>
              <a:t>产出代码/日志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46520" y="1271016"/>
            <a:ext cx="210312" cy="0"/>
          </a:xfrm>
          <a:prstGeom prst="line">
            <a:avLst/>
          </a:prstGeom>
          <a:ln w="25400">
            <a:solidFill>
              <a:srgbClr val="C8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766560" y="1051560"/>
            <a:ext cx="1645920" cy="438912"/>
          </a:xfrm>
          <a:prstGeom prst="round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078992"/>
            <a:ext cx="1645920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554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C6B7A"/>
                </a:solidFill>
                <a:latin typeface="Microsoft YaHei"/>
              </a:rPr>
              <a:t>独立质量判定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58200" y="1271016"/>
            <a:ext cx="210312" cy="0"/>
          </a:xfrm>
          <a:prstGeom prst="line">
            <a:avLst/>
          </a:prstGeom>
          <a:ln w="25400">
            <a:solidFill>
              <a:srgbClr val="C8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78240" y="1051560"/>
            <a:ext cx="1645920" cy="438912"/>
          </a:xfrm>
          <a:prstGeom prst="roundRect">
            <a:avLst/>
          </a:prstGeom>
          <a:solidFill>
            <a:srgbClr val="2B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078992"/>
            <a:ext cx="1645920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调试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554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C6B7A"/>
                </a:solidFill>
                <a:latin typeface="Microsoft YaHei"/>
              </a:rPr>
              <a:t>失败闭环与回归防护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103120"/>
            <a:ext cx="1828800" cy="3429000"/>
          </a:xfrm>
          <a:prstGeom prst="roundRect">
            <a:avLst/>
          </a:prstGeom>
          <a:solidFill>
            <a:srgbClr val="F7F9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103120"/>
            <a:ext cx="1828800" cy="109728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2267712"/>
            <a:ext cx="16093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2B38"/>
                </a:solidFill>
                <a:latin typeface="Microsoft YaHei"/>
              </a:rPr>
              <a:t>探索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670048"/>
            <a:ext cx="15727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输入：源码、架构目录、lore、历史提交</a:t>
            </a:r>
          </a:p>
          <a:p>
            <a:pPr>
              <a:spcAft>
                <a:spcPts val="7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输出：代码证据、历史证据、gap_registry</a:t>
            </a:r>
          </a:p>
          <a:p>
            <a:pPr>
              <a:spcAft>
                <a:spcPts val="7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DoD：问题真实、范围清晰、可转为窄 issue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2103120"/>
            <a:ext cx="1828800" cy="3429000"/>
          </a:xfrm>
          <a:prstGeom prst="roundRect">
            <a:avLst/>
          </a:prstGeom>
          <a:solidFill>
            <a:srgbClr val="F7F9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26080" y="2103120"/>
            <a:ext cx="1828800" cy="109728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35808" y="2267712"/>
            <a:ext cx="16093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2B38"/>
                </a:solidFill>
                <a:latin typeface="Microsoft YaHei"/>
              </a:rPr>
              <a:t>规划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35808" y="2670048"/>
            <a:ext cx="15727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输入：gap 条目与证据 bundle</a:t>
            </a:r>
          </a:p>
          <a:p>
            <a:pPr>
              <a:spcAft>
                <a:spcPts val="7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输出：design / test matrix / risk</a:t>
            </a:r>
          </a:p>
          <a:p>
            <a:pPr>
              <a:spcAft>
                <a:spcPts val="7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DoD：文件级路径清晰、可执行、可回滚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80" y="2103120"/>
            <a:ext cx="1828800" cy="3429000"/>
          </a:xfrm>
          <a:prstGeom prst="roundRect">
            <a:avLst/>
          </a:prstGeom>
          <a:solidFill>
            <a:srgbClr val="F7F9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2080" y="2103120"/>
            <a:ext cx="1828800" cy="109728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21808" y="2267712"/>
            <a:ext cx="16093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2B38"/>
                </a:solidFill>
                <a:latin typeface="Microsoft YaHei"/>
              </a:rPr>
              <a:t>生成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1808" y="2670048"/>
            <a:ext cx="15727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输入：方案与测试矩阵</a:t>
            </a:r>
          </a:p>
          <a:p>
            <a:pPr>
              <a:spcAft>
                <a:spcPts val="7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输出：代码修改、构建日志、测试日志、draft patch</a:t>
            </a:r>
          </a:p>
          <a:p>
            <a:pPr>
              <a:spcAft>
                <a:spcPts val="7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DoD：最小实现可被 review 消费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2103120"/>
            <a:ext cx="1828800" cy="3429000"/>
          </a:xfrm>
          <a:prstGeom prst="roundRect">
            <a:avLst/>
          </a:prstGeom>
          <a:solidFill>
            <a:srgbClr val="F7F9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79" y="2103120"/>
            <a:ext cx="1828800" cy="109728"/>
          </a:xfrm>
          <a:prstGeom prst="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7807" y="2267712"/>
            <a:ext cx="16093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2B38"/>
                </a:solidFill>
                <a:latin typeface="Microsoft YaHei"/>
              </a:rPr>
              <a:t>审核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7" y="2670048"/>
            <a:ext cx="15727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输入：实现结果与日志工件</a:t>
            </a:r>
          </a:p>
          <a:p>
            <a:pPr>
              <a:spcAft>
                <a:spcPts val="7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输出：spec/code/upstream 三类评审</a:t>
            </a:r>
          </a:p>
          <a:p>
            <a:pPr>
              <a:spcAft>
                <a:spcPts val="7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DoD：PASS / REVISE / DEBUG / BLOCKED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84080" y="2103120"/>
            <a:ext cx="1828800" cy="3429000"/>
          </a:xfrm>
          <a:prstGeom prst="roundRect">
            <a:avLst/>
          </a:prstGeom>
          <a:solidFill>
            <a:srgbClr val="F7F9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84080" y="2103120"/>
            <a:ext cx="1828800" cy="109728"/>
          </a:xfrm>
          <a:prstGeom prst="rect">
            <a:avLst/>
          </a:prstGeom>
          <a:solidFill>
            <a:srgbClr val="2B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93807" y="2267712"/>
            <a:ext cx="16093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2B38"/>
                </a:solidFill>
                <a:latin typeface="Microsoft YaHei"/>
              </a:rPr>
              <a:t>调试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93807" y="2670048"/>
            <a:ext cx="15727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输入：失败日志与审查意见</a:t>
            </a:r>
          </a:p>
          <a:p>
            <a:pPr>
              <a:spcAft>
                <a:spcPts val="7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输出：根因报告、修复摘要、回归结果</a:t>
            </a:r>
          </a:p>
          <a:p>
            <a:pPr>
              <a:spcAft>
                <a:spcPts val="7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DoD：回到审核而不是直接放行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213E"/>
                </a:solidFill>
                <a:latin typeface="Microsoft YaHei"/>
              </a:rPr>
              <a:t>核心机制：生成与审核的多轮迭代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6B7A"/>
                </a:solidFill>
                <a:latin typeface="Microsoft YaHei"/>
              </a:rPr>
              <a:t>原则：生成不是一次成稿，审核也不是终点判决；两者之间必须允许“修订生成 ↔ 再审核”的多轮来回。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011680" cy="512064"/>
          </a:xfrm>
          <a:prstGeom prst="round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56231"/>
            <a:ext cx="20116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213E"/>
                </a:solidFill>
                <a:latin typeface="Microsoft YaHei"/>
              </a:rPr>
              <a:t>Generate R1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828800"/>
            <a:ext cx="2011680" cy="512064"/>
          </a:xfrm>
          <a:prstGeom prst="round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56231"/>
            <a:ext cx="20116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Review 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2011680" cy="512064"/>
          </a:xfrm>
          <a:prstGeom prst="roundRect">
            <a:avLst/>
          </a:prstGeom>
          <a:solidFill>
            <a:srgbClr val="2B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56231"/>
            <a:ext cx="20116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Debug R1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828800"/>
            <a:ext cx="2011680" cy="512064"/>
          </a:xfrm>
          <a:prstGeom prst="round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56231"/>
            <a:ext cx="20116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Review R2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2084831"/>
            <a:ext cx="685800" cy="0"/>
          </a:xfrm>
          <a:prstGeom prst="line">
            <a:avLst/>
          </a:prstGeom>
          <a:ln w="3175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0" y="2084831"/>
            <a:ext cx="685800" cy="0"/>
          </a:xfrm>
          <a:prstGeom prst="line">
            <a:avLst/>
          </a:prstGeom>
          <a:ln w="31750">
            <a:solidFill>
              <a:srgbClr val="D948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458200" y="2084831"/>
            <a:ext cx="685800" cy="0"/>
          </a:xfrm>
          <a:prstGeom prst="line">
            <a:avLst/>
          </a:prstGeom>
          <a:ln w="31750">
            <a:solidFill>
              <a:srgbClr val="2B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012680" y="2359152"/>
            <a:ext cx="0" cy="795528"/>
          </a:xfrm>
          <a:prstGeom prst="line">
            <a:avLst/>
          </a:prstGeom>
          <a:ln w="31750">
            <a:solidFill>
              <a:srgbClr val="22B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920240" y="3154680"/>
            <a:ext cx="8092440" cy="0"/>
          </a:xfrm>
          <a:prstGeom prst="line">
            <a:avLst/>
          </a:prstGeom>
          <a:ln w="31750">
            <a:solidFill>
              <a:srgbClr val="22B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920240" y="2359152"/>
            <a:ext cx="0" cy="795528"/>
          </a:xfrm>
          <a:prstGeom prst="line">
            <a:avLst/>
          </a:prstGeom>
          <a:ln w="31750">
            <a:solidFill>
              <a:srgbClr val="22B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423160" y="2907792"/>
            <a:ext cx="7132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2B8CF"/>
                </a:solidFill>
                <a:latin typeface="Microsoft YaHei"/>
              </a:rPr>
              <a:t>若仍需修订，则进入 Generate R2 / R3，直到 PASS 或触发人工 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88620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3886200"/>
            <a:ext cx="109728" cy="1645920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032504"/>
            <a:ext cx="31546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每轮必须记录什么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544568"/>
            <a:ext cx="31638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round / issue_id / 输入工件路径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本轮目标、修改文件、构建/测试结果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review decision 与 next 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88620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886200"/>
            <a:ext cx="109728" cy="1645920"/>
          </a:xfrm>
          <a:prstGeom prst="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032504"/>
            <a:ext cx="31546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停止条件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544568"/>
            <a:ext cx="31638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连续 3 轮无实质收敛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同一错误反复出现且根因不稳定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出现架构语义争议或回归持续增加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9560" y="388620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09560" y="3886200"/>
            <a:ext cx="109728" cy="164592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4032504"/>
            <a:ext cx="31546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8" y="4544568"/>
            <a:ext cx="31638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降低“一次性过度设计”风险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把失败从黑盒变成结构化反馈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让人工只介入真正难判的地方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213E"/>
                </a:solidFill>
                <a:latin typeface="Microsoft YaHei"/>
              </a:rPr>
              <a:t>示例：demo-riscv-kvm-mmu-kconfig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6B7A"/>
                </a:solidFill>
                <a:latin typeface="Microsoft YaHei"/>
              </a:rPr>
              <a:t>演示问题：让 CONFIG_RISCV_KVM 的 MMU 依赖在 Kconfig dependency 与 help text 中都显式表达。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08760"/>
            <a:ext cx="2194560" cy="43891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2194560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1. Issue 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508760"/>
            <a:ext cx="2331720" cy="438912"/>
          </a:xfrm>
          <a:prstGeom prst="round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536192"/>
            <a:ext cx="2331720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13E"/>
                </a:solidFill>
                <a:latin typeface="Microsoft YaHei"/>
              </a:rPr>
              <a:t>2. Round 1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508760"/>
            <a:ext cx="2331720" cy="438912"/>
          </a:xfrm>
          <a:prstGeom prst="round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536192"/>
            <a:ext cx="2331720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3. 审核驳回 + 调试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1508760"/>
            <a:ext cx="2468880" cy="438912"/>
          </a:xfrm>
          <a:prstGeom prst="roundRect">
            <a:avLst/>
          </a:prstGeom>
          <a:solidFill>
            <a:srgbClr val="2B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536192"/>
            <a:ext cx="2468880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4. Round 2 通过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40" y="1728216"/>
            <a:ext cx="274320" cy="0"/>
          </a:xfrm>
          <a:prstGeom prst="line">
            <a:avLst/>
          </a:prstGeom>
          <a:ln w="31750">
            <a:solidFill>
              <a:srgbClr val="162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0" y="1728216"/>
            <a:ext cx="274320" cy="0"/>
          </a:xfrm>
          <a:prstGeom prst="line">
            <a:avLst/>
          </a:prstGeom>
          <a:ln w="3175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66760" y="1728216"/>
            <a:ext cx="274320" cy="0"/>
          </a:xfrm>
          <a:prstGeom prst="line">
            <a:avLst/>
          </a:prstGeom>
          <a:ln w="31750">
            <a:solidFill>
              <a:srgbClr val="D948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2240280"/>
            <a:ext cx="24688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240280"/>
            <a:ext cx="109728" cy="3063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386584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Issue Brief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898648"/>
            <a:ext cx="215798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低风险 Kconfig 一致性修复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不涉及 UAPI/ABI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适合演示：生成→审核→调试→再审核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240280"/>
            <a:ext cx="25603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0" y="2240280"/>
            <a:ext cx="109728" cy="306324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2386584"/>
            <a:ext cx="2240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Round 1 实现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2898648"/>
            <a:ext cx="224942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Implementer 只修了 dependency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构建/配置检查未失败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但未覆盖 help text，规格未完成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2240280"/>
            <a:ext cx="265176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2240280"/>
            <a:ext cx="109728" cy="3063240"/>
          </a:xfrm>
          <a:prstGeom prst="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38658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Spec / Debug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2898648"/>
            <a:ext cx="23408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Spec-Review 决策：ENTER_DEBUG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Failure-Analyzer 认定为 spec gap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Fix-Agent 建议仅继续修改 arch/riscv/kvm/Kconfig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2240280"/>
            <a:ext cx="265176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0" y="2240280"/>
            <a:ext cx="109728" cy="3063240"/>
          </a:xfrm>
          <a:prstGeom prst="rect">
            <a:avLst/>
          </a:prstGeom>
          <a:solidFill>
            <a:srgbClr val="2B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238658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Round 2 结果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8" y="2898648"/>
            <a:ext cx="23408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补充 help text 的 MMU 说明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保持单文件、低风险、可回滚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Spec Review Round 2：PASS，进入 patch-ready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6072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B38"/>
                </a:solidFill>
                <a:latin typeface="Microsoft YaHei"/>
              </a:rPr>
              <a:t>这个示例证明：调试不一定来自编译失败，也可以来自“规格审查指出需求未闭环”。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213E"/>
                </a:solidFill>
                <a:latin typeface="Microsoft YaHei"/>
              </a:rPr>
              <a:t>工件体系、质量闸门与调度建议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47548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9728" cy="4206240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35024"/>
            <a:ext cx="4434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关键工件目录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847088"/>
            <a:ext cx="4443984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artifacts/&lt;issue&gt;/discover：代码/历史证据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plans：design / test-matrix / risk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run_history + logs：每轮执行与验证记录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review：spec/code/upstream 审查结论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debug：failure-analysis / fix / regression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patches：draft patch / cover letter / checkpatch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188720"/>
            <a:ext cx="26517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0" y="1188720"/>
            <a:ext cx="109728" cy="1965960"/>
          </a:xfrm>
          <a:prstGeom prst="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1335024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三个人工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47088"/>
            <a:ext cx="23408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Gate-1：问题是否真实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Gate-2：方案是否最小可行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Gate-3：patch/cover/收件人是否合规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1188720"/>
            <a:ext cx="2743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49640" y="1188720"/>
            <a:ext cx="109728" cy="196596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335024"/>
            <a:ext cx="2423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自动质量闸门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1847088"/>
            <a:ext cx="243230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make ARCH=riscv defconfig / build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kselftest / kunit / QEMU 板卡验证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checkpatch.pl / get_maintainer.pl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3474720"/>
            <a:ext cx="5623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3474720"/>
            <a:ext cx="109728" cy="1920240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3621024"/>
            <a:ext cx="5303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调度建议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4133087"/>
            <a:ext cx="53126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discovery-job：定时发现 gap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planning-job：issue_created 后生成方案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generation-job：design_ready 后产出代码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review-job：独立并行审查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debug-job：review 或 test failed 后进入修复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60720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02B38"/>
                </a:solidFill>
                <a:latin typeface="Microsoft YaHei"/>
              </a:rPr>
              <a:t>建议：每个 issue 独立目录、独立状态机、独立 worktree，所有 Agent 只读取必要摘要与路径，不吞整段历史上下文。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落地路径与汇报结论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3291840" cy="329184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325880"/>
            <a:ext cx="109728" cy="3291840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72184"/>
            <a:ext cx="2971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MVP 落地建议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1984248"/>
            <a:ext cx="298094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先只跑 1 个高置信度窄 issue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至少经历 2 轮生成-审核迭代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至少经历 1 次调试-再审核闭环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生成 patch-ready 材料，但保留人工最终发信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291840" cy="329184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325880"/>
            <a:ext cx="109728" cy="3291840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72184"/>
            <a:ext cx="2971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下一步工程化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1984248"/>
            <a:ext cx="298094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补 workflow.yaml / 目录模板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固化 Claude Code / Codex 角色 prompts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脚本化 checkpatch / 日志归档 / 状态回写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加入预算控制与失败阈值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3291840" cy="329184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325880"/>
            <a:ext cx="109728" cy="329184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72184"/>
            <a:ext cx="2971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02B38"/>
                </a:solidFill>
                <a:latin typeface="Microsoft YaHei"/>
              </a:rPr>
              <a:t>最终结论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1984248"/>
            <a:ext cx="298094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多智能体价值不在“多开模型”，而在职责解耦与相互制衡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生成与审核必须多轮迭代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调试必须回流审核，防止“修完即过”</a:t>
            </a:r>
          </a:p>
          <a:p>
            <a:pPr>
              <a:spcAft>
                <a:spcPts val="700"/>
              </a:spcAft>
              <a:defRPr sz="1400">
                <a:solidFill>
                  <a:srgbClr val="5C6B7A"/>
                </a:solidFill>
                <a:latin typeface="Microsoft YaHei"/>
              </a:defRPr>
            </a:pPr>
            <a:r>
              <a:t>人工应只在高价值判断点介入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5212080"/>
            <a:ext cx="4480560" cy="530352"/>
          </a:xfrm>
          <a:prstGeom prst="round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5239512"/>
            <a:ext cx="4480560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6213E"/>
                </a:solidFill>
                <a:latin typeface="Microsoft YaHei"/>
              </a:rPr>
              <a:t>半自动 · 强审计 · 可迭代 · 面向内核贡献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7C4D6"/>
                </a:solidFill>
                <a:latin typeface="Microsoft YaHei"/>
              </a:rPr>
              <a:t>文件：ai-assisted-kernel-development-report.pptx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AI辅助内核开发多智能体工作流汇报</dc:title>
  <dc:subject>探索-规划-生成-审核-调试 多智能体方案</dc:subject>
  <dc:creator>Hermes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