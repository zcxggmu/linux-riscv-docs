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863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icrosoft YaHei"/>
              </a:rPr>
              <a:t>AI辅助内核开发
多智能体工作流（技术评审细节版）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2240280"/>
            <a:ext cx="8046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D6E4F0"/>
                </a:solidFill>
                <a:latin typeface="Microsoft YaHei"/>
              </a:rPr>
              <a:t>面向技术方案评审：强调状态机、工件契约、失败闭环、质量闸门、预算控制与 patch-ready 条件。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3246120"/>
            <a:ext cx="1828800" cy="402336"/>
          </a:xfrm>
          <a:prstGeom prst="roundRect">
            <a:avLst/>
          </a:prstGeom>
          <a:solidFill>
            <a:srgbClr val="0F7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264408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</a:rPr>
              <a:t>Artifact-Driven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3246120"/>
            <a:ext cx="1920240" cy="402336"/>
          </a:xfrm>
          <a:prstGeom prst="roundRect">
            <a:avLst/>
          </a:prstGeom>
          <a:solidFill>
            <a:srgbClr val="22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3264408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6213E"/>
                </a:solidFill>
                <a:latin typeface="Microsoft YaHei"/>
              </a:rPr>
              <a:t>Review-Oriented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28032" y="3246120"/>
            <a:ext cx="1737360" cy="402336"/>
          </a:xfrm>
          <a:prstGeom prst="roundRect">
            <a:avLst/>
          </a:prstGeom>
          <a:solidFill>
            <a:srgbClr val="F5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28032" y="3264408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6213E"/>
                </a:solidFill>
                <a:latin typeface="Microsoft YaHei"/>
              </a:rPr>
              <a:t>Patch-Ready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005840"/>
            <a:ext cx="2651760" cy="4480560"/>
          </a:xfrm>
          <a:prstGeom prst="roundRect">
            <a:avLst/>
          </a:prstGeom>
          <a:solidFill>
            <a:srgbClr val="1E2A4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0" y="1005840"/>
            <a:ext cx="109728" cy="4480560"/>
          </a:xfrm>
          <a:prstGeom prst="rect">
            <a:avLst/>
          </a:prstGeom>
          <a:solidFill>
            <a:srgbClr val="D94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96528" y="1143000"/>
            <a:ext cx="23774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YaHei"/>
              </a:rPr>
              <a:t>评审关注点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572768"/>
            <a:ext cx="237744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D6E4F0"/>
                </a:solidFill>
                <a:latin typeface="Microsoft YaHei"/>
              </a:defRPr>
            </a:pPr>
            <a:r>
              <a:t>职责边界是否清晰</a:t>
            </a:r>
          </a:p>
          <a:p>
            <a:pPr>
              <a:spcAft>
                <a:spcPts val="500"/>
              </a:spcAft>
              <a:defRPr sz="1300">
                <a:solidFill>
                  <a:srgbClr val="D6E4F0"/>
                </a:solidFill>
                <a:latin typeface="Microsoft YaHei"/>
              </a:defRPr>
            </a:pPr>
            <a:r>
              <a:t>状态回写是否可追踪</a:t>
            </a:r>
          </a:p>
          <a:p>
            <a:pPr>
              <a:spcAft>
                <a:spcPts val="500"/>
              </a:spcAft>
              <a:defRPr sz="1300">
                <a:solidFill>
                  <a:srgbClr val="D6E4F0"/>
                </a:solidFill>
                <a:latin typeface="Microsoft YaHei"/>
              </a:defRPr>
            </a:pPr>
            <a:r>
              <a:t>生成/审核能否多轮收敛</a:t>
            </a:r>
          </a:p>
          <a:p>
            <a:pPr>
              <a:spcAft>
                <a:spcPts val="500"/>
              </a:spcAft>
              <a:defRPr sz="1300">
                <a:solidFill>
                  <a:srgbClr val="D6E4F0"/>
                </a:solidFill>
                <a:latin typeface="Microsoft YaHei"/>
              </a:defRPr>
            </a:pPr>
            <a:r>
              <a:t>Debug 是否必须回流 Review</a:t>
            </a:r>
          </a:p>
          <a:p>
            <a:pPr>
              <a:spcAft>
                <a:spcPts val="500"/>
              </a:spcAft>
              <a:defRPr sz="1300">
                <a:solidFill>
                  <a:srgbClr val="D6E4F0"/>
                </a:solidFill>
                <a:latin typeface="Microsoft YaHei"/>
              </a:defRPr>
            </a:pPr>
            <a:r>
              <a:t>人工 Gate 是否放在高风险处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691640"/>
            <a:ext cx="1554480" cy="347472"/>
          </a:xfrm>
          <a:prstGeom prst="roundRect">
            <a:avLst/>
          </a:prstGeom>
          <a:solidFill>
            <a:srgbClr val="0F7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709928"/>
            <a:ext cx="15544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探索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2350008"/>
            <a:ext cx="1554480" cy="347472"/>
          </a:xfrm>
          <a:prstGeom prst="roundRect">
            <a:avLst/>
          </a:prstGeom>
          <a:solidFill>
            <a:srgbClr val="22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368296"/>
            <a:ext cx="15544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6213E"/>
                </a:solidFill>
                <a:latin typeface="Microsoft YaHei"/>
              </a:rPr>
              <a:t>规划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008376"/>
            <a:ext cx="1554480" cy="347472"/>
          </a:xfrm>
          <a:prstGeom prst="roundRect">
            <a:avLst/>
          </a:prstGeom>
          <a:solidFill>
            <a:srgbClr val="F5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3026664"/>
            <a:ext cx="15544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6213E"/>
                </a:solidFill>
                <a:latin typeface="Microsoft YaHei"/>
              </a:rPr>
              <a:t>生成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3666744"/>
            <a:ext cx="1554480" cy="347472"/>
          </a:xfrm>
          <a:prstGeom prst="roundRect">
            <a:avLst/>
          </a:prstGeom>
          <a:solidFill>
            <a:srgbClr val="D94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3685031"/>
            <a:ext cx="15544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审核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4325112"/>
            <a:ext cx="1554480" cy="347472"/>
          </a:xfrm>
          <a:prstGeom prst="roundRect">
            <a:avLst/>
          </a:prstGeom>
          <a:solidFill>
            <a:srgbClr val="2B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4343400"/>
            <a:ext cx="15544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调试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669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6213E"/>
                </a:solidFill>
                <a:latin typeface="Microsoft YaHei"/>
              </a:rPr>
              <a:t>系统边界与非目标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7432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9728" cy="1965960"/>
          </a:xfrm>
          <a:prstGeom prst="rect">
            <a:avLst/>
          </a:prstGeom>
          <a:solidFill>
            <a:srgbClr val="0F7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234439"/>
            <a:ext cx="24688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适用场景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64207"/>
            <a:ext cx="24688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RISC-V / KVM / 跨架构差距收敛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Kconfig / defconfig / selftest / kunit 一致性问题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小步、可回滚、可解释的改动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097280"/>
            <a:ext cx="27432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0" y="1097280"/>
            <a:ext cx="109728" cy="1965960"/>
          </a:xfrm>
          <a:prstGeom prst="rect">
            <a:avLst/>
          </a:prstGeom>
          <a:solidFill>
            <a:srgbClr val="D94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58768" y="1234439"/>
            <a:ext cx="24688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非目标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664207"/>
            <a:ext cx="24688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不追求无人监督自动发 patch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不把“编过了”当作最终成功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不允许单个 Agent 包办全流程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097280"/>
            <a:ext cx="2240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1097280"/>
            <a:ext cx="109728" cy="196596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8" y="1234439"/>
            <a:ext cx="1965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成功标准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664207"/>
            <a:ext cx="19659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问题真实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方案最小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日志完整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patch-ready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097280"/>
            <a:ext cx="2240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52560" y="1097280"/>
            <a:ext cx="109728" cy="1965960"/>
          </a:xfrm>
          <a:prstGeom prst="rect">
            <a:avLst/>
          </a:prstGeom>
          <a:solidFill>
            <a:srgbClr val="22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53728" y="1234439"/>
            <a:ext cx="1965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关键约束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664207"/>
            <a:ext cx="19659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每轮只跑 1 个 issue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主实现单写分支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审核独立运行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474720"/>
            <a:ext cx="5303520" cy="2331720"/>
          </a:xfrm>
          <a:prstGeom prst="roundRect">
            <a:avLst/>
          </a:prstGeom>
          <a:solidFill>
            <a:srgbClr val="111A2E"/>
          </a:solidFill>
          <a:ln>
            <a:solidFill>
              <a:srgbClr val="0F7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41832" y="3584448"/>
            <a:ext cx="2011680" cy="310896"/>
          </a:xfrm>
          <a:prstGeom prst="roundRect">
            <a:avLst/>
          </a:prstGeom>
          <a:solidFill>
            <a:srgbClr val="0F7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3602736"/>
            <a:ext cx="20116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Design doctrine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4005072"/>
            <a:ext cx="4974336" cy="1673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9F1FA"/>
                </a:solidFill>
                <a:latin typeface="Consolas"/>
              </a:rPr>
              <a:t>探索 -&gt; 规划 -&gt; 生成 -&gt; 审核 -&gt; 调试 -&gt; patch-ready
规则:
1. 全流程工件化
2. 生成/审核允许多轮
3. Debug 不得直接放行
4. 所有外部写操作前必须人工 Gate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474720"/>
            <a:ext cx="48463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3474720"/>
            <a:ext cx="109728" cy="2331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1968" y="3611879"/>
            <a:ext cx="4572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为什么不是单模型串到底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041648"/>
            <a:ext cx="4572000" cy="1645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内核上下文高度依赖历史与架构语义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实现者自审会放大遗漏风险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把失败拆给 Failure-Analyzer / Fix-Agent 更利于归因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并行审核比“实现者复读”更稳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400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6213E"/>
                </a:solidFill>
                <a:latin typeface="Microsoft YaHei"/>
              </a:rPr>
              <a:t>控制面状态机与停止条件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417320"/>
            <a:ext cx="1554480" cy="420624"/>
          </a:xfrm>
          <a:prstGeom prst="roundRect">
            <a:avLst/>
          </a:prstGeom>
          <a:solidFill>
            <a:srgbClr val="0F7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35608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</a:rPr>
              <a:t>discover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417320"/>
            <a:ext cx="1371600" cy="420624"/>
          </a:xfrm>
          <a:prstGeom prst="roundRect">
            <a:avLst/>
          </a:prstGeom>
          <a:solidFill>
            <a:srgbClr val="22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1435608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6213E"/>
                </a:solidFill>
                <a:latin typeface="Microsoft YaHei"/>
              </a:rPr>
              <a:t>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1645920" cy="420624"/>
          </a:xfrm>
          <a:prstGeom prst="roundRect">
            <a:avLst/>
          </a:prstGeom>
          <a:solidFill>
            <a:srgbClr val="F5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435608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6213E"/>
                </a:solidFill>
                <a:latin typeface="Microsoft YaHei"/>
              </a:rPr>
              <a:t>generate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17320"/>
            <a:ext cx="1463040" cy="420624"/>
          </a:xfrm>
          <a:prstGeom prst="roundRect">
            <a:avLst/>
          </a:prstGeom>
          <a:solidFill>
            <a:srgbClr val="D94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35608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</a:rPr>
              <a:t>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417320"/>
            <a:ext cx="1463040" cy="420624"/>
          </a:xfrm>
          <a:prstGeom prst="roundRect">
            <a:avLst/>
          </a:prstGeom>
          <a:solidFill>
            <a:srgbClr val="2B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435608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</a:rPr>
              <a:t>debug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66960" y="1417320"/>
            <a:ext cx="1325880" cy="420624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0" y="1435608"/>
            <a:ext cx="1325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</a:rPr>
              <a:t>patch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41448" y="1627632"/>
            <a:ext cx="301752" cy="0"/>
          </a:xfrm>
          <a:prstGeom prst="line">
            <a:avLst/>
          </a:prstGeom>
          <a:ln w="25400">
            <a:solidFill>
              <a:srgbClr val="0F7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133087" y="1627632"/>
            <a:ext cx="301753" cy="0"/>
          </a:xfrm>
          <a:prstGeom prst="line">
            <a:avLst/>
          </a:prstGeom>
          <a:ln w="25400">
            <a:solidFill>
              <a:srgbClr val="22B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99048" y="1627632"/>
            <a:ext cx="301752" cy="0"/>
          </a:xfrm>
          <a:prstGeom prst="line">
            <a:avLst/>
          </a:prstGeom>
          <a:ln w="25400">
            <a:solidFill>
              <a:srgbClr val="F5B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882127" y="1627632"/>
            <a:ext cx="301752" cy="0"/>
          </a:xfrm>
          <a:prstGeom prst="line">
            <a:avLst/>
          </a:prstGeom>
          <a:ln w="25400">
            <a:solidFill>
              <a:srgbClr val="D948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665208" y="1627632"/>
            <a:ext cx="301752" cy="0"/>
          </a:xfrm>
          <a:prstGeom prst="line">
            <a:avLst/>
          </a:prstGeom>
          <a:ln w="25400">
            <a:solidFill>
              <a:srgbClr val="2B8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257800" y="2011680"/>
            <a:ext cx="2926079" cy="685800"/>
          </a:xfrm>
          <a:prstGeom prst="line">
            <a:avLst/>
          </a:prstGeom>
          <a:ln w="25400">
            <a:solidFill>
              <a:srgbClr val="2B8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257800" y="1847088"/>
            <a:ext cx="0" cy="850392"/>
          </a:xfrm>
          <a:prstGeom prst="line">
            <a:avLst/>
          </a:prstGeom>
          <a:ln w="25400">
            <a:solidFill>
              <a:srgbClr val="2B8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40680" y="2395728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B8A3E"/>
                </a:solidFill>
                <a:latin typeface="Microsoft YaHei"/>
              </a:rPr>
              <a:t>debug -&gt; review/generate 回流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108960"/>
            <a:ext cx="3749039" cy="2377440"/>
          </a:xfrm>
          <a:prstGeom prst="roundRect">
            <a:avLst/>
          </a:prstGeom>
          <a:solidFill>
            <a:srgbClr val="111A2E"/>
          </a:solidFill>
          <a:ln>
            <a:solidFill>
              <a:srgbClr val="D94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1832" y="3218688"/>
            <a:ext cx="2011680" cy="310896"/>
          </a:xfrm>
          <a:prstGeom prst="roundRect">
            <a:avLst/>
          </a:prstGeom>
          <a:solidFill>
            <a:srgbClr val="D94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3236976"/>
            <a:ext cx="20116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workflow.yaml stop_conditions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3639312"/>
            <a:ext cx="3419856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9F1FA"/>
                </a:solidFill>
                <a:latin typeface="Consolas"/>
              </a:rPr>
              <a:t>max_rounds_generation_review: 3
max_rounds_debug: 2
stop if decision == PATCH_READY
stop if decision == BLOCKED
stop if generation_review_round &gt; 3
stop if debug_round &gt; 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00600" y="3108960"/>
            <a:ext cx="30175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00600" y="3108960"/>
            <a:ext cx="109728" cy="2377440"/>
          </a:xfrm>
          <a:prstGeom prst="rect">
            <a:avLst/>
          </a:prstGeom>
          <a:solidFill>
            <a:srgbClr val="22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1768" y="3246120"/>
            <a:ext cx="2743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状态回写字段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3675887"/>
            <a:ext cx="27432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current_stage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generation_review_round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debug_round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latest_decision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human_gate_status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artifact_status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3108960"/>
            <a:ext cx="31546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3108960"/>
            <a:ext cx="109728" cy="237744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7888" y="3246120"/>
            <a:ext cx="28803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评审结论语义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675887"/>
            <a:ext cx="288036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PASS: 可进入下一阶段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REVISE / REVISE_GENERATION: 返回实现侧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ENTER_DEBUG: 进入失败归因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BLOCKED: 停机等人类判断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6213E"/>
                </a:solidFill>
                <a:latin typeface="Microsoft YaHei"/>
              </a:rPr>
              <a:t>角色矩阵：谁负责什么，不负责什么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1488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9728" cy="4480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234439"/>
            <a:ext cx="18745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Orchestrator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64207"/>
            <a:ext cx="187452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负责状态机、工件路径、预算与调度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不做架构结论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不代替审核做 PASS 判定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1097280"/>
            <a:ext cx="21488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63240" y="1097280"/>
            <a:ext cx="109728" cy="4480560"/>
          </a:xfrm>
          <a:prstGeom prst="rect">
            <a:avLst/>
          </a:prstGeom>
          <a:solidFill>
            <a:srgbClr val="22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64408" y="1234439"/>
            <a:ext cx="18745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Planner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664207"/>
            <a:ext cx="187452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产出 file-level 方案 / 测试矩阵 / 风险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定义 must-not-do 边界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不直接改代码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1097280"/>
            <a:ext cx="21488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94960" y="1097280"/>
            <a:ext cx="109728" cy="448056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96128" y="1234439"/>
            <a:ext cx="18745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Implementer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1664207"/>
            <a:ext cx="187452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按计划最小实现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写构建/测试日志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被审核驳回后进入再实现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1097280"/>
            <a:ext cx="21488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26679" y="1097280"/>
            <a:ext cx="109728" cy="4480560"/>
          </a:xfrm>
          <a:prstGeom prst="rect">
            <a:avLst/>
          </a:prstGeom>
          <a:solidFill>
            <a:srgbClr val="D94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1234439"/>
            <a:ext cx="18745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Review trio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59" y="1664207"/>
            <a:ext cx="187452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Spec: 看目标闭环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Code: 看质量/边界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Upstream: 看 patch 粒度与叙事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1097280"/>
            <a:ext cx="14173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58400" y="1097280"/>
            <a:ext cx="109728" cy="4480560"/>
          </a:xfrm>
          <a:prstGeom prst="rect">
            <a:avLst/>
          </a:prstGeom>
          <a:solidFill>
            <a:srgbClr val="2B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59568" y="1234439"/>
            <a:ext cx="1143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02B38"/>
                </a:solidFill>
                <a:latin typeface="Microsoft YaHei"/>
              </a:rPr>
              <a:t>Debug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1664207"/>
            <a:ext cx="114300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C6B7A"/>
                </a:solidFill>
                <a:latin typeface="Microsoft YaHei"/>
              </a:defRPr>
            </a:pPr>
            <a:r>
              <a:t>Failure-Analyzer</a:t>
            </a:r>
          </a:p>
          <a:p>
            <a:pPr>
              <a:spcAft>
                <a:spcPts val="500"/>
              </a:spcAft>
              <a:defRPr sz="1200">
                <a:solidFill>
                  <a:srgbClr val="5C6B7A"/>
                </a:solidFill>
                <a:latin typeface="Microsoft YaHei"/>
              </a:defRPr>
            </a:pPr>
            <a:r>
              <a:t>Fix-Agent</a:t>
            </a:r>
          </a:p>
          <a:p>
            <a:pPr>
              <a:spcAft>
                <a:spcPts val="500"/>
              </a:spcAft>
              <a:defRPr sz="1200">
                <a:solidFill>
                  <a:srgbClr val="5C6B7A"/>
                </a:solidFill>
                <a:latin typeface="Microsoft YaHei"/>
              </a:defRPr>
            </a:pPr>
            <a:r>
              <a:t>Regression-Guard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806440"/>
            <a:ext cx="102412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02B38"/>
                </a:solidFill>
                <a:latin typeface="Microsoft YaHei"/>
              </a:rPr>
              <a:t>技术判断：把“实现”和“判定通过”拆给不同 Agent，是这套系统避免自证正确的核心。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13E"/>
                </a:solidFill>
                <a:latin typeface="Microsoft YaHei"/>
              </a:rPr>
              <a:t>工件契约：让上下文留在文件，不留在聊天里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743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9728" cy="2057400"/>
          </a:xfrm>
          <a:prstGeom prst="rect">
            <a:avLst/>
          </a:prstGeom>
          <a:solidFill>
            <a:srgbClr val="0F7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234439"/>
            <a:ext cx="24688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Discover 工件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64207"/>
            <a:ext cx="2468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discover/code-evidence.md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discover/history-evidence.md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state/gap_registry.yaml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state/issue_map.yaml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097280"/>
            <a:ext cx="26517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0" y="1097280"/>
            <a:ext cx="109728" cy="2057400"/>
          </a:xfrm>
          <a:prstGeom prst="rect">
            <a:avLst/>
          </a:prstGeom>
          <a:solidFill>
            <a:srgbClr val="22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58768" y="1234439"/>
            <a:ext cx="23774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Plan 工件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664207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plans/design.md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plans/test-matrix.md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plans/risk.md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097280"/>
            <a:ext cx="25603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1097280"/>
            <a:ext cx="109728" cy="20574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3407" y="1234439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Generate 工件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664207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logs/build-round-N.log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logs/test-round-N.log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state/change-summary-round-N.md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097280"/>
            <a:ext cx="21488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35440" y="1097280"/>
            <a:ext cx="109728" cy="2057400"/>
          </a:xfrm>
          <a:prstGeom prst="rect">
            <a:avLst/>
          </a:prstGeom>
          <a:solidFill>
            <a:srgbClr val="D94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36608" y="1234439"/>
            <a:ext cx="18745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Patch 工件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19" y="1664207"/>
            <a:ext cx="1874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series-cover-letter.md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checkpatch.txt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get-maintainer.txt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520440"/>
            <a:ext cx="4754880" cy="1965960"/>
          </a:xfrm>
          <a:prstGeom prst="roundRect">
            <a:avLst/>
          </a:prstGeom>
          <a:solidFill>
            <a:srgbClr val="111A2E"/>
          </a:solidFill>
          <a:ln>
            <a:solidFill>
              <a:srgbClr val="162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87552" y="3630168"/>
            <a:ext cx="2011680" cy="310896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3648456"/>
            <a:ext cx="20116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目录约定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050791"/>
            <a:ext cx="4425696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9F1FA"/>
                </a:solidFill>
                <a:latin typeface="Consolas"/>
              </a:rPr>
              <a:t>artifacts/&lt;issue&gt;/{discover, plans, review, debug, patch, state, logs}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3520440"/>
            <a:ext cx="5440680" cy="1965960"/>
          </a:xfrm>
          <a:prstGeom prst="roundRect">
            <a:avLst/>
          </a:prstGeom>
          <a:solidFill>
            <a:srgbClr val="111A2E"/>
          </a:solidFill>
          <a:ln>
            <a:solidFill>
              <a:srgbClr val="0F7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71031" y="3630168"/>
            <a:ext cx="2011680" cy="310896"/>
          </a:xfrm>
          <a:prstGeom prst="roundRect">
            <a:avLst/>
          </a:prstGeom>
          <a:solidFill>
            <a:srgbClr val="0F7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71031" y="3648456"/>
            <a:ext cx="20116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命名约定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71031" y="4050791"/>
            <a:ext cx="5111496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9F1FA"/>
                </a:solidFill>
                <a:latin typeface="Consolas"/>
              </a:rPr>
              <a:t>run_history/&lt;issue&gt;-round-&lt;n&gt;.md
review/spec-round-&lt;n&gt;.md
debug/failure-analysis-round-&lt;n&gt;.md
patches/&lt;issue&gt;/draft-round-&lt;n&gt;.patch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6213E"/>
                </a:solidFill>
                <a:latin typeface="Microsoft YaHei"/>
              </a:rPr>
              <a:t>生成 / 审核 / 调试 闭环设计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554480"/>
            <a:ext cx="1828800" cy="457200"/>
          </a:xfrm>
          <a:prstGeom prst="roundRect">
            <a:avLst/>
          </a:prstGeom>
          <a:solidFill>
            <a:srgbClr val="F5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72768"/>
            <a:ext cx="1828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6213E"/>
                </a:solidFill>
                <a:latin typeface="Microsoft YaHei"/>
              </a:rPr>
              <a:t>Generate R1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554480"/>
            <a:ext cx="1828800" cy="457200"/>
          </a:xfrm>
          <a:prstGeom prst="roundRect">
            <a:avLst/>
          </a:prstGeom>
          <a:solidFill>
            <a:srgbClr val="D94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1840" y="1572768"/>
            <a:ext cx="1828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</a:rPr>
              <a:t>Spec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554480"/>
            <a:ext cx="1828800" cy="457200"/>
          </a:xfrm>
          <a:prstGeom prst="roundRect">
            <a:avLst/>
          </a:prstGeom>
          <a:solidFill>
            <a:srgbClr val="2B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572768"/>
            <a:ext cx="1828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icrosoft YaHei"/>
              </a:rPr>
              <a:t>Failure Analyze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1691640" cy="457200"/>
          </a:xfrm>
          <a:prstGeom prst="roundRect">
            <a:avLst/>
          </a:prstGeom>
          <a:solidFill>
            <a:srgbClr val="0F7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572768"/>
            <a:ext cx="16916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icrosoft YaHei"/>
              </a:rPr>
              <a:t>Fix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49840" y="1554480"/>
            <a:ext cx="10972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40" y="1572768"/>
            <a:ext cx="1097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</a:rPr>
              <a:t>R2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88920" y="1783080"/>
            <a:ext cx="502920" cy="0"/>
          </a:xfrm>
          <a:prstGeom prst="line">
            <a:avLst/>
          </a:prstGeom>
          <a:ln w="25400">
            <a:solidFill>
              <a:srgbClr val="F5B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166360" y="1783080"/>
            <a:ext cx="502920" cy="0"/>
          </a:xfrm>
          <a:prstGeom prst="line">
            <a:avLst/>
          </a:prstGeom>
          <a:ln w="25400">
            <a:solidFill>
              <a:srgbClr val="D948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543800" y="1783080"/>
            <a:ext cx="502920" cy="0"/>
          </a:xfrm>
          <a:prstGeom prst="line">
            <a:avLst/>
          </a:prstGeom>
          <a:ln w="25400">
            <a:solidFill>
              <a:srgbClr val="2B8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784080" y="1783080"/>
            <a:ext cx="365760" cy="0"/>
          </a:xfrm>
          <a:prstGeom prst="line">
            <a:avLst/>
          </a:prstGeom>
          <a:ln w="25400">
            <a:solidFill>
              <a:srgbClr val="0F7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698480" y="2029968"/>
            <a:ext cx="0" cy="850392"/>
          </a:xfrm>
          <a:prstGeom prst="line">
            <a:avLst/>
          </a:prstGeom>
          <a:ln w="25400">
            <a:solidFill>
              <a:srgbClr val="22B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828800" y="2880360"/>
            <a:ext cx="8869680" cy="0"/>
          </a:xfrm>
          <a:prstGeom prst="line">
            <a:avLst/>
          </a:prstGeom>
          <a:ln w="25400">
            <a:solidFill>
              <a:srgbClr val="22B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828800" y="2029968"/>
            <a:ext cx="0" cy="850392"/>
          </a:xfrm>
          <a:prstGeom prst="line">
            <a:avLst/>
          </a:prstGeom>
          <a:ln w="25400">
            <a:solidFill>
              <a:srgbClr val="22B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017520" y="2670048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22B8CF"/>
                </a:solidFill>
                <a:latin typeface="Microsoft YaHei"/>
              </a:rPr>
              <a:t>若审查仍未通过，则继续 R3；若长期不收敛，则触发人工 Gate。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37947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3794760"/>
            <a:ext cx="109728" cy="1691640"/>
          </a:xfrm>
          <a:prstGeom prst="rect">
            <a:avLst/>
          </a:prstGeom>
          <a:solidFill>
            <a:srgbClr val="2B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" y="3931920"/>
            <a:ext cx="3108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为什么要单独 Debug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361688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很多失败不是编译错，而是规格未闭环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Failure-Analyzer 更像根因分析器，不是修代码器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7947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3794760"/>
            <a:ext cx="109728" cy="1691640"/>
          </a:xfrm>
          <a:prstGeom prst="rect">
            <a:avLst/>
          </a:prstGeom>
          <a:solidFill>
            <a:srgbClr val="0F7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0288" y="3931920"/>
            <a:ext cx="3108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Round 记录必须包含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361688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本轮目标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修改文件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测试结果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review decision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next step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09560" y="37947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09560" y="3794760"/>
            <a:ext cx="109728" cy="1691640"/>
          </a:xfrm>
          <a:prstGeom prst="rect">
            <a:avLst/>
          </a:prstGeom>
          <a:solidFill>
            <a:srgbClr val="D94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0728" y="3931920"/>
            <a:ext cx="3108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停止条件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4361688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连续 3 轮不收敛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错误反复出现且根因不稳定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出现架构语义争议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583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6213E"/>
                </a:solidFill>
                <a:latin typeface="Microsoft YaHei"/>
              </a:rPr>
              <a:t>质量闸门与验证矩阵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051560"/>
            <a:ext cx="2011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79576"/>
            <a:ext cx="2011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D94841"/>
                </a:solidFill>
                <a:latin typeface="Microsoft YaHe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618488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C6B7A"/>
                </a:solidFill>
                <a:latin typeface="Microsoft YaHei"/>
              </a:rPr>
              <a:t>人工 Gate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051560"/>
            <a:ext cx="2011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1179576"/>
            <a:ext cx="2011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22B8CF"/>
                </a:solidFill>
                <a:latin typeface="Microsoft YaHei"/>
              </a:rPr>
              <a:t>2+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4952" y="1618488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C6B7A"/>
                </a:solidFill>
                <a:latin typeface="Microsoft YaHei"/>
              </a:rPr>
              <a:t>生成/审核轮次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60" y="1051560"/>
            <a:ext cx="2011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179576"/>
            <a:ext cx="2011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5B700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9512" y="1618488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C6B7A"/>
                </a:solidFill>
                <a:latin typeface="Microsoft YaHei"/>
              </a:rPr>
              <a:t>issue per 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1051560"/>
            <a:ext cx="2011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1179576"/>
            <a:ext cx="2011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F7673"/>
                </a:solidFill>
                <a:latin typeface="Microsoft YaHei"/>
              </a:rPr>
              <a:t>6+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34072" y="1618488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C6B7A"/>
                </a:solidFill>
                <a:latin typeface="Microsoft YaHei"/>
              </a:rPr>
              <a:t>关键工件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743200"/>
            <a:ext cx="34747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2743200"/>
            <a:ext cx="109728" cy="256032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2880360"/>
            <a:ext cx="32004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自动质量闸门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310128"/>
            <a:ext cx="320040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make ARCH=riscv defconfig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目标架构 build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kselftest relevant subset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kunit relevant subset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checkpatch.pl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get_maintainer.pl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2743200"/>
            <a:ext cx="34747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26280" y="2743200"/>
            <a:ext cx="109728" cy="2560320"/>
          </a:xfrm>
          <a:prstGeom prst="rect">
            <a:avLst/>
          </a:prstGeom>
          <a:solidFill>
            <a:srgbClr val="D94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27448" y="2880360"/>
            <a:ext cx="32004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人工 Gate 触发条件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3310128"/>
            <a:ext cx="320040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问题定义不清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ABI/UAPI/DT/Kconfig 用户可见影响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maintainer rejection history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准备发信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2743200"/>
            <a:ext cx="306324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2743200"/>
            <a:ext cx="109728" cy="2560320"/>
          </a:xfrm>
          <a:prstGeom prst="rect">
            <a:avLst/>
          </a:prstGeom>
          <a:solidFill>
            <a:srgbClr val="22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0768" y="2880360"/>
            <a:ext cx="2788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评审视角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310128"/>
            <a:ext cx="27889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Spec: 需求是否闭环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Code: 边界与可维护性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Upstream: patch 叙事/粒度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6213E"/>
                </a:solidFill>
                <a:latin typeface="Microsoft YaHei"/>
              </a:rPr>
              <a:t>成本、风险与工程控制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7432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9728" cy="4389120"/>
          </a:xfrm>
          <a:prstGeom prst="rect">
            <a:avLst/>
          </a:prstGeom>
          <a:solidFill>
            <a:srgbClr val="D94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234439"/>
            <a:ext cx="24688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典型失败模式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64207"/>
            <a:ext cx="246888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把设计问题误判成代码问题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实现者过度保守只改一半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过度设计导致 patch 粒度膨胀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长日志回灌导致 token 成本失控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3320" y="1097280"/>
            <a:ext cx="27432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03320" y="1097280"/>
            <a:ext cx="109728" cy="4389120"/>
          </a:xfrm>
          <a:prstGeom prst="rect">
            <a:avLst/>
          </a:prstGeom>
          <a:solidFill>
            <a:srgbClr val="0F7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04487" y="1234439"/>
            <a:ext cx="24688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成本控制策略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1664207"/>
            <a:ext cx="246888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每次只处理一个窄 issue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长上下文外置为工件路径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高歧义规划交给更强模型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实现闭环尽量在 cheaper runtime 完成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097280"/>
            <a:ext cx="2194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1097280"/>
            <a:ext cx="109728" cy="4389120"/>
          </a:xfrm>
          <a:prstGeom prst="rect">
            <a:avLst/>
          </a:prstGeom>
          <a:solidFill>
            <a:srgbClr val="22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1234439"/>
            <a:ext cx="1920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收敛策略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664207"/>
            <a:ext cx="192024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round 上限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debug 上限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人工 Gate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单 issue 单分支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097280"/>
            <a:ext cx="2148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98280" y="1097280"/>
            <a:ext cx="109728" cy="438912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9448" y="1234439"/>
            <a:ext cx="18745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最终价值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59" y="1664207"/>
            <a:ext cx="187452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把人工从重复劳动里解放出来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保留关键判断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形成可复盘工程资产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13E"/>
                </a:solidFill>
                <a:latin typeface="Microsoft YaHei"/>
              </a:rPr>
              <a:t>Demo Issue：riscv/kvm MMU Kconfig 一致性修复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2468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9728" cy="4389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188719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Issue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18488"/>
            <a:ext cx="219456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目标：让 dependency/help text 都显式表达 MMU 约束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范围：只触及 arch/riscv/kvm/Kconfig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风险：低，但属于 Kconfig 用户可见变化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051560"/>
            <a:ext cx="2468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0" y="1051560"/>
            <a:ext cx="109728" cy="438912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1188719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Round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618488"/>
            <a:ext cx="219456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实现通过模拟构建检查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但 Spec Review 指出 help text 未闭环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结论：ENTER_DEBUG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051560"/>
            <a:ext cx="2468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1051560"/>
            <a:ext cx="109728" cy="4389120"/>
          </a:xfrm>
          <a:prstGeom prst="rect">
            <a:avLst/>
          </a:prstGeom>
          <a:solidFill>
            <a:srgbClr val="D94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7" y="1188719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Debug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618488"/>
            <a:ext cx="219456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Failure-Analyzer 认定为 spec gap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Fix-Agent 继续单文件修复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保持单 patch、可回滚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1051560"/>
            <a:ext cx="2560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0" y="1051560"/>
            <a:ext cx="109728" cy="4389120"/>
          </a:xfrm>
          <a:prstGeom prst="rect">
            <a:avLst/>
          </a:prstGeom>
          <a:solidFill>
            <a:srgbClr val="2B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87968" y="1188719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Round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1618488"/>
            <a:ext cx="228600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补充 help text 的 MMU 说明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Spec Review Round 2: PASS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状态流转到 patch-ready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806440"/>
            <a:ext cx="103327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02B38"/>
                </a:solidFill>
                <a:latin typeface="Microsoft YaHei"/>
              </a:rPr>
              <a:t>这个 demo 证明：审查失败并不一定意味着代码坏了，也可能只是“实现没有完整满足设计目标”。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icrosoft YaHei"/>
              </a:rPr>
              <a:t>技术评审结论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417320"/>
            <a:ext cx="3246120" cy="3474720"/>
          </a:xfrm>
          <a:prstGeom prst="roundRect">
            <a:avLst/>
          </a:prstGeom>
          <a:solidFill>
            <a:srgbClr val="F5F8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1417320"/>
            <a:ext cx="109728" cy="3474720"/>
          </a:xfrm>
          <a:prstGeom prst="rect">
            <a:avLst/>
          </a:prstGeom>
          <a:solidFill>
            <a:srgbClr val="0F7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" y="1554480"/>
            <a:ext cx="2971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这套方案为什么可行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984248"/>
            <a:ext cx="2971800" cy="2788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职责解耦：探索、规划、实现、审核、调试分层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状态显式：所有阶段都回写 workflow.yaml 与工件目录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闭环可控：round 上限 + 人工 Gate + patch-ready 定义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3474720"/>
          </a:xfrm>
          <a:prstGeom prst="roundRect">
            <a:avLst/>
          </a:prstGeom>
          <a:solidFill>
            <a:srgbClr val="F5F8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80560" y="1417320"/>
            <a:ext cx="109728" cy="3474720"/>
          </a:xfrm>
          <a:prstGeom prst="rect">
            <a:avLst/>
          </a:prstGeom>
          <a:solidFill>
            <a:srgbClr val="D94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1554480"/>
            <a:ext cx="2971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仍需谨慎的地方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984248"/>
            <a:ext cx="2971800" cy="2788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架构语义争议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真实 lore 证据补齐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日志真实性与回归覆盖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发信礼仪与 maintainer 偏好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417320"/>
            <a:ext cx="3154680" cy="3474720"/>
          </a:xfrm>
          <a:prstGeom prst="roundRect">
            <a:avLst/>
          </a:prstGeom>
          <a:solidFill>
            <a:srgbClr val="F5F8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1417320"/>
            <a:ext cx="109728" cy="347472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1554480"/>
            <a:ext cx="28803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建议决策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1984248"/>
            <a:ext cx="2880360" cy="2788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先用 MVP 跑一个高置信度窄 issue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强制经历至少 2 轮生成/审核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把真实工具链日志接入现有工件目录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11880" y="5486400"/>
            <a:ext cx="4937760" cy="530352"/>
          </a:xfrm>
          <a:prstGeom prst="roundRect">
            <a:avLst/>
          </a:prstGeom>
          <a:solidFill>
            <a:srgbClr val="F5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5504688"/>
            <a:ext cx="4937760" cy="493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16213E"/>
                </a:solidFill>
                <a:latin typeface="Microsoft YaHei"/>
              </a:rPr>
              <a:t>不是“多开模型”，而是“多角色互相制衡”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AI辅助内核开发多智能体工作流：技术评审细节版</dc:title>
  <dc:subject>technical review version</dc:subject>
  <dc:creator>Hermes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