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4d47b8e4f4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4d47b8e4f4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815c207b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815c207b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815c207b5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815c207b5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815c207b5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815c207b5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815c207b5b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815c207b5b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815c207b5b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815c207b5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815c207b5b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815c207b5b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815c207b5b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815c207b5b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Font typeface="Work Sans"/>
              <a:buNone/>
              <a:defRPr sz="4300">
                <a:latin typeface="Work Sans"/>
                <a:ea typeface="Work Sans"/>
                <a:cs typeface="Work Sans"/>
                <a:sym typeface="Work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ork Sans SemiBold"/>
              <a:buNone/>
              <a:defRPr sz="2400"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Open Sans"/>
              <a:buNone/>
              <a:defRPr sz="3600">
                <a:latin typeface="Open Sans"/>
                <a:ea typeface="Open Sans"/>
                <a:cs typeface="Open Sans"/>
                <a:sym typeface="Ope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Open Sans"/>
              <a:buNone/>
              <a:defRPr sz="3600">
                <a:latin typeface="Open Sans"/>
                <a:ea typeface="Open Sans"/>
                <a:cs typeface="Open Sans"/>
                <a:sym typeface="Ope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Open Sans"/>
              <a:buNone/>
              <a:defRPr sz="3600">
                <a:latin typeface="Open Sans"/>
                <a:ea typeface="Open Sans"/>
                <a:cs typeface="Open Sans"/>
                <a:sym typeface="Ope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Open Sans"/>
              <a:buNone/>
              <a:defRPr sz="3600">
                <a:latin typeface="Open Sans"/>
                <a:ea typeface="Open Sans"/>
                <a:cs typeface="Open Sans"/>
                <a:sym typeface="Ope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Open Sans"/>
              <a:buNone/>
              <a:defRPr sz="3600">
                <a:latin typeface="Open Sans"/>
                <a:ea typeface="Open Sans"/>
                <a:cs typeface="Open Sans"/>
                <a:sym typeface="Ope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Open Sans"/>
              <a:buNone/>
              <a:defRPr sz="3600">
                <a:latin typeface="Open Sans"/>
                <a:ea typeface="Open Sans"/>
                <a:cs typeface="Open Sans"/>
                <a:sym typeface="Ope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Open Sans"/>
              <a:buNone/>
              <a:defRPr sz="3600">
                <a:latin typeface="Open Sans"/>
                <a:ea typeface="Open Sans"/>
                <a:cs typeface="Open Sans"/>
                <a:sym typeface="Ope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Open Sans"/>
              <a:buNone/>
              <a:defRPr sz="3600">
                <a:latin typeface="Open Sans"/>
                <a:ea typeface="Open Sans"/>
                <a:cs typeface="Open Sans"/>
                <a:sym typeface="Ope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Open Sans"/>
              <a:buNone/>
              <a:defRPr sz="3600"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Work Sans"/>
              <a:buChar char="●"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○"/>
              <a:defRPr>
                <a:latin typeface="Work Sans"/>
                <a:ea typeface="Work Sans"/>
                <a:cs typeface="Work Sans"/>
                <a:sym typeface="Work Sans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■"/>
              <a:defRPr>
                <a:latin typeface="Work Sans"/>
                <a:ea typeface="Work Sans"/>
                <a:cs typeface="Work Sans"/>
                <a:sym typeface="Work Sans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●"/>
              <a:defRPr>
                <a:latin typeface="Work Sans"/>
                <a:ea typeface="Work Sans"/>
                <a:cs typeface="Work Sans"/>
                <a:sym typeface="Work Sans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○"/>
              <a:defRPr>
                <a:latin typeface="Work Sans"/>
                <a:ea typeface="Work Sans"/>
                <a:cs typeface="Work Sans"/>
                <a:sym typeface="Work Sans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■"/>
              <a:defRPr>
                <a:latin typeface="Work Sans"/>
                <a:ea typeface="Work Sans"/>
                <a:cs typeface="Work Sans"/>
                <a:sym typeface="Work Sans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●"/>
              <a:defRPr>
                <a:latin typeface="Work Sans"/>
                <a:ea typeface="Work Sans"/>
                <a:cs typeface="Work Sans"/>
                <a:sym typeface="Work Sans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○"/>
              <a:defRPr>
                <a:latin typeface="Work Sans"/>
                <a:ea typeface="Work Sans"/>
                <a:cs typeface="Work Sans"/>
                <a:sym typeface="Work Sans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■"/>
              <a:defRPr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●"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 sz="1200">
                <a:latin typeface="Work Sans"/>
                <a:ea typeface="Work Sans"/>
                <a:cs typeface="Work Sans"/>
                <a:sym typeface="Work Sans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 sz="1200">
                <a:latin typeface="Work Sans"/>
                <a:ea typeface="Work Sans"/>
                <a:cs typeface="Work Sans"/>
                <a:sym typeface="Work Sans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 sz="1200">
                <a:latin typeface="Work Sans"/>
                <a:ea typeface="Work Sans"/>
                <a:cs typeface="Work Sans"/>
                <a:sym typeface="Work Sans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 sz="1200">
                <a:latin typeface="Work Sans"/>
                <a:ea typeface="Work Sans"/>
                <a:cs typeface="Work Sans"/>
                <a:sym typeface="Work Sans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 sz="1200">
                <a:latin typeface="Work Sans"/>
                <a:ea typeface="Work Sans"/>
                <a:cs typeface="Work Sans"/>
                <a:sym typeface="Work Sans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 sz="1200">
                <a:latin typeface="Work Sans"/>
                <a:ea typeface="Work Sans"/>
                <a:cs typeface="Work Sans"/>
                <a:sym typeface="Work Sans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 sz="1200">
                <a:latin typeface="Work Sans"/>
                <a:ea typeface="Work Sans"/>
                <a:cs typeface="Work Sans"/>
                <a:sym typeface="Work Sans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 sz="1200"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●"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 sz="1200">
                <a:latin typeface="Work Sans"/>
                <a:ea typeface="Work Sans"/>
                <a:cs typeface="Work Sans"/>
                <a:sym typeface="Work Sans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 sz="1200">
                <a:latin typeface="Work Sans"/>
                <a:ea typeface="Work Sans"/>
                <a:cs typeface="Work Sans"/>
                <a:sym typeface="Work Sans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 sz="1200">
                <a:latin typeface="Work Sans"/>
                <a:ea typeface="Work Sans"/>
                <a:cs typeface="Work Sans"/>
                <a:sym typeface="Work Sans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 sz="1200">
                <a:latin typeface="Work Sans"/>
                <a:ea typeface="Work Sans"/>
                <a:cs typeface="Work Sans"/>
                <a:sym typeface="Work Sans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 sz="1200">
                <a:latin typeface="Work Sans"/>
                <a:ea typeface="Work Sans"/>
                <a:cs typeface="Work Sans"/>
                <a:sym typeface="Work Sans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 sz="1200">
                <a:latin typeface="Work Sans"/>
                <a:ea typeface="Work Sans"/>
                <a:cs typeface="Work Sans"/>
                <a:sym typeface="Work Sans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 sz="1200">
                <a:latin typeface="Work Sans"/>
                <a:ea typeface="Work Sans"/>
                <a:cs typeface="Work Sans"/>
                <a:sym typeface="Work Sans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 sz="1200"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 sz="1200">
                <a:latin typeface="Work Sans"/>
                <a:ea typeface="Work Sans"/>
                <a:cs typeface="Work Sans"/>
                <a:sym typeface="Work Sans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 sz="1200">
                <a:latin typeface="Work Sans"/>
                <a:ea typeface="Work Sans"/>
                <a:cs typeface="Work Sans"/>
                <a:sym typeface="Work Sans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 sz="1200">
                <a:latin typeface="Work Sans"/>
                <a:ea typeface="Work Sans"/>
                <a:cs typeface="Work Sans"/>
                <a:sym typeface="Work Sans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 sz="1200">
                <a:latin typeface="Work Sans"/>
                <a:ea typeface="Work Sans"/>
                <a:cs typeface="Work Sans"/>
                <a:sym typeface="Work Sans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 sz="1200">
                <a:latin typeface="Work Sans"/>
                <a:ea typeface="Work Sans"/>
                <a:cs typeface="Work Sans"/>
                <a:sym typeface="Work Sans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 sz="1200">
                <a:latin typeface="Work Sans"/>
                <a:ea typeface="Work Sans"/>
                <a:cs typeface="Work Sans"/>
                <a:sym typeface="Work Sans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 sz="1200">
                <a:latin typeface="Work Sans"/>
                <a:ea typeface="Work Sans"/>
                <a:cs typeface="Work Sans"/>
                <a:sym typeface="Work Sans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 sz="1200">
                <a:latin typeface="Work Sans"/>
                <a:ea typeface="Work Sans"/>
                <a:cs typeface="Work Sans"/>
                <a:sym typeface="Work Sans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 sz="1200"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Font typeface="Work Sans ExtraLight"/>
              <a:buNone/>
              <a:defRPr sz="4800">
                <a:latin typeface="Work Sans ExtraLight"/>
                <a:ea typeface="Work Sans ExtraLight"/>
                <a:cs typeface="Work Sans ExtraLight"/>
                <a:sym typeface="Work Sans Extra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Work Sans"/>
              <a:buNone/>
              <a:defRPr sz="3600">
                <a:latin typeface="Work Sans"/>
                <a:ea typeface="Work Sans"/>
                <a:cs typeface="Work Sans"/>
                <a:sym typeface="Work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Font typeface="Work Sans"/>
              <a:buNone/>
              <a:defRPr sz="4200">
                <a:latin typeface="Work Sans"/>
                <a:ea typeface="Work Sans"/>
                <a:cs typeface="Work Sans"/>
                <a:sym typeface="Work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Font typeface="Work Sans"/>
              <a:buNone/>
              <a:defRPr sz="4200">
                <a:latin typeface="Work Sans"/>
                <a:ea typeface="Work Sans"/>
                <a:cs typeface="Work Sans"/>
                <a:sym typeface="Work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Font typeface="Work Sans"/>
              <a:buNone/>
              <a:defRPr sz="4200">
                <a:latin typeface="Work Sans"/>
                <a:ea typeface="Work Sans"/>
                <a:cs typeface="Work Sans"/>
                <a:sym typeface="Work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Font typeface="Work Sans"/>
              <a:buNone/>
              <a:defRPr sz="4200">
                <a:latin typeface="Work Sans"/>
                <a:ea typeface="Work Sans"/>
                <a:cs typeface="Work Sans"/>
                <a:sym typeface="Work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Font typeface="Work Sans"/>
              <a:buNone/>
              <a:defRPr sz="4200">
                <a:latin typeface="Work Sans"/>
                <a:ea typeface="Work Sans"/>
                <a:cs typeface="Work Sans"/>
                <a:sym typeface="Work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Font typeface="Work Sans"/>
              <a:buNone/>
              <a:defRPr sz="4200">
                <a:latin typeface="Work Sans"/>
                <a:ea typeface="Work Sans"/>
                <a:cs typeface="Work Sans"/>
                <a:sym typeface="Work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Font typeface="Work Sans"/>
              <a:buNone/>
              <a:defRPr sz="4200">
                <a:latin typeface="Work Sans"/>
                <a:ea typeface="Work Sans"/>
                <a:cs typeface="Work Sans"/>
                <a:sym typeface="Work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Font typeface="Work Sans"/>
              <a:buNone/>
              <a:defRPr sz="4200"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Work Sans"/>
              <a:buChar char="●"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○"/>
              <a:defRPr>
                <a:latin typeface="Work Sans"/>
                <a:ea typeface="Work Sans"/>
                <a:cs typeface="Work Sans"/>
                <a:sym typeface="Work Sans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■"/>
              <a:defRPr>
                <a:latin typeface="Work Sans"/>
                <a:ea typeface="Work Sans"/>
                <a:cs typeface="Work Sans"/>
                <a:sym typeface="Work Sans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●"/>
              <a:defRPr>
                <a:latin typeface="Work Sans"/>
                <a:ea typeface="Work Sans"/>
                <a:cs typeface="Work Sans"/>
                <a:sym typeface="Work Sans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○"/>
              <a:defRPr>
                <a:latin typeface="Work Sans"/>
                <a:ea typeface="Work Sans"/>
                <a:cs typeface="Work Sans"/>
                <a:sym typeface="Work Sans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■"/>
              <a:defRPr>
                <a:latin typeface="Work Sans"/>
                <a:ea typeface="Work Sans"/>
                <a:cs typeface="Work Sans"/>
                <a:sym typeface="Work Sans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●"/>
              <a:defRPr>
                <a:latin typeface="Work Sans"/>
                <a:ea typeface="Work Sans"/>
                <a:cs typeface="Work Sans"/>
                <a:sym typeface="Work Sans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○"/>
              <a:defRPr>
                <a:latin typeface="Work Sans"/>
                <a:ea typeface="Work Sans"/>
                <a:cs typeface="Work Sans"/>
                <a:sym typeface="Work Sans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■"/>
              <a:defRPr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Font typeface="Work Sans Light"/>
              <a:buNone/>
              <a:defRPr sz="12000">
                <a:latin typeface="Work Sans Light"/>
                <a:ea typeface="Work Sans Light"/>
                <a:cs typeface="Work Sans Light"/>
                <a:sym typeface="Work Sans Ligh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Font typeface="Work Sans"/>
              <a:buChar char="●"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○"/>
              <a:defRPr>
                <a:latin typeface="Work Sans"/>
                <a:ea typeface="Work Sans"/>
                <a:cs typeface="Work Sans"/>
                <a:sym typeface="Work Sans"/>
              </a:defRPr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■"/>
              <a:defRPr>
                <a:latin typeface="Work Sans"/>
                <a:ea typeface="Work Sans"/>
                <a:cs typeface="Work Sans"/>
                <a:sym typeface="Work Sans"/>
              </a:defRPr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●"/>
              <a:defRPr>
                <a:latin typeface="Work Sans"/>
                <a:ea typeface="Work Sans"/>
                <a:cs typeface="Work Sans"/>
                <a:sym typeface="Work Sans"/>
              </a:defRPr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○"/>
              <a:defRPr>
                <a:latin typeface="Work Sans"/>
                <a:ea typeface="Work Sans"/>
                <a:cs typeface="Work Sans"/>
                <a:sym typeface="Work Sans"/>
              </a:defRPr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■"/>
              <a:defRPr>
                <a:latin typeface="Work Sans"/>
                <a:ea typeface="Work Sans"/>
                <a:cs typeface="Work Sans"/>
                <a:sym typeface="Work Sans"/>
              </a:defRPr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●"/>
              <a:defRPr>
                <a:latin typeface="Work Sans"/>
                <a:ea typeface="Work Sans"/>
                <a:cs typeface="Work Sans"/>
                <a:sym typeface="Work Sans"/>
              </a:defRPr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○"/>
              <a:defRPr>
                <a:latin typeface="Work Sans"/>
                <a:ea typeface="Work Sans"/>
                <a:cs typeface="Work Sans"/>
                <a:sym typeface="Work Sans"/>
              </a:defRPr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■"/>
              <a:defRPr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76175" y="4767275"/>
            <a:ext cx="507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rm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5"/>
          <p:cNvPicPr preferRelativeResize="0"/>
          <p:nvPr/>
        </p:nvPicPr>
        <p:blipFill rotWithShape="1">
          <a:blip r:embed="rId2">
            <a:alphaModFix/>
          </a:blip>
          <a:srcRect b="2276" l="2280" r="55171" t="0"/>
          <a:stretch/>
        </p:blipFill>
        <p:spPr>
          <a:xfrm flipH="1" rot="10800000">
            <a:off x="0" y="1"/>
            <a:ext cx="3988900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5"/>
          <p:cNvPicPr preferRelativeResize="0"/>
          <p:nvPr/>
        </p:nvPicPr>
        <p:blipFill rotWithShape="1">
          <a:blip r:embed="rId2">
            <a:alphaModFix/>
          </a:blip>
          <a:srcRect b="2276" l="2278" r="6927" t="0"/>
          <a:stretch/>
        </p:blipFill>
        <p:spPr>
          <a:xfrm flipH="1" rot="10800000">
            <a:off x="602175" y="1"/>
            <a:ext cx="851205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5"/>
          <p:cNvSpPr txBox="1"/>
          <p:nvPr>
            <p:ph type="ctrTitle"/>
          </p:nvPr>
        </p:nvSpPr>
        <p:spPr>
          <a:xfrm>
            <a:off x="311704" y="537875"/>
            <a:ext cx="4757100" cy="225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Font typeface="Work Sans"/>
              <a:buNone/>
              <a:defRPr sz="4300">
                <a:latin typeface="Work Sans"/>
                <a:ea typeface="Work Sans"/>
                <a:cs typeface="Work Sans"/>
                <a:sym typeface="Work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" name="Google Shape;60;p15"/>
          <p:cNvSpPr txBox="1"/>
          <p:nvPr>
            <p:ph idx="1" type="subTitle"/>
          </p:nvPr>
        </p:nvSpPr>
        <p:spPr>
          <a:xfrm>
            <a:off x="311700" y="2797175"/>
            <a:ext cx="4629600" cy="8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ork Sans SemiBold"/>
              <a:buNone/>
              <a:defRPr sz="2400"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6"/>
          <p:cNvPicPr preferRelativeResize="0"/>
          <p:nvPr/>
        </p:nvPicPr>
        <p:blipFill rotWithShape="1">
          <a:blip r:embed="rId2">
            <a:alphaModFix/>
          </a:blip>
          <a:srcRect b="2044" l="8853" r="5603" t="12404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1390950"/>
            <a:ext cx="4647300" cy="263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Font typeface="Work Sans Light"/>
              <a:buNone/>
              <a:defRPr sz="4200">
                <a:latin typeface="Work Sans Light"/>
                <a:ea typeface="Work Sans Light"/>
                <a:cs typeface="Work Sans Light"/>
                <a:sym typeface="Work Sans Ligh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Font typeface="Open Sans"/>
              <a:buNone/>
              <a:defRPr sz="4200">
                <a:latin typeface="Open Sans"/>
                <a:ea typeface="Open Sans"/>
                <a:cs typeface="Open Sans"/>
                <a:sym typeface="Ope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Font typeface="Open Sans"/>
              <a:buNone/>
              <a:defRPr sz="4200">
                <a:latin typeface="Open Sans"/>
                <a:ea typeface="Open Sans"/>
                <a:cs typeface="Open Sans"/>
                <a:sym typeface="Ope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Font typeface="Open Sans"/>
              <a:buNone/>
              <a:defRPr sz="4200">
                <a:latin typeface="Open Sans"/>
                <a:ea typeface="Open Sans"/>
                <a:cs typeface="Open Sans"/>
                <a:sym typeface="Ope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Font typeface="Open Sans"/>
              <a:buNone/>
              <a:defRPr sz="4200">
                <a:latin typeface="Open Sans"/>
                <a:ea typeface="Open Sans"/>
                <a:cs typeface="Open Sans"/>
                <a:sym typeface="Ope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Font typeface="Open Sans"/>
              <a:buNone/>
              <a:defRPr sz="4200">
                <a:latin typeface="Open Sans"/>
                <a:ea typeface="Open Sans"/>
                <a:cs typeface="Open Sans"/>
                <a:sym typeface="Ope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Font typeface="Open Sans"/>
              <a:buNone/>
              <a:defRPr sz="4200">
                <a:latin typeface="Open Sans"/>
                <a:ea typeface="Open Sans"/>
                <a:cs typeface="Open Sans"/>
                <a:sym typeface="Ope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Font typeface="Open Sans"/>
              <a:buNone/>
              <a:defRPr sz="4200">
                <a:latin typeface="Open Sans"/>
                <a:ea typeface="Open Sans"/>
                <a:cs typeface="Open Sans"/>
                <a:sym typeface="Ope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Font typeface="Open Sans"/>
              <a:buNone/>
              <a:defRPr sz="4200"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Work Sans"/>
              <a:buChar char="●"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○"/>
              <a:defRPr>
                <a:latin typeface="Work Sans"/>
                <a:ea typeface="Work Sans"/>
                <a:cs typeface="Work Sans"/>
                <a:sym typeface="Work Sans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■"/>
              <a:defRPr>
                <a:latin typeface="Work Sans"/>
                <a:ea typeface="Work Sans"/>
                <a:cs typeface="Work Sans"/>
                <a:sym typeface="Work Sans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●"/>
              <a:defRPr>
                <a:latin typeface="Work Sans"/>
                <a:ea typeface="Work Sans"/>
                <a:cs typeface="Work Sans"/>
                <a:sym typeface="Work Sans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○"/>
              <a:defRPr>
                <a:latin typeface="Work Sans"/>
                <a:ea typeface="Work Sans"/>
                <a:cs typeface="Work Sans"/>
                <a:sym typeface="Work Sans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■"/>
              <a:defRPr>
                <a:latin typeface="Work Sans"/>
                <a:ea typeface="Work Sans"/>
                <a:cs typeface="Work Sans"/>
                <a:sym typeface="Work Sans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●"/>
              <a:defRPr>
                <a:latin typeface="Work Sans"/>
                <a:ea typeface="Work Sans"/>
                <a:cs typeface="Work Sans"/>
                <a:sym typeface="Work Sans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○"/>
              <a:defRPr>
                <a:latin typeface="Work Sans"/>
                <a:ea typeface="Work Sans"/>
                <a:cs typeface="Work Sans"/>
                <a:sym typeface="Work Sans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■"/>
              <a:defRPr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66" name="Google Shape;66;p17"/>
          <p:cNvSpPr txBox="1"/>
          <p:nvPr>
            <p:ph idx="12" type="sldNum"/>
          </p:nvPr>
        </p:nvSpPr>
        <p:spPr>
          <a:xfrm>
            <a:off x="839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7" name="Google Shape;6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3650" y="4870150"/>
            <a:ext cx="653800" cy="1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7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Work Sans"/>
              <a:buNone/>
              <a:defRPr>
                <a:solidFill>
                  <a:schemeClr val="accen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●"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 sz="1200">
                <a:latin typeface="Work Sans"/>
                <a:ea typeface="Work Sans"/>
                <a:cs typeface="Work Sans"/>
                <a:sym typeface="Work Sans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 sz="1200">
                <a:latin typeface="Work Sans"/>
                <a:ea typeface="Work Sans"/>
                <a:cs typeface="Work Sans"/>
                <a:sym typeface="Work Sans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 sz="1200">
                <a:latin typeface="Work Sans"/>
                <a:ea typeface="Work Sans"/>
                <a:cs typeface="Work Sans"/>
                <a:sym typeface="Work Sans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 sz="1200">
                <a:latin typeface="Work Sans"/>
                <a:ea typeface="Work Sans"/>
                <a:cs typeface="Work Sans"/>
                <a:sym typeface="Work Sans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 sz="1200">
                <a:latin typeface="Work Sans"/>
                <a:ea typeface="Work Sans"/>
                <a:cs typeface="Work Sans"/>
                <a:sym typeface="Work Sans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 sz="1200">
                <a:latin typeface="Work Sans"/>
                <a:ea typeface="Work Sans"/>
                <a:cs typeface="Work Sans"/>
                <a:sym typeface="Work Sans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 sz="1200">
                <a:latin typeface="Work Sans"/>
                <a:ea typeface="Work Sans"/>
                <a:cs typeface="Work Sans"/>
                <a:sym typeface="Work Sans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 sz="1200"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71" name="Google Shape;71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●"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 sz="1200">
                <a:latin typeface="Work Sans"/>
                <a:ea typeface="Work Sans"/>
                <a:cs typeface="Work Sans"/>
                <a:sym typeface="Work Sans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 sz="1200">
                <a:latin typeface="Work Sans"/>
                <a:ea typeface="Work Sans"/>
                <a:cs typeface="Work Sans"/>
                <a:sym typeface="Work Sans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 sz="1200">
                <a:latin typeface="Work Sans"/>
                <a:ea typeface="Work Sans"/>
                <a:cs typeface="Work Sans"/>
                <a:sym typeface="Work Sans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 sz="1200">
                <a:latin typeface="Work Sans"/>
                <a:ea typeface="Work Sans"/>
                <a:cs typeface="Work Sans"/>
                <a:sym typeface="Work Sans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 sz="1200">
                <a:latin typeface="Work Sans"/>
                <a:ea typeface="Work Sans"/>
                <a:cs typeface="Work Sans"/>
                <a:sym typeface="Work Sans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 sz="1200">
                <a:latin typeface="Work Sans"/>
                <a:ea typeface="Work Sans"/>
                <a:cs typeface="Work Sans"/>
                <a:sym typeface="Work Sans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 sz="1200">
                <a:latin typeface="Work Sans"/>
                <a:ea typeface="Work Sans"/>
                <a:cs typeface="Work Sans"/>
                <a:sym typeface="Work Sans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 sz="1200"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39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" name="Google Shape;7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3650" y="4870150"/>
            <a:ext cx="653800" cy="1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8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Work Sans"/>
              <a:buNone/>
              <a:defRPr>
                <a:solidFill>
                  <a:schemeClr val="accen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Work Sans"/>
              <a:buNone/>
              <a:defRPr>
                <a:solidFill>
                  <a:schemeClr val="accen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39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" name="Google Shape;7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3650" y="4870150"/>
            <a:ext cx="653800" cy="1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9"/>
          <p:cNvPicPr preferRelativeResize="0"/>
          <p:nvPr/>
        </p:nvPicPr>
        <p:blipFill rotWithShape="1">
          <a:blip r:embed="rId3">
            <a:alphaModFix/>
          </a:blip>
          <a:srcRect b="0" l="0" r="37099" t="42233"/>
          <a:stretch/>
        </p:blipFill>
        <p:spPr>
          <a:xfrm>
            <a:off x="7564250" y="0"/>
            <a:ext cx="1579750" cy="1151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 sz="1200">
                <a:latin typeface="Work Sans"/>
                <a:ea typeface="Work Sans"/>
                <a:cs typeface="Work Sans"/>
                <a:sym typeface="Work Sans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 sz="1200">
                <a:latin typeface="Work Sans"/>
                <a:ea typeface="Work Sans"/>
                <a:cs typeface="Work Sans"/>
                <a:sym typeface="Work Sans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 sz="1200">
                <a:latin typeface="Work Sans"/>
                <a:ea typeface="Work Sans"/>
                <a:cs typeface="Work Sans"/>
                <a:sym typeface="Work Sans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 sz="1200">
                <a:latin typeface="Work Sans"/>
                <a:ea typeface="Work Sans"/>
                <a:cs typeface="Work Sans"/>
                <a:sym typeface="Work Sans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 sz="1200">
                <a:latin typeface="Work Sans"/>
                <a:ea typeface="Work Sans"/>
                <a:cs typeface="Work Sans"/>
                <a:sym typeface="Work Sans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 sz="1200">
                <a:latin typeface="Work Sans"/>
                <a:ea typeface="Work Sans"/>
                <a:cs typeface="Work Sans"/>
                <a:sym typeface="Work Sans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 sz="1200">
                <a:latin typeface="Work Sans"/>
                <a:ea typeface="Work Sans"/>
                <a:cs typeface="Work Sans"/>
                <a:sym typeface="Work Sans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 sz="1200">
                <a:latin typeface="Work Sans"/>
                <a:ea typeface="Work Sans"/>
                <a:cs typeface="Work Sans"/>
                <a:sym typeface="Work Sans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 sz="1200"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839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4" name="Google Shape;84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3650" y="4870150"/>
            <a:ext cx="653800" cy="1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Font typeface="Work Sans ExtraLight"/>
              <a:buNone/>
              <a:defRPr sz="4800">
                <a:latin typeface="Work Sans ExtraLight"/>
                <a:ea typeface="Work Sans ExtraLight"/>
                <a:cs typeface="Work Sans ExtraLight"/>
                <a:sym typeface="Work Sans Extra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21"/>
          <p:cNvSpPr txBox="1"/>
          <p:nvPr>
            <p:ph idx="12" type="sldNum"/>
          </p:nvPr>
        </p:nvSpPr>
        <p:spPr>
          <a:xfrm>
            <a:off x="839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8" name="Google Shape;8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3650" y="4870150"/>
            <a:ext cx="653800" cy="1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21"/>
          <p:cNvPicPr preferRelativeResize="0"/>
          <p:nvPr/>
        </p:nvPicPr>
        <p:blipFill rotWithShape="1">
          <a:blip r:embed="rId3">
            <a:alphaModFix/>
          </a:blip>
          <a:srcRect b="0" l="0" r="24397" t="23383"/>
          <a:stretch/>
        </p:blipFill>
        <p:spPr>
          <a:xfrm>
            <a:off x="5775275" y="0"/>
            <a:ext cx="3368724" cy="2708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Work Sans"/>
              <a:buNone/>
              <a:defRPr sz="3600">
                <a:latin typeface="Work Sans"/>
                <a:ea typeface="Work Sans"/>
                <a:cs typeface="Work Sans"/>
                <a:sym typeface="Work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Font typeface="Work Sans"/>
              <a:buNone/>
              <a:defRPr sz="4200">
                <a:latin typeface="Work Sans"/>
                <a:ea typeface="Work Sans"/>
                <a:cs typeface="Work Sans"/>
                <a:sym typeface="Work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Font typeface="Work Sans"/>
              <a:buNone/>
              <a:defRPr sz="4200">
                <a:latin typeface="Work Sans"/>
                <a:ea typeface="Work Sans"/>
                <a:cs typeface="Work Sans"/>
                <a:sym typeface="Work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Font typeface="Work Sans"/>
              <a:buNone/>
              <a:defRPr sz="4200">
                <a:latin typeface="Work Sans"/>
                <a:ea typeface="Work Sans"/>
                <a:cs typeface="Work Sans"/>
                <a:sym typeface="Work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Font typeface="Work Sans"/>
              <a:buNone/>
              <a:defRPr sz="4200">
                <a:latin typeface="Work Sans"/>
                <a:ea typeface="Work Sans"/>
                <a:cs typeface="Work Sans"/>
                <a:sym typeface="Work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Font typeface="Work Sans"/>
              <a:buNone/>
              <a:defRPr sz="4200">
                <a:latin typeface="Work Sans"/>
                <a:ea typeface="Work Sans"/>
                <a:cs typeface="Work Sans"/>
                <a:sym typeface="Work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Font typeface="Work Sans"/>
              <a:buNone/>
              <a:defRPr sz="4200">
                <a:latin typeface="Work Sans"/>
                <a:ea typeface="Work Sans"/>
                <a:cs typeface="Work Sans"/>
                <a:sym typeface="Work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Font typeface="Work Sans"/>
              <a:buNone/>
              <a:defRPr sz="4200">
                <a:latin typeface="Work Sans"/>
                <a:ea typeface="Work Sans"/>
                <a:cs typeface="Work Sans"/>
                <a:sym typeface="Work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Font typeface="Work Sans"/>
              <a:buNone/>
              <a:defRPr sz="4200"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93" name="Google Shape;93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94" name="Google Shape;94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Work Sans"/>
              <a:buChar char="●"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○"/>
              <a:defRPr>
                <a:latin typeface="Work Sans"/>
                <a:ea typeface="Work Sans"/>
                <a:cs typeface="Work Sans"/>
                <a:sym typeface="Work Sans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■"/>
              <a:defRPr>
                <a:latin typeface="Work Sans"/>
                <a:ea typeface="Work Sans"/>
                <a:cs typeface="Work Sans"/>
                <a:sym typeface="Work Sans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●"/>
              <a:defRPr>
                <a:latin typeface="Work Sans"/>
                <a:ea typeface="Work Sans"/>
                <a:cs typeface="Work Sans"/>
                <a:sym typeface="Work Sans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○"/>
              <a:defRPr>
                <a:latin typeface="Work Sans"/>
                <a:ea typeface="Work Sans"/>
                <a:cs typeface="Work Sans"/>
                <a:sym typeface="Work Sans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■"/>
              <a:defRPr>
                <a:latin typeface="Work Sans"/>
                <a:ea typeface="Work Sans"/>
                <a:cs typeface="Work Sans"/>
                <a:sym typeface="Work Sans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●"/>
              <a:defRPr>
                <a:latin typeface="Work Sans"/>
                <a:ea typeface="Work Sans"/>
                <a:cs typeface="Work Sans"/>
                <a:sym typeface="Work Sans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○"/>
              <a:defRPr>
                <a:latin typeface="Work Sans"/>
                <a:ea typeface="Work Sans"/>
                <a:cs typeface="Work Sans"/>
                <a:sym typeface="Work Sans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■"/>
              <a:defRPr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39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6" name="Google Shape;96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3650" y="4870150"/>
            <a:ext cx="653800" cy="1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</a:lstStyle>
          <a:p/>
        </p:txBody>
      </p:sp>
      <p:sp>
        <p:nvSpPr>
          <p:cNvPr id="99" name="Google Shape;99;p23"/>
          <p:cNvSpPr txBox="1"/>
          <p:nvPr>
            <p:ph idx="12" type="sldNum"/>
          </p:nvPr>
        </p:nvSpPr>
        <p:spPr>
          <a:xfrm>
            <a:off x="839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Font typeface="Work Sans Light"/>
              <a:buNone/>
              <a:defRPr sz="12000">
                <a:latin typeface="Work Sans Light"/>
                <a:ea typeface="Work Sans Light"/>
                <a:cs typeface="Work Sans Light"/>
                <a:sym typeface="Work Sans Ligh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2" name="Google Shape;102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Font typeface="Work Sans"/>
              <a:buChar char="●"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○"/>
              <a:defRPr>
                <a:latin typeface="Work Sans"/>
                <a:ea typeface="Work Sans"/>
                <a:cs typeface="Work Sans"/>
                <a:sym typeface="Work Sans"/>
              </a:defRPr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■"/>
              <a:defRPr>
                <a:latin typeface="Work Sans"/>
                <a:ea typeface="Work Sans"/>
                <a:cs typeface="Work Sans"/>
                <a:sym typeface="Work Sans"/>
              </a:defRPr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●"/>
              <a:defRPr>
                <a:latin typeface="Work Sans"/>
                <a:ea typeface="Work Sans"/>
                <a:cs typeface="Work Sans"/>
                <a:sym typeface="Work Sans"/>
              </a:defRPr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○"/>
              <a:defRPr>
                <a:latin typeface="Work Sans"/>
                <a:ea typeface="Work Sans"/>
                <a:cs typeface="Work Sans"/>
                <a:sym typeface="Work Sans"/>
              </a:defRPr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■"/>
              <a:defRPr>
                <a:latin typeface="Work Sans"/>
                <a:ea typeface="Work Sans"/>
                <a:cs typeface="Work Sans"/>
                <a:sym typeface="Work Sans"/>
              </a:defRPr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●"/>
              <a:defRPr>
                <a:latin typeface="Work Sans"/>
                <a:ea typeface="Work Sans"/>
                <a:cs typeface="Work Sans"/>
                <a:sym typeface="Work Sans"/>
              </a:defRPr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○"/>
              <a:defRPr>
                <a:latin typeface="Work Sans"/>
                <a:ea typeface="Work Sans"/>
                <a:cs typeface="Work Sans"/>
                <a:sym typeface="Work Sans"/>
              </a:defRPr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■"/>
              <a:defRPr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103" name="Google Shape;103;p24"/>
          <p:cNvSpPr txBox="1"/>
          <p:nvPr>
            <p:ph idx="12" type="sldNum"/>
          </p:nvPr>
        </p:nvSpPr>
        <p:spPr>
          <a:xfrm>
            <a:off x="839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Logo and Accent">
  <p:cSld name="Blank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3650" y="4870150"/>
            <a:ext cx="653800" cy="1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5"/>
          <p:cNvPicPr preferRelativeResize="0"/>
          <p:nvPr/>
        </p:nvPicPr>
        <p:blipFill rotWithShape="1">
          <a:blip r:embed="rId3">
            <a:alphaModFix/>
          </a:blip>
          <a:srcRect b="0" l="0" r="37099" t="42233"/>
          <a:stretch/>
        </p:blipFill>
        <p:spPr>
          <a:xfrm>
            <a:off x="7564250" y="0"/>
            <a:ext cx="1579750" cy="1151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Logo">
  <p:cSld name="Blank_2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3650" y="4870150"/>
            <a:ext cx="653800" cy="1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Work Sans"/>
              <a:buChar char="●"/>
              <a:defRPr sz="18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○"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■"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●"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○"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■"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●"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○"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■"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39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accent5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rtl="0" algn="r">
              <a:buNone/>
              <a:defRPr sz="1000">
                <a:solidFill>
                  <a:schemeClr val="accent5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rtl="0" algn="r">
              <a:buNone/>
              <a:defRPr sz="1000">
                <a:solidFill>
                  <a:schemeClr val="accent5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rtl="0" algn="r">
              <a:buNone/>
              <a:defRPr sz="1000">
                <a:solidFill>
                  <a:schemeClr val="accent5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rtl="0" algn="r">
              <a:buNone/>
              <a:defRPr sz="1000">
                <a:solidFill>
                  <a:schemeClr val="accent5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rtl="0" algn="r">
              <a:buNone/>
              <a:defRPr sz="1000">
                <a:solidFill>
                  <a:schemeClr val="accent5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rtl="0" algn="r">
              <a:buNone/>
              <a:defRPr sz="1000">
                <a:solidFill>
                  <a:schemeClr val="accent5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rtl="0" algn="r">
              <a:buNone/>
              <a:defRPr sz="1000">
                <a:solidFill>
                  <a:schemeClr val="accent5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rtl="0" algn="r">
              <a:buNone/>
              <a:defRPr sz="1000">
                <a:solidFill>
                  <a:schemeClr val="accent5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iki.riseproject.dev/display/HOME/RVA23+Profile" TargetMode="External"/><Relationship Id="rId4" Type="http://schemas.openxmlformats.org/officeDocument/2006/relationships/hyperlink" Target="https://wiki.riseproject.dev/display/HOME/RVA23+Profil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iki.riseproject.dev/display/HOME/2023-2H" TargetMode="External"/><Relationship Id="rId4" Type="http://schemas.openxmlformats.org/officeDocument/2006/relationships/hyperlink" Target="https://wiki.riseproject.dev/display/HOME/2023-2H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iki.riseproject.dev/display/HOME/2023-2H" TargetMode="External"/><Relationship Id="rId4" Type="http://schemas.openxmlformats.org/officeDocument/2006/relationships/hyperlink" Target="https://wiki.riseproject.dev/display/HOME/2023-2H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8"/>
          <p:cNvSpPr txBox="1"/>
          <p:nvPr>
            <p:ph idx="1" type="subTitle"/>
          </p:nvPr>
        </p:nvSpPr>
        <p:spPr>
          <a:xfrm>
            <a:off x="142575" y="4187150"/>
            <a:ext cx="65082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Kernel and Virtualization Working Group Deepdive</a:t>
            </a:r>
            <a:br>
              <a:rPr lang="en" sz="2000"/>
            </a:br>
            <a:r>
              <a:rPr lang="en" sz="2000"/>
              <a:t>22/08/2024</a:t>
            </a:r>
            <a:endParaRPr sz="2000"/>
          </a:p>
        </p:txBody>
      </p:sp>
      <p:pic>
        <p:nvPicPr>
          <p:cNvPr id="115" name="Google Shape;11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6450" y="640625"/>
            <a:ext cx="4223876" cy="176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21" name="Google Shape;121;p29"/>
          <p:cNvSpPr txBox="1"/>
          <p:nvPr>
            <p:ph idx="4294967295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E17"/>
              </a:buClr>
              <a:buSzPts val="1800"/>
              <a:buChar char="●"/>
            </a:pPr>
            <a:r>
              <a:rPr lang="en"/>
              <a:t>Latest Linux release updates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E17"/>
              </a:buClr>
              <a:buSzPts val="1800"/>
              <a:buChar char="●"/>
            </a:pPr>
            <a:r>
              <a:rPr lang="en"/>
              <a:t>RVA23 profile: Discovery updates</a:t>
            </a:r>
            <a:endParaRPr sz="16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E17"/>
              </a:buClr>
              <a:buSzPts val="1800"/>
              <a:buChar char="●"/>
            </a:pPr>
            <a:r>
              <a:rPr lang="en"/>
              <a:t>2023-2H: Project updates</a:t>
            </a:r>
            <a:endParaRPr sz="16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E17"/>
              </a:buClr>
              <a:buSzPts val="1800"/>
              <a:buChar char="●"/>
            </a:pPr>
            <a:r>
              <a:rPr lang="en"/>
              <a:t>2024-1H: Project updates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E17"/>
              </a:buClr>
              <a:buSzPts val="1800"/>
              <a:buChar char="●"/>
            </a:pPr>
            <a:r>
              <a:rPr lang="en"/>
              <a:t>2024-2H: Priorities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Latest Linux release updates</a:t>
            </a:r>
            <a:endParaRPr/>
          </a:p>
        </p:txBody>
      </p:sp>
      <p:sp>
        <p:nvSpPr>
          <p:cNvPr id="127" name="Google Shape;127;p30"/>
          <p:cNvSpPr txBox="1"/>
          <p:nvPr/>
        </p:nvSpPr>
        <p:spPr>
          <a:xfrm>
            <a:off x="311700" y="941525"/>
            <a:ext cx="8520600" cy="39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DE17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Linux-6.</a:t>
            </a:r>
            <a:r>
              <a:rPr lang="en" sz="1800">
                <a:latin typeface="Work Sans"/>
                <a:ea typeface="Work Sans"/>
                <a:cs typeface="Work Sans"/>
                <a:sym typeface="Work Sans"/>
              </a:rPr>
              <a:t>11-rc4</a:t>
            </a:r>
            <a:r>
              <a:rPr lang="en" sz="18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" sz="1800">
                <a:latin typeface="Work Sans"/>
                <a:ea typeface="Work Sans"/>
                <a:cs typeface="Work Sans"/>
                <a:sym typeface="Work Sans"/>
              </a:rPr>
              <a:t>available this week on kernel.org </a:t>
            </a:r>
            <a:r>
              <a:rPr lang="en" sz="1800">
                <a:latin typeface="Work Sans"/>
                <a:ea typeface="Work Sans"/>
                <a:cs typeface="Work Sans"/>
                <a:sym typeface="Work Sans"/>
              </a:rPr>
              <a:t>and final Linux-6.11 will be available in September 2024</a:t>
            </a:r>
            <a:br>
              <a:rPr lang="en" sz="1800">
                <a:latin typeface="Work Sans"/>
                <a:ea typeface="Work Sans"/>
                <a:cs typeface="Work Sans"/>
                <a:sym typeface="Work Sans"/>
              </a:rPr>
            </a:br>
            <a:endParaRPr sz="1800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DE17"/>
              </a:buClr>
              <a:buSzPts val="1800"/>
              <a:buChar char="●"/>
            </a:pPr>
            <a:r>
              <a:rPr lang="en" sz="1800">
                <a:latin typeface="Work Sans"/>
                <a:ea typeface="Work Sans"/>
                <a:cs typeface="Work Sans"/>
                <a:sym typeface="Work Sans"/>
              </a:rPr>
              <a:t>Noteworthy stuff already merged for Linux-6.11</a:t>
            </a:r>
            <a:r>
              <a:rPr lang="en" sz="18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:</a:t>
            </a:r>
            <a:endParaRPr sz="1800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b="1" lang="en" sz="16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Linux RISC-V</a:t>
            </a:r>
            <a:endParaRPr b="1" sz="1600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latin typeface="Work Sans"/>
                <a:ea typeface="Work Sans"/>
                <a:cs typeface="Work Sans"/>
                <a:sym typeface="Work Sans"/>
              </a:rPr>
              <a:t>Memory Hot(Un)plug</a:t>
            </a:r>
            <a:endParaRPr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ork Sans"/>
              <a:buChar char="■"/>
            </a:pPr>
            <a:r>
              <a:rPr lang="en">
                <a:latin typeface="Work Sans"/>
                <a:ea typeface="Work Sans"/>
                <a:cs typeface="Work Sans"/>
                <a:sym typeface="Work Sans"/>
              </a:rPr>
              <a:t>ACPI </a:t>
            </a: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SMBIOS/DMI, </a:t>
            </a:r>
            <a:r>
              <a:rPr lang="en">
                <a:latin typeface="Work Sans"/>
                <a:ea typeface="Work Sans"/>
                <a:cs typeface="Work Sans"/>
                <a:sym typeface="Work Sans"/>
              </a:rPr>
              <a:t>SPCR, PPTT, and NUMA support</a:t>
            </a:r>
            <a:endParaRPr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ork Sans"/>
              <a:buChar char="■"/>
            </a:pPr>
            <a:r>
              <a:rPr lang="en">
                <a:latin typeface="Work Sans"/>
                <a:ea typeface="Work Sans"/>
                <a:cs typeface="Work Sans"/>
                <a:sym typeface="Work Sans"/>
              </a:rPr>
              <a:t>Performance improvements and cleanups for text patching</a:t>
            </a:r>
            <a:endParaRPr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ork Sans"/>
              <a:buChar char="■"/>
            </a:pPr>
            <a:r>
              <a:rPr lang="en">
                <a:latin typeface="Work Sans"/>
                <a:ea typeface="Work Sans"/>
                <a:cs typeface="Work Sans"/>
                <a:sym typeface="Work Sans"/>
              </a:rPr>
              <a:t>Support Zve32[xf] and Zve64[xfd] Vector sub-extensions</a:t>
            </a:r>
            <a:endParaRPr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ork Sans"/>
              <a:buChar char="■"/>
            </a:pPr>
            <a:r>
              <a:rPr lang="en">
                <a:latin typeface="Work Sans"/>
                <a:ea typeface="Work Sans"/>
                <a:cs typeface="Work Sans"/>
                <a:sym typeface="Work Sans"/>
              </a:rPr>
              <a:t>Use Zawrs for spinlocks when available</a:t>
            </a:r>
            <a:endParaRPr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ork Sans"/>
              <a:buChar char="■"/>
            </a:pPr>
            <a:r>
              <a:rPr lang="en">
                <a:latin typeface="Work Sans"/>
                <a:ea typeface="Work Sans"/>
                <a:cs typeface="Work Sans"/>
                <a:sym typeface="Work Sans"/>
              </a:rPr>
              <a:t>HWPROBE support for time CSR frequency</a:t>
            </a:r>
            <a:endParaRPr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ork Sans"/>
              <a:buChar char="■"/>
            </a:pPr>
            <a:r>
              <a:rPr lang="en">
                <a:latin typeface="Work Sans"/>
                <a:ea typeface="Work Sans"/>
                <a:cs typeface="Work Sans"/>
                <a:sym typeface="Work Sans"/>
              </a:rPr>
              <a:t>HWPROBE support for highest user-space virtual address</a:t>
            </a:r>
            <a:endParaRPr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latin typeface="Work Sans"/>
                <a:ea typeface="Work Sans"/>
                <a:cs typeface="Work Sans"/>
                <a:sym typeface="Work Sans"/>
              </a:rPr>
              <a:t>HWPROBE support for Zimop, Zcmop, Zca, Zcf, Zcd, Zcb, and Zawrs extensions</a:t>
            </a:r>
            <a:br>
              <a:rPr lang="en">
                <a:latin typeface="Work Sans"/>
                <a:ea typeface="Work Sans"/>
                <a:cs typeface="Work Sans"/>
                <a:sym typeface="Work Sans"/>
              </a:rPr>
            </a:br>
            <a:endParaRPr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b="1" lang="en" sz="16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KVM RISC-V</a:t>
            </a:r>
            <a:endParaRPr b="1" sz="1600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latin typeface="Work Sans"/>
                <a:ea typeface="Work Sans"/>
                <a:cs typeface="Work Sans"/>
                <a:sym typeface="Work Sans"/>
              </a:rPr>
              <a:t>AIA IMSIC HW guest file support</a:t>
            </a:r>
            <a:endParaRPr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ork Sans"/>
              <a:buChar char="■"/>
            </a:pPr>
            <a:r>
              <a:rPr lang="en">
                <a:latin typeface="Work Sans"/>
                <a:ea typeface="Work Sans"/>
                <a:cs typeface="Work Sans"/>
                <a:sym typeface="Work Sans"/>
              </a:rPr>
              <a:t>Perf KVM stat support</a:t>
            </a:r>
            <a:endParaRPr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ork Sans"/>
              <a:buChar char="■"/>
            </a:pPr>
            <a:r>
              <a:rPr lang="en">
                <a:latin typeface="Work Sans"/>
                <a:ea typeface="Work Sans"/>
                <a:cs typeface="Work Sans"/>
                <a:sym typeface="Work Sans"/>
              </a:rPr>
              <a:t>Virtualize Zawrs for guest</a:t>
            </a:r>
            <a:endParaRPr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latin typeface="Work Sans"/>
                <a:ea typeface="Work Sans"/>
                <a:cs typeface="Work Sans"/>
                <a:sym typeface="Work Sans"/>
              </a:rPr>
              <a:t>ONE_REG support for </a:t>
            </a: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Zimop, Zcmop, Zca, Zcf, Zcd, Zcb, and Zawrs extensions</a:t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1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RVA23 profile: Discovery updates</a:t>
            </a:r>
            <a:endParaRPr/>
          </a:p>
        </p:txBody>
      </p:sp>
      <p:sp>
        <p:nvSpPr>
          <p:cNvPr id="133" name="Google Shape;133;p31"/>
          <p:cNvSpPr txBox="1"/>
          <p:nvPr/>
        </p:nvSpPr>
        <p:spPr>
          <a:xfrm>
            <a:off x="374625" y="941525"/>
            <a:ext cx="77058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Work Sans"/>
              <a:buChar char="●"/>
            </a:pPr>
            <a:r>
              <a:rPr b="1" lang="en" sz="18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HWPROBE additions in Linux-6.11</a:t>
            </a:r>
            <a:endParaRPr b="1" sz="18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○"/>
            </a:pP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Zimop, Zcmop, Zcb, Zawrs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○"/>
            </a:pP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Highest virtual address for user-space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Work Sans"/>
              <a:buChar char="●"/>
            </a:pPr>
            <a:r>
              <a:rPr b="1" lang="en" sz="18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KVM ONE_REG additions in Linux-6.11</a:t>
            </a:r>
            <a:endParaRPr b="1" sz="18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○"/>
            </a:pP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Zimop, Zcmop, Zcb, Zawrs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DE17"/>
              </a:buClr>
              <a:buSzPts val="1800"/>
              <a:buFont typeface="Work Sans"/>
              <a:buChar char="●"/>
            </a:pPr>
            <a:r>
              <a:rPr b="1" lang="en" sz="1800">
                <a:latin typeface="Work Sans"/>
                <a:ea typeface="Work Sans"/>
                <a:cs typeface="Work Sans"/>
                <a:sym typeface="Work Sans"/>
              </a:rPr>
              <a:t>Kernel HWPROBE </a:t>
            </a:r>
            <a:r>
              <a:rPr lang="en" sz="1800">
                <a:latin typeface="Work Sans"/>
                <a:ea typeface="Work Sans"/>
                <a:cs typeface="Work Sans"/>
                <a:sym typeface="Work Sans"/>
              </a:rPr>
              <a:t>(22-08-2024</a:t>
            </a:r>
            <a:r>
              <a:rPr lang="en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, </a:t>
            </a:r>
            <a:r>
              <a:rPr lang="en" sz="1800" u="sng">
                <a:solidFill>
                  <a:schemeClr val="hlink"/>
                </a:solidFill>
                <a:latin typeface="Work Sans"/>
                <a:ea typeface="Work Sans"/>
                <a:cs typeface="Work Sans"/>
                <a:sym typeface="Work Sans"/>
                <a:hlinkClick r:id="rId3"/>
              </a:rPr>
              <a:t>wiki</a:t>
            </a:r>
            <a:r>
              <a:rPr lang="en" sz="1800">
                <a:latin typeface="Work Sans"/>
                <a:ea typeface="Work Sans"/>
                <a:cs typeface="Work Sans"/>
                <a:sym typeface="Work Sans"/>
              </a:rPr>
              <a:t>)</a:t>
            </a:r>
            <a:endParaRPr sz="1800"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○"/>
            </a:pPr>
            <a:r>
              <a:rPr lang="en">
                <a:latin typeface="Work Sans"/>
                <a:ea typeface="Work Sans"/>
                <a:cs typeface="Work Sans"/>
                <a:sym typeface="Work Sans"/>
              </a:rPr>
              <a:t>NA - 33 (39.76%), TBD - 7 (8.43%), </a:t>
            </a:r>
            <a:r>
              <a:rPr b="1" lang="en">
                <a:solidFill>
                  <a:srgbClr val="6AA84F"/>
                </a:solidFill>
                <a:latin typeface="Work Sans"/>
                <a:ea typeface="Work Sans"/>
                <a:cs typeface="Work Sans"/>
                <a:sym typeface="Work Sans"/>
              </a:rPr>
              <a:t>COMPLETED - 43 (51.81%)</a:t>
            </a: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, TOTAL - 83</a:t>
            </a:r>
            <a:endParaRPr b="1">
              <a:solidFill>
                <a:srgbClr val="6AA84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DE17"/>
              </a:buClr>
              <a:buSzPts val="1800"/>
              <a:buFont typeface="Work Sans"/>
              <a:buChar char="●"/>
            </a:pPr>
            <a:r>
              <a:rPr b="1" lang="en" sz="1800">
                <a:latin typeface="Work Sans"/>
                <a:ea typeface="Work Sans"/>
                <a:cs typeface="Work Sans"/>
                <a:sym typeface="Work Sans"/>
              </a:rPr>
              <a:t>KVM ONE_REG </a:t>
            </a:r>
            <a:r>
              <a:rPr lang="en" sz="1800">
                <a:latin typeface="Work Sans"/>
                <a:ea typeface="Work Sans"/>
                <a:cs typeface="Work Sans"/>
                <a:sym typeface="Work Sans"/>
              </a:rPr>
              <a:t>(22-08-2024</a:t>
            </a:r>
            <a:r>
              <a:rPr lang="en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, </a:t>
            </a:r>
            <a:r>
              <a:rPr lang="en" sz="1800" u="sng">
                <a:solidFill>
                  <a:schemeClr val="hlink"/>
                </a:solidFill>
                <a:latin typeface="Work Sans"/>
                <a:ea typeface="Work Sans"/>
                <a:cs typeface="Work Sans"/>
                <a:sym typeface="Work Sans"/>
                <a:hlinkClick r:id="rId4"/>
              </a:rPr>
              <a:t>wiki</a:t>
            </a:r>
            <a:r>
              <a:rPr lang="en" sz="1800">
                <a:latin typeface="Work Sans"/>
                <a:ea typeface="Work Sans"/>
                <a:cs typeface="Work Sans"/>
                <a:sym typeface="Work Sans"/>
              </a:rPr>
              <a:t>)</a:t>
            </a:r>
            <a:endParaRPr sz="1800"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Char char="○"/>
            </a:pPr>
            <a:r>
              <a:rPr lang="en">
                <a:latin typeface="Work Sans"/>
                <a:ea typeface="Work Sans"/>
                <a:cs typeface="Work Sans"/>
                <a:sym typeface="Work Sans"/>
              </a:rPr>
              <a:t>NA - 10 (12.05%), TBD - 20 (24.10%), </a:t>
            </a:r>
            <a:r>
              <a:rPr b="1" lang="en">
                <a:solidFill>
                  <a:srgbClr val="6AA84F"/>
                </a:solidFill>
                <a:latin typeface="Work Sans"/>
                <a:ea typeface="Work Sans"/>
                <a:cs typeface="Work Sans"/>
                <a:sym typeface="Work Sans"/>
              </a:rPr>
              <a:t>COMPLETED - 53 (63.85%)</a:t>
            </a: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, TOTAL - 83</a:t>
            </a:r>
            <a:endParaRPr b="1">
              <a:solidFill>
                <a:srgbClr val="6AA84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2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2023-2H: Project updates</a:t>
            </a:r>
            <a:endParaRPr/>
          </a:p>
        </p:txBody>
      </p:sp>
      <p:sp>
        <p:nvSpPr>
          <p:cNvPr id="139" name="Google Shape;139;p32"/>
          <p:cNvSpPr txBox="1"/>
          <p:nvPr/>
        </p:nvSpPr>
        <p:spPr>
          <a:xfrm>
            <a:off x="374625" y="941525"/>
            <a:ext cx="83478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DE17"/>
              </a:buClr>
              <a:buSzPts val="1800"/>
              <a:buFont typeface="Work Sans"/>
              <a:buChar char="●"/>
            </a:pPr>
            <a:r>
              <a:rPr b="1" lang="en" sz="1800">
                <a:latin typeface="Work Sans"/>
                <a:ea typeface="Work Sans"/>
                <a:cs typeface="Work Sans"/>
                <a:sym typeface="Work Sans"/>
              </a:rPr>
              <a:t>2023-2H: Projects moved to 2024-2H due to SBI v3.0 dependency</a:t>
            </a:r>
            <a:endParaRPr b="1" sz="1800"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Char char="○"/>
            </a:pPr>
            <a:r>
              <a:rPr b="1" lang="en">
                <a:latin typeface="Work Sans"/>
                <a:ea typeface="Work Sans"/>
                <a:cs typeface="Work Sans"/>
                <a:sym typeface="Work Sans"/>
              </a:rPr>
              <a:t>LK_01_005 </a:t>
            </a:r>
            <a:r>
              <a:rPr lang="en">
                <a:latin typeface="Work Sans"/>
                <a:ea typeface="Work Sans"/>
                <a:cs typeface="Work Sans"/>
                <a:sym typeface="Work Sans"/>
              </a:rPr>
              <a:t>- Native/hosted debug support</a:t>
            </a:r>
            <a:endParaRPr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Char char="○"/>
            </a:pPr>
            <a:r>
              <a:rPr b="1" lang="en">
                <a:latin typeface="Work Sans"/>
                <a:ea typeface="Work Sans"/>
                <a:cs typeface="Work Sans"/>
                <a:sym typeface="Work Sans"/>
              </a:rPr>
              <a:t>LK_02_011  </a:t>
            </a:r>
            <a:r>
              <a:rPr lang="en">
                <a:latin typeface="Work Sans"/>
                <a:ea typeface="Work Sans"/>
                <a:cs typeface="Work Sans"/>
                <a:sym typeface="Work Sans"/>
              </a:rPr>
              <a:t>- KVM Native/hosted debug virtualization</a:t>
            </a:r>
            <a:br>
              <a:rPr b="1" lang="en">
                <a:latin typeface="Work Sans"/>
                <a:ea typeface="Work Sans"/>
                <a:cs typeface="Work Sans"/>
                <a:sym typeface="Work Sans"/>
              </a:rPr>
            </a:br>
            <a:endParaRPr b="1"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DE17"/>
              </a:buClr>
              <a:buSzPts val="1800"/>
              <a:buFont typeface="Work Sans"/>
              <a:buChar char="●"/>
            </a:pPr>
            <a:r>
              <a:rPr b="1" lang="en" sz="1800">
                <a:latin typeface="Work Sans"/>
                <a:ea typeface="Work Sans"/>
                <a:cs typeface="Work Sans"/>
                <a:sym typeface="Work Sans"/>
              </a:rPr>
              <a:t>2023-2H: Recently upstreamed projects</a:t>
            </a:r>
            <a:endParaRPr b="1" sz="1800"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Char char="○"/>
            </a:pPr>
            <a:r>
              <a:rPr b="1"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LK_00_005</a:t>
            </a: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 - Memory Hot(Un)plug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○"/>
            </a:pPr>
            <a:r>
              <a:rPr b="1"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LK_02_003</a:t>
            </a: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 - KVM AIA IMSIC guest file support</a:t>
            </a:r>
            <a:b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</a:br>
            <a:endParaRPr b="1" sz="1600"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DE17"/>
              </a:buClr>
              <a:buSzPts val="1800"/>
              <a:buFont typeface="Work Sans"/>
              <a:buChar char="●"/>
            </a:pPr>
            <a:r>
              <a:rPr b="1" lang="en" sz="1800">
                <a:latin typeface="Work Sans"/>
                <a:ea typeface="Work Sans"/>
                <a:cs typeface="Work Sans"/>
                <a:sym typeface="Work Sans"/>
              </a:rPr>
              <a:t>2023-2H: Development status </a:t>
            </a:r>
            <a:r>
              <a:rPr lang="en" sz="1800">
                <a:latin typeface="Work Sans"/>
                <a:ea typeface="Work Sans"/>
                <a:cs typeface="Work Sans"/>
                <a:sym typeface="Work Sans"/>
              </a:rPr>
              <a:t>(22-08-2024</a:t>
            </a:r>
            <a:r>
              <a:rPr lang="en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, </a:t>
            </a:r>
            <a:r>
              <a:rPr lang="en" sz="1800" u="sng">
                <a:solidFill>
                  <a:schemeClr val="hlink"/>
                </a:solidFill>
                <a:latin typeface="Work Sans"/>
                <a:ea typeface="Work Sans"/>
                <a:cs typeface="Work Sans"/>
                <a:sym typeface="Work Sans"/>
                <a:hlinkClick r:id="rId3"/>
              </a:rPr>
              <a:t>wiki</a:t>
            </a:r>
            <a:r>
              <a:rPr lang="en" sz="1800">
                <a:latin typeface="Work Sans"/>
                <a:ea typeface="Work Sans"/>
                <a:cs typeface="Work Sans"/>
                <a:sym typeface="Work Sans"/>
              </a:rPr>
              <a:t>)</a:t>
            </a:r>
            <a:endParaRPr sz="1800"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Char char="○"/>
            </a:pPr>
            <a:r>
              <a:rPr b="1" lang="en">
                <a:solidFill>
                  <a:srgbClr val="6AA84F"/>
                </a:solidFill>
                <a:latin typeface="Work Sans"/>
                <a:ea typeface="Work Sans"/>
                <a:cs typeface="Work Sans"/>
                <a:sym typeface="Work Sans"/>
              </a:rPr>
              <a:t>COMPLETED - 25 (100%)</a:t>
            </a: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, TOTAL - 25</a:t>
            </a:r>
            <a:endParaRPr b="1">
              <a:solidFill>
                <a:srgbClr val="6AA84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DE17"/>
              </a:buClr>
              <a:buSzPts val="1800"/>
              <a:buFont typeface="Work Sans"/>
              <a:buChar char="●"/>
            </a:pPr>
            <a:r>
              <a:rPr b="1" lang="en" sz="1800">
                <a:latin typeface="Work Sans"/>
                <a:ea typeface="Work Sans"/>
                <a:cs typeface="Work Sans"/>
                <a:sym typeface="Work Sans"/>
              </a:rPr>
              <a:t>2023-2H: Upstreaming status </a:t>
            </a:r>
            <a:r>
              <a:rPr lang="en" sz="1800">
                <a:latin typeface="Work Sans"/>
                <a:ea typeface="Work Sans"/>
                <a:cs typeface="Work Sans"/>
                <a:sym typeface="Work Sans"/>
              </a:rPr>
              <a:t>(</a:t>
            </a:r>
            <a:r>
              <a:rPr lang="en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22</a:t>
            </a:r>
            <a:r>
              <a:rPr lang="en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-08-2024, </a:t>
            </a:r>
            <a:r>
              <a:rPr lang="en" sz="1800" u="sng">
                <a:solidFill>
                  <a:schemeClr val="hlink"/>
                </a:solidFill>
                <a:latin typeface="Work Sans"/>
                <a:ea typeface="Work Sans"/>
                <a:cs typeface="Work Sans"/>
                <a:sym typeface="Work Sans"/>
                <a:hlinkClick r:id="rId4"/>
              </a:rPr>
              <a:t>wiki</a:t>
            </a:r>
            <a:r>
              <a:rPr lang="en" sz="1800">
                <a:latin typeface="Work Sans"/>
                <a:ea typeface="Work Sans"/>
                <a:cs typeface="Work Sans"/>
                <a:sym typeface="Work Sans"/>
              </a:rPr>
              <a:t>)</a:t>
            </a:r>
            <a:endParaRPr sz="1800"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Char char="○"/>
            </a:pPr>
            <a:r>
              <a:rPr lang="en">
                <a:latin typeface="Work Sans"/>
                <a:ea typeface="Work Sans"/>
                <a:cs typeface="Work Sans"/>
                <a:sym typeface="Work Sans"/>
              </a:rPr>
              <a:t>TBD - 1 (4%), ONGOING - 3 (12%), </a:t>
            </a:r>
            <a:r>
              <a:rPr b="1" lang="en">
                <a:solidFill>
                  <a:srgbClr val="6AA84F"/>
                </a:solidFill>
                <a:latin typeface="Work Sans"/>
                <a:ea typeface="Work Sans"/>
                <a:cs typeface="Work Sans"/>
                <a:sym typeface="Work Sans"/>
              </a:rPr>
              <a:t>COMPLETED - 21 (84%)</a:t>
            </a: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, TOTAL - 25</a:t>
            </a:r>
            <a:endParaRPr b="1">
              <a:solidFill>
                <a:srgbClr val="6AA84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3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2024-1H: Project updates</a:t>
            </a:r>
            <a:endParaRPr/>
          </a:p>
        </p:txBody>
      </p:sp>
      <p:sp>
        <p:nvSpPr>
          <p:cNvPr id="145" name="Google Shape;145;p33"/>
          <p:cNvSpPr txBox="1"/>
          <p:nvPr/>
        </p:nvSpPr>
        <p:spPr>
          <a:xfrm>
            <a:off x="374625" y="941525"/>
            <a:ext cx="83478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DE17"/>
              </a:buClr>
              <a:buSzPts val="1800"/>
              <a:buFont typeface="Work Sans"/>
              <a:buChar char="●"/>
            </a:pPr>
            <a:r>
              <a:rPr b="1" lang="en" sz="1800">
                <a:latin typeface="Work Sans"/>
                <a:ea typeface="Work Sans"/>
                <a:cs typeface="Work Sans"/>
                <a:sym typeface="Work Sans"/>
              </a:rPr>
              <a:t>2024-1H: Recently upstreamed projects</a:t>
            </a:r>
            <a:endParaRPr b="1" sz="1800"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Char char="○"/>
            </a:pPr>
            <a:r>
              <a:rPr b="1"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LK_01_015  </a:t>
            </a: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- PMU snapshot support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○"/>
            </a:pPr>
            <a:r>
              <a:rPr b="1"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LK_01_019 </a:t>
            </a: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 - Zawrs support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○"/>
            </a:pPr>
            <a:r>
              <a:rPr b="1"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LK_01_029</a:t>
            </a: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 - ACPI NUMA support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○"/>
            </a:pPr>
            <a:r>
              <a:rPr b="1"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LK_01_030</a:t>
            </a: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 - ACPI PPTT support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○"/>
            </a:pPr>
            <a:r>
              <a:rPr b="1"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LK_01_035</a:t>
            </a: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 - ACPI SPCR support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○"/>
            </a:pPr>
            <a:r>
              <a:rPr b="1"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LK_01_036</a:t>
            </a: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 - ACPI SMBIOS support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○"/>
            </a:pPr>
            <a:r>
              <a:rPr b="1"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LK_01_040</a:t>
            </a: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 - CRC API optimization using Zbc extension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○"/>
            </a:pPr>
            <a:r>
              <a:rPr b="1"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LK_02_010 </a:t>
            </a: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- KVM PMU snapshot virtualization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○"/>
            </a:pPr>
            <a:r>
              <a:rPr b="1"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LK_02_015</a:t>
            </a: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 - KVM Zawrs virtualization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○"/>
            </a:pPr>
            <a:r>
              <a:rPr b="1"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LK_02_022 </a:t>
            </a: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- KVM Perf sampling support for guest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○"/>
            </a:pPr>
            <a:r>
              <a:rPr b="1"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LK_03_009 </a:t>
            </a: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- QEMU-KVM debug console support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Char char="○"/>
            </a:pPr>
            <a:r>
              <a:rPr b="1"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LK_03_028</a:t>
            </a: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 - KVMTOOL Zacas support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Char char="○"/>
            </a:pPr>
            <a:r>
              <a:rPr b="1"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LK_03_029</a:t>
            </a: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 - QEMU-KVM Zacas support</a:t>
            </a:r>
            <a:b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</a:b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4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2024-1H: Project updates (Contd.)</a:t>
            </a:r>
            <a:endParaRPr/>
          </a:p>
        </p:txBody>
      </p:sp>
      <p:sp>
        <p:nvSpPr>
          <p:cNvPr id="151" name="Google Shape;151;p34"/>
          <p:cNvSpPr txBox="1"/>
          <p:nvPr/>
        </p:nvSpPr>
        <p:spPr>
          <a:xfrm>
            <a:off x="374625" y="941525"/>
            <a:ext cx="8347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DE17"/>
              </a:buClr>
              <a:buSzPts val="1800"/>
              <a:buFont typeface="Work Sans"/>
              <a:buChar char="●"/>
            </a:pPr>
            <a:r>
              <a:rPr b="1" lang="en" sz="1800">
                <a:latin typeface="Work Sans"/>
                <a:ea typeface="Work Sans"/>
                <a:cs typeface="Work Sans"/>
                <a:sym typeface="Work Sans"/>
              </a:rPr>
              <a:t>2024-1H: Development status </a:t>
            </a:r>
            <a:r>
              <a:rPr lang="en" sz="1800">
                <a:latin typeface="Work Sans"/>
                <a:ea typeface="Work Sans"/>
                <a:cs typeface="Work Sans"/>
                <a:sym typeface="Work Sans"/>
              </a:rPr>
              <a:t>(22-08-2024</a:t>
            </a:r>
            <a:r>
              <a:rPr lang="en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, </a:t>
            </a:r>
            <a:r>
              <a:rPr lang="en" sz="1800" u="sng">
                <a:solidFill>
                  <a:schemeClr val="hlink"/>
                </a:solidFill>
                <a:latin typeface="Work Sans"/>
                <a:ea typeface="Work Sans"/>
                <a:cs typeface="Work Sans"/>
                <a:sym typeface="Work Sans"/>
                <a:hlinkClick r:id="rId3"/>
              </a:rPr>
              <a:t>wiki</a:t>
            </a:r>
            <a:r>
              <a:rPr lang="en" sz="1800">
                <a:latin typeface="Work Sans"/>
                <a:ea typeface="Work Sans"/>
                <a:cs typeface="Work Sans"/>
                <a:sym typeface="Work Sans"/>
              </a:rPr>
              <a:t>)</a:t>
            </a:r>
            <a:endParaRPr sz="1800"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Char char="○"/>
            </a:pP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TBD - 4 (8.7%), ONGOING - 1 (2.17%), </a:t>
            </a:r>
            <a:r>
              <a:rPr b="1" lang="en">
                <a:solidFill>
                  <a:srgbClr val="6AA84F"/>
                </a:solidFill>
                <a:latin typeface="Work Sans"/>
                <a:ea typeface="Work Sans"/>
                <a:cs typeface="Work Sans"/>
                <a:sym typeface="Work Sans"/>
              </a:rPr>
              <a:t>COMPLETED - 41 (89.13%)</a:t>
            </a: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, TOTAL - 46</a:t>
            </a:r>
            <a:endParaRPr b="1">
              <a:solidFill>
                <a:srgbClr val="6AA84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DE17"/>
              </a:buClr>
              <a:buSzPts val="1800"/>
              <a:buFont typeface="Work Sans"/>
              <a:buChar char="●"/>
            </a:pPr>
            <a:r>
              <a:rPr b="1" lang="en" sz="1800">
                <a:latin typeface="Work Sans"/>
                <a:ea typeface="Work Sans"/>
                <a:cs typeface="Work Sans"/>
                <a:sym typeface="Work Sans"/>
              </a:rPr>
              <a:t>2024-1H: Upstreaming status </a:t>
            </a:r>
            <a:r>
              <a:rPr lang="en" sz="1800">
                <a:latin typeface="Work Sans"/>
                <a:ea typeface="Work Sans"/>
                <a:cs typeface="Work Sans"/>
                <a:sym typeface="Work Sans"/>
              </a:rPr>
              <a:t>(</a:t>
            </a:r>
            <a:r>
              <a:rPr lang="en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22</a:t>
            </a:r>
            <a:r>
              <a:rPr lang="en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-08-2024, </a:t>
            </a:r>
            <a:r>
              <a:rPr lang="en" sz="1800" u="sng">
                <a:solidFill>
                  <a:schemeClr val="hlink"/>
                </a:solidFill>
                <a:latin typeface="Work Sans"/>
                <a:ea typeface="Work Sans"/>
                <a:cs typeface="Work Sans"/>
                <a:sym typeface="Work Sans"/>
                <a:hlinkClick r:id="rId4"/>
              </a:rPr>
              <a:t>wiki</a:t>
            </a:r>
            <a:r>
              <a:rPr lang="en" sz="1800">
                <a:latin typeface="Work Sans"/>
                <a:ea typeface="Work Sans"/>
                <a:cs typeface="Work Sans"/>
                <a:sym typeface="Work Sans"/>
              </a:rPr>
              <a:t>)</a:t>
            </a:r>
            <a:endParaRPr sz="1800"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Char char="○"/>
            </a:pP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TBD - 6 (13.04%), ONGOING - 4 (8.7%), </a:t>
            </a:r>
            <a:r>
              <a:rPr b="1" lang="en">
                <a:solidFill>
                  <a:srgbClr val="6AA84F"/>
                </a:solidFill>
                <a:latin typeface="Work Sans"/>
                <a:ea typeface="Work Sans"/>
                <a:cs typeface="Work Sans"/>
                <a:sym typeface="Work Sans"/>
              </a:rPr>
              <a:t>COMPLETED - 36 (78.26%)</a:t>
            </a: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, TOTAL - 46</a:t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5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2024-2H: Priorities</a:t>
            </a:r>
            <a:endParaRPr/>
          </a:p>
        </p:txBody>
      </p:sp>
      <p:sp>
        <p:nvSpPr>
          <p:cNvPr id="157" name="Google Shape;157;p35"/>
          <p:cNvSpPr txBox="1"/>
          <p:nvPr/>
        </p:nvSpPr>
        <p:spPr>
          <a:xfrm>
            <a:off x="374625" y="941525"/>
            <a:ext cx="8347800" cy="3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DE17"/>
              </a:buClr>
              <a:buSzPts val="2200"/>
              <a:buFont typeface="Work Sans"/>
              <a:buChar char="●"/>
            </a:pPr>
            <a:r>
              <a:rPr b="1" lang="en" sz="18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Kernel</a:t>
            </a:r>
            <a:endParaRPr b="1" sz="18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Work Sans"/>
              <a:buChar char="○"/>
            </a:pPr>
            <a:r>
              <a:rPr lang="en" sz="16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ISA Extensions</a:t>
            </a:r>
            <a:endParaRPr sz="16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■"/>
            </a:pP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Supervisor Counter delegation (Ssccfg) based perf driver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■"/>
            </a:pP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Control Transfer Record (Ssctr) support in perf driver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■"/>
            </a:pP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Pointer Masking (Ssnpm) support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■"/>
            </a:pP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Quality of Service (CBQRI and Ssqosid) support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Work Sans"/>
              <a:buChar char="○"/>
            </a:pPr>
            <a:r>
              <a:rPr lang="en" sz="16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ACPI improvements</a:t>
            </a:r>
            <a:endParaRPr sz="16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■"/>
            </a:pP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ACPI RISC-V IOMMU Table (RIMT) support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■"/>
            </a:pP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ACPI support for IOMMU driver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■"/>
            </a:pP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ACPI RAS support (incl. APEI and SBI SSE notifications)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Work Sans"/>
              <a:buChar char="○"/>
            </a:pPr>
            <a:r>
              <a:rPr lang="en" sz="16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SBI v3.0</a:t>
            </a:r>
            <a:endParaRPr sz="16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■"/>
            </a:pP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Firmware feature (FWFT) support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■"/>
            </a:pP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Supervisor software events (SSE) support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■"/>
            </a:pP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Debug Triggers (DBTR) (aka native/hosted debug) support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■"/>
            </a:pP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Message Proxy (MPXY) support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■"/>
            </a:pP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Perf event discovery using SBI PMU extension</a:t>
            </a:r>
            <a:endParaRPr sz="18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6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2024-2H: Priorities (Contd)</a:t>
            </a:r>
            <a:endParaRPr/>
          </a:p>
        </p:txBody>
      </p:sp>
      <p:sp>
        <p:nvSpPr>
          <p:cNvPr id="163" name="Google Shape;163;p36"/>
          <p:cNvSpPr txBox="1"/>
          <p:nvPr/>
        </p:nvSpPr>
        <p:spPr>
          <a:xfrm>
            <a:off x="374625" y="941525"/>
            <a:ext cx="83478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DE17"/>
              </a:buClr>
              <a:buSzPts val="2200"/>
              <a:buFont typeface="Work Sans"/>
              <a:buChar char="●"/>
            </a:pPr>
            <a:r>
              <a:rPr b="1" lang="en" sz="18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KVM</a:t>
            </a:r>
            <a:endParaRPr b="1" sz="18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Work Sans"/>
              <a:buChar char="○"/>
            </a:pPr>
            <a:r>
              <a:rPr lang="en" sz="16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ISA Extensions</a:t>
            </a:r>
            <a:endParaRPr sz="16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■"/>
            </a:pP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Virtualize Control Transfer Record (Ssctr) for Guest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■"/>
            </a:pP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Virtualize Pointer Masking (Ssnpm) for Guest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■"/>
            </a:pP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Virtualize Quality of Service (CBQRI and Ssqosid) for Guest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Work Sans"/>
              <a:buChar char="○"/>
            </a:pPr>
            <a:r>
              <a:rPr lang="en" sz="16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Nested virtualization (trap-n-emulate H-extension)</a:t>
            </a:r>
            <a:endParaRPr sz="16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Work Sans"/>
              <a:buChar char="○"/>
            </a:pP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Virtualize </a:t>
            </a:r>
            <a:r>
              <a:rPr lang="en" sz="16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SBI v3.0</a:t>
            </a:r>
            <a:endParaRPr sz="16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■"/>
            </a:pP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Firmware feature (FWFT) support for Guest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■"/>
            </a:pP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Supervisor software events (SSE) support for Guest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■"/>
            </a:pP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Debug Triggers (DBTR) (aka native/hosted debug) support for Guest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■"/>
            </a:pP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Message Proxy (MPXY) support for Guest</a:t>
            </a:r>
            <a:endParaRPr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■"/>
            </a:pPr>
            <a:r>
              <a:rPr lang="en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Virtualize perf event discovery using SBI PMU extension for Guest</a:t>
            </a:r>
            <a:endParaRPr sz="18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26273B"/>
      </a:dk2>
      <a:lt2>
        <a:srgbClr val="F6F7FA"/>
      </a:lt2>
      <a:accent1>
        <a:srgbClr val="162D6F"/>
      </a:accent1>
      <a:accent2>
        <a:srgbClr val="FFEC83"/>
      </a:accent2>
      <a:accent3>
        <a:srgbClr val="8B8E43"/>
      </a:accent3>
      <a:accent4>
        <a:srgbClr val="454560"/>
      </a:accent4>
      <a:accent5>
        <a:srgbClr val="6F708B"/>
      </a:accent5>
      <a:accent6>
        <a:srgbClr val="FFDE17"/>
      </a:accent6>
      <a:hlink>
        <a:srgbClr val="2A7DE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