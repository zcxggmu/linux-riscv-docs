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基线场景月成本（美元）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基线场景月成本（美元）</c:v>
                </c:pt>
              </c:strCache>
            </c:strRef>
          </c:tx>
          <c:spPr>
            <a:solidFill>
              <a:srgbClr val="2D6ED2"/>
            </a:solidFill>
            <a:ln>
              <a:solidFill>
                <a:srgbClr val="2D6ED2"/>
              </a:solidFill>
            </a:ln>
          </c:spPr>
          <c:cat>
            <c:strRef>
              <c:f>Sheet1!$A$2:$A$4</c:f>
              <c:strCache>
                <c:ptCount val="3"/>
                <c:pt idx="0">
                  <c:v>GLM-5.1</c:v>
                </c:pt>
                <c:pt idx="1">
                  <c:v>Claude Opus 4.1</c:v>
                </c:pt>
                <c:pt idx="2">
                  <c:v>GPT-5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143.11</c:v>
                </c:pt>
                <c:pt idx="1">
                  <c:v>2871.0</c:v>
                </c:pt>
                <c:pt idx="2">
                  <c:v>330.0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00.0"/>
        </c:scaling>
        <c:delete val="0"/>
        <c:axPos val="l"/>
        <c:majorGridlines>
          <c:spPr>
            <a:ln>
              <a:solidFill>
                <a:srgbClr val="E1E6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输入</c:v>
                </c:pt>
              </c:strCache>
            </c:strRef>
          </c:tx>
          <c:spPr>
            <a:solidFill>
              <a:srgbClr val="2D6ED2"/>
            </a:solidFill>
            <a:ln>
              <a:solidFill>
                <a:srgbClr val="2D6ED2"/>
              </a:solidFill>
            </a:ln>
          </c:spPr>
          <c:cat>
            <c:strRef>
              <c:f>Sheet1!$A$2:$A$4</c:f>
              <c:strCache>
                <c:ptCount val="3"/>
                <c:pt idx="0">
                  <c:v>保守</c:v>
                </c:pt>
                <c:pt idx="1">
                  <c:v>基线</c:v>
                </c:pt>
                <c:pt idx="2">
                  <c:v>激进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47.96</c:v>
                </c:pt>
                <c:pt idx="1">
                  <c:v>70.4</c:v>
                </c:pt>
                <c:pt idx="2">
                  <c:v>127.6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输出</c:v>
                </c:pt>
              </c:strCache>
            </c:strRef>
          </c:tx>
          <c:spPr>
            <a:solidFill>
              <a:srgbClr val="F37A29"/>
            </a:solidFill>
            <a:ln>
              <a:solidFill>
                <a:srgbClr val="F37A29"/>
              </a:solidFill>
            </a:ln>
          </c:spPr>
          <c:cat>
            <c:strRef>
              <c:f>Sheet1!$A$2:$A$4</c:f>
              <c:strCache>
                <c:ptCount val="3"/>
                <c:pt idx="0">
                  <c:v>保守</c:v>
                </c:pt>
                <c:pt idx="1">
                  <c:v>基线</c:v>
                </c:pt>
                <c:pt idx="2">
                  <c:v>激进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16.28</c:v>
                </c:pt>
                <c:pt idx="1">
                  <c:v>24.2</c:v>
                </c:pt>
                <c:pt idx="2">
                  <c:v>44.0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6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spPr>
              <a:solidFill>
                <a:srgbClr val="2D6ED2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37A29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68653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需求生成</c:v>
                </c:pt>
                <c:pt idx="1">
                  <c:v>代码开发</c:v>
                </c:pt>
                <c:pt idx="2">
                  <c:v>测试验证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16.72</c:v>
                </c:pt>
                <c:pt idx="1">
                  <c:v>51.92</c:v>
                </c:pt>
                <c:pt idx="2">
                  <c:v>25.96</c:v>
                </c:pt>
              </c:numCache>
            </c:numRef>
          </c:val>
        </c:ser>
      </c:pieChart>
    </c:plotArea>
    <c:legend>
      <c:legendPos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基线月总量（M）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基线月总量（M）</c:v>
                </c:pt>
              </c:strCache>
            </c:strRef>
          </c:tx>
          <c:spPr>
            <a:solidFill>
              <a:srgbClr val="F37A29"/>
            </a:solidFill>
            <a:ln>
              <a:solidFill>
                <a:srgbClr val="F37A29"/>
              </a:solidFill>
            </a:ln>
          </c:spPr>
          <c:cat>
            <c:strRef>
              <c:f>Sheet1!$A$2:$A$4</c:f>
              <c:strCache>
                <c:ptCount val="3"/>
                <c:pt idx="0">
                  <c:v>需求</c:v>
                </c:pt>
                <c:pt idx="1">
                  <c:v>开发</c:v>
                </c:pt>
                <c:pt idx="2">
                  <c:v>测试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16.72</c:v>
                </c:pt>
                <c:pt idx="1">
                  <c:v>51.92</c:v>
                </c:pt>
                <c:pt idx="2">
                  <c:v>25.96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</c:scaling>
        <c:delete val="0"/>
        <c:axPos val="l"/>
        <c:majorGridlines>
          <c:spPr>
            <a:ln>
              <a:solidFill>
                <a:srgbClr val="E1E6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基线月成本对比（美元）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基线月成本对比（美元）</c:v>
                </c:pt>
              </c:strCache>
            </c:strRef>
          </c:tx>
          <c:spPr>
            <a:solidFill>
              <a:srgbClr val="B02525"/>
            </a:solidFill>
            <a:ln>
              <a:solidFill>
                <a:srgbClr val="B02525"/>
              </a:solidFill>
            </a:ln>
          </c:spPr>
          <c:cat>
            <c:strRef>
              <c:f>Sheet1!$A$2:$A$4</c:f>
              <c:strCache>
                <c:ptCount val="3"/>
                <c:pt idx="0">
                  <c:v>GLM-5.1</c:v>
                </c:pt>
                <c:pt idx="1">
                  <c:v>Claude Opus 4.1</c:v>
                </c:pt>
                <c:pt idx="2">
                  <c:v>GPT-5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143.11</c:v>
                </c:pt>
                <c:pt idx="1">
                  <c:v>2871.0</c:v>
                </c:pt>
                <c:pt idx="2">
                  <c:v>330.0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00.0"/>
        </c:scaling>
        <c:delete val="0"/>
        <c:axPos val="l"/>
        <c:majorGridlines>
          <c:spPr>
            <a:ln>
              <a:solidFill>
                <a:srgbClr val="E1E6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0" y="0"/>
            <a:ext cx="256032" cy="685800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89720" y="0"/>
            <a:ext cx="256032" cy="6858000"/>
          </a:xfrm>
          <a:prstGeom prst="rect">
            <a:avLst/>
          </a:prstGeom>
          <a:solidFill>
            <a:srgbClr val="268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0" y="0"/>
            <a:ext cx="256032" cy="6858000"/>
          </a:xfrm>
          <a:prstGeom prst="rect">
            <a:avLst/>
          </a:prstGeom>
          <a:solidFill>
            <a:srgbClr val="F37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6492240" cy="1737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2700" b="1">
                <a:solidFill>
                  <a:srgbClr val="FFFFFF"/>
                </a:solidFill>
                <a:latin typeface="Noto Sans CJK SC"/>
              </a:rPr>
              <a:t>大模型定价、限制与</a:t>
            </a:r>
          </a:p>
          <a:p>
            <a:pPr algn="l"/>
            <a:r>
              <a:rPr sz="2700" b="1">
                <a:solidFill>
                  <a:srgbClr val="FFFFFF"/>
                </a:solidFill>
                <a:latin typeface="Noto Sans CJK SC"/>
              </a:rPr>
              <a:t>研发团队月度用量评估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621792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600" b="0">
                <a:solidFill>
                  <a:srgbClr val="D8DFEC"/>
                </a:solidFill>
                <a:latin typeface="Noto Sans CJK SC"/>
              </a:rPr>
              <a:t>围绕 GLM-5.1、Claude Opus、GPT-5 的选型与预算分析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1828800" cy="475488"/>
          </a:xfrm>
          <a:prstGeom prst="roundRect">
            <a:avLst/>
          </a:prstGeom>
          <a:solidFill>
            <a:srgbClr val="F37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定价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240280"/>
            <a:ext cx="1828800" cy="475488"/>
          </a:xfrm>
          <a:prstGeom prst="roundRect">
            <a:avLst/>
          </a:prstGeom>
          <a:solidFill>
            <a:srgbClr val="B0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限制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108960"/>
            <a:ext cx="1828800" cy="475488"/>
          </a:xfrm>
          <a:prstGeom prst="roundRect">
            <a:avLst/>
          </a:prstGeom>
          <a:solidFill>
            <a:srgbClr val="268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用量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989320"/>
            <a:ext cx="5029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50" b="0">
                <a:solidFill>
                  <a:srgbClr val="BCC9DC"/>
                </a:solidFill>
                <a:latin typeface="Noto Sans CJK SC"/>
              </a:rPr>
              <a:t>汇报人：Hermes Agent    日期：2026-04-15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86868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2600" b="1">
                <a:solidFill>
                  <a:srgbClr val="0E1E40"/>
                </a:solidFill>
                <a:latin typeface="Noto Sans CJK SC"/>
              </a:rPr>
              <a:t>一页看结论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107899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150" b="0">
                <a:solidFill>
                  <a:srgbClr val="626F82"/>
                </a:solidFill>
                <a:latin typeface="Noto Sans CJK SC"/>
              </a:rPr>
              <a:t>预算关键不在需求分析，而在开发与 Review 的高频循环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/>
          <a:lstStyle/>
          <a:p>
            <a:pPr algn="ctr"/>
            <a:r>
              <a:rPr sz="1600" b="1">
                <a:solidFill>
                  <a:srgbClr val="2D6ED2"/>
                </a:solidFill>
                <a:latin typeface="Noto Sans CJK SC"/>
              </a:rPr>
              <a:t>关键结论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20 人团队基线月消耗约 94.60M tokens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默认预算建议先以基线场景作为编制口径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3291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/>
          <a:lstStyle/>
          <a:p>
            <a:pPr algn="ctr"/>
            <a:r>
              <a:rPr sz="1600" b="1">
                <a:solidFill>
                  <a:srgbClr val="F37A29"/>
                </a:solidFill>
                <a:latin typeface="Noto Sans CJK SC"/>
              </a:rPr>
              <a:t>关键结论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同等用量下：GLM-5.1 最低，GPT-5 次之，Claude Opus 4.1 最高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全员默认高端模型会显著抬高月成本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891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/>
          <a:lstStyle/>
          <a:p>
            <a:pPr algn="ctr"/>
            <a:r>
              <a:rPr sz="1600" b="1">
                <a:solidFill>
                  <a:srgbClr val="268653"/>
                </a:solidFill>
                <a:latin typeface="Noto Sans CJK SC"/>
              </a:rPr>
              <a:t>关键结论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建议采用“低成本主力 + 高质量升级模型”组合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复杂架构分析、关键 PR 二审再升级到 Opus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069080" y="1325880"/>
          <a:ext cx="7498079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950" b="0">
                <a:solidFill>
                  <a:srgbClr val="626F82"/>
                </a:solidFill>
                <a:latin typeface="Noto Sans CJK SC"/>
              </a:rPr>
              <a:t>说明：Claude-opus-4.6 / GPT-5.4 非公开官方命名，报告分别按 Claude Opus 4.1 / GPT-5 对比。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86868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2600" b="1">
                <a:solidFill>
                  <a:srgbClr val="0E1E40"/>
                </a:solidFill>
                <a:latin typeface="Noto Sans CJK SC"/>
              </a:rPr>
              <a:t>比较口径与边界说明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107899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150" b="0">
                <a:solidFill>
                  <a:srgbClr val="626F82"/>
                </a:solidFill>
                <a:latin typeface="Noto Sans CJK SC"/>
              </a:rPr>
              <a:t>先统一命名与价格口径，避免平台别名与官方 SKU 混淆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743200" cy="2286000"/>
          </a:xfrm>
          <a:prstGeom prst="roundRect">
            <a:avLst/>
          </a:prstGeom>
          <a:solidFill>
            <a:srgbClr val="E9EEF7"/>
          </a:solidFill>
          <a:ln>
            <a:solidFill>
              <a:srgbClr val="0E1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500" b="0">
                <a:solidFill>
                  <a:srgbClr val="26303E"/>
                </a:solidFill>
                <a:latin typeface="Noto Sans CJK SC"/>
              </a:rPr>
              <a:t>原始型号</a:t>
            </a:r>
          </a:p>
          <a:p>
            <a:pPr algn="l"/>
            <a:r>
              <a:rPr sz="1500" b="0">
                <a:solidFill>
                  <a:srgbClr val="26303E"/>
                </a:solidFill>
                <a:latin typeface="Noto Sans CJK SC"/>
              </a:rPr>
              <a:t>Claude-opus-4.6</a:t>
            </a:r>
          </a:p>
          <a:p>
            <a:pPr algn="l"/>
            <a:r>
              <a:rPr sz="1500" b="0">
                <a:solidFill>
                  <a:srgbClr val="26303E"/>
                </a:solidFill>
                <a:latin typeface="Noto Sans CJK SC"/>
              </a:rPr>
              <a:t>GPT-5.4</a:t>
            </a:r>
          </a:p>
          <a:p>
            <a:pPr algn="l"/>
            <a:r>
              <a:rPr sz="1500" b="0">
                <a:solidFill>
                  <a:srgbClr val="26303E"/>
                </a:solidFill>
                <a:latin typeface="Noto Sans CJK SC"/>
              </a:rPr>
              <a:t>GLM-5.1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1737360"/>
            <a:ext cx="2743200" cy="2286000"/>
          </a:xfrm>
          <a:prstGeom prst="roundRect">
            <a:avLst/>
          </a:prstGeom>
          <a:solidFill>
            <a:srgbClr val="E3F1EA"/>
          </a:solidFill>
          <a:ln>
            <a:solidFill>
              <a:srgbClr val="268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500" b="0">
                <a:solidFill>
                  <a:srgbClr val="26303E"/>
                </a:solidFill>
                <a:latin typeface="Noto Sans CJK SC"/>
              </a:rPr>
              <a:t>纠偏口径</a:t>
            </a:r>
          </a:p>
          <a:p>
            <a:pPr algn="l"/>
            <a:r>
              <a:rPr sz="1500" b="0">
                <a:solidFill>
                  <a:srgbClr val="26303E"/>
                </a:solidFill>
                <a:latin typeface="Noto Sans CJK SC"/>
              </a:rPr>
              <a:t>Claude Opus 4.1</a:t>
            </a:r>
          </a:p>
          <a:p>
            <a:pPr algn="l"/>
            <a:r>
              <a:rPr sz="1500" b="0">
                <a:solidFill>
                  <a:srgbClr val="26303E"/>
                </a:solidFill>
                <a:latin typeface="Noto Sans CJK SC"/>
              </a:rPr>
              <a:t>GPT-5</a:t>
            </a:r>
          </a:p>
          <a:p>
            <a:pPr algn="l"/>
            <a:r>
              <a:rPr sz="1500" b="0">
                <a:solidFill>
                  <a:srgbClr val="26303E"/>
                </a:solidFill>
                <a:latin typeface="Noto Sans CJK SC"/>
              </a:rPr>
              <a:t>GLM-5.1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737360"/>
            <a:ext cx="2743200" cy="2286000"/>
          </a:xfrm>
          <a:prstGeom prst="roundRect">
            <a:avLst/>
          </a:prstGeom>
          <a:solidFill>
            <a:srgbClr val="FFF2E6"/>
          </a:solidFill>
          <a:ln>
            <a:solidFill>
              <a:srgbClr val="F37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500" b="0">
                <a:solidFill>
                  <a:srgbClr val="26303E"/>
                </a:solidFill>
                <a:latin typeface="Noto Sans CJK SC"/>
              </a:rPr>
              <a:t>价格来源</a:t>
            </a:r>
          </a:p>
          <a:p>
            <a:pPr algn="l"/>
            <a:r>
              <a:rPr sz="1500" b="0">
                <a:solidFill>
                  <a:srgbClr val="26303E"/>
                </a:solidFill>
                <a:latin typeface="Noto Sans CJK SC"/>
              </a:rPr>
              <a:t>官方优先</a:t>
            </a:r>
          </a:p>
          <a:p>
            <a:pPr algn="l"/>
            <a:r>
              <a:rPr sz="1500" b="0">
                <a:solidFill>
                  <a:srgbClr val="26303E"/>
                </a:solidFill>
                <a:latin typeface="Noto Sans CJK SC"/>
              </a:rPr>
              <a:t>GLM 价格采用 OpenRouter</a:t>
            </a:r>
          </a:p>
          <a:p>
            <a:pPr algn="l"/>
            <a:r>
              <a:rPr sz="1500" b="0">
                <a:solidFill>
                  <a:srgbClr val="26303E"/>
                </a:solidFill>
                <a:latin typeface="Noto Sans CJK SC"/>
              </a:rPr>
              <a:t>仅作横向参考</a:t>
            </a:r>
          </a:p>
        </p:txBody>
      </p:sp>
      <p:sp>
        <p:nvSpPr>
          <p:cNvPr id="7" name="Chevron 6"/>
          <p:cNvSpPr/>
          <p:nvPr/>
        </p:nvSpPr>
        <p:spPr>
          <a:xfrm>
            <a:off x="3474720" y="2560320"/>
            <a:ext cx="411480" cy="457200"/>
          </a:xfrm>
          <a:prstGeom prst="chevron">
            <a:avLst/>
          </a:prstGeom>
          <a:solidFill>
            <a:srgbClr val="2D6ED2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→</a:t>
            </a:r>
          </a:p>
        </p:txBody>
      </p:sp>
      <p:sp>
        <p:nvSpPr>
          <p:cNvPr id="8" name="Chevron 7"/>
          <p:cNvSpPr/>
          <p:nvPr/>
        </p:nvSpPr>
        <p:spPr>
          <a:xfrm>
            <a:off x="6858000" y="2560320"/>
            <a:ext cx="411480" cy="457200"/>
          </a:xfrm>
          <a:prstGeom prst="chevron">
            <a:avLst/>
          </a:prstGeom>
          <a:solidFill>
            <a:srgbClr val="2D6ED2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/>
          <a:lstStyle/>
          <a:p>
            <a:pPr algn="ctr"/>
            <a:r>
              <a:rPr sz="1600" b="1">
                <a:solidFill>
                  <a:srgbClr val="B02525"/>
                </a:solidFill>
                <a:latin typeface="Noto Sans CJK SC"/>
              </a:rPr>
              <a:t>边界与风险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官方信息抓取不稳定时，采用公开聚合平台页面做辅助参考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不同路由平台、账号等级、采购方式，实际账单可能不同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43484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/>
          <a:lstStyle/>
          <a:p>
            <a:pPr algn="ctr"/>
            <a:r>
              <a:rPr sz="1600" b="1">
                <a:solidFill>
                  <a:srgbClr val="2D6ED2"/>
                </a:solidFill>
                <a:latin typeface="Noto Sans CJK SC"/>
              </a:rPr>
              <a:t>本页核心目的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防止后续讨论时把“平台别名”与“官方型号”混为一谈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确保后续预算测算按同一比较口径展开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950" b="0">
                <a:solidFill>
                  <a:srgbClr val="626F82"/>
                </a:solidFill>
                <a:latin typeface="Noto Sans CJK SC"/>
              </a:rPr>
              <a:t>GLM-5.1：官方可确认型号存在；公开价格结构未稳定提取，因此采用 OpenRouter 转售口径做横向参考。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86868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2600" b="1">
                <a:solidFill>
                  <a:srgbClr val="0E1E40"/>
                </a:solidFill>
                <a:latin typeface="Noto Sans CJK SC"/>
              </a:rPr>
              <a:t>主流模型价格与限制横向对比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107899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150" b="0">
                <a:solidFill>
                  <a:srgbClr val="626F82"/>
                </a:solidFill>
                <a:latin typeface="Noto Sans CJK SC"/>
              </a:rPr>
              <a:t>重点比较输入/输出价格、上下文窗口与限制口径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8016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188720"/>
                <a:gridCol w="2011680"/>
                <a:gridCol w="1188720"/>
                <a:gridCol w="1005840"/>
                <a:gridCol w="2377440"/>
              </a:tblGrid>
              <a:tr h="73152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对比型号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输入价格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输出价格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缓存价格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上下文窗口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最大输出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限制口径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GLM-5.1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$0.95 / 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$3.15 / 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Read $0.475 / 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202,752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65,535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公开统一限流未明确抓取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Claude Opus 4.1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$15 / 1M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$75 / 1M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Write $18.75 / 1M
Read $1.50 / 1M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200K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32K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tier-based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7315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GPT-5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$1.25 / 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$10 / 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Cached input
$0.125 / 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400K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128K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tier-based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572000"/>
            <a:ext cx="3474720" cy="914400"/>
          </a:xfrm>
          <a:prstGeom prst="roundRect">
            <a:avLst/>
          </a:prstGeom>
          <a:solidFill>
            <a:srgbClr val="EBF2FF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600" b="1">
                <a:solidFill>
                  <a:srgbClr val="0E1E40"/>
                </a:solidFill>
                <a:latin typeface="Noto Sans CJK SC"/>
              </a:rPr>
              <a:t>直观认知</a:t>
            </a:r>
          </a:p>
          <a:p>
            <a:pPr algn="l"/>
            <a:r>
              <a:rPr sz="1600" b="1">
                <a:solidFill>
                  <a:srgbClr val="0E1E40"/>
                </a:solidFill>
                <a:latin typeface="Noto Sans CJK SC"/>
              </a:rPr>
              <a:t>Claude 最贵，GPT 次之，GLM 当前参考口径最低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4572000"/>
            <a:ext cx="3657600" cy="914400"/>
          </a:xfrm>
          <a:prstGeom prst="roundRect">
            <a:avLst/>
          </a:prstGeom>
          <a:solidFill>
            <a:srgbClr val="FFF5EC"/>
          </a:solidFill>
          <a:ln>
            <a:solidFill>
              <a:srgbClr val="F37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400" b="0">
                <a:solidFill>
                  <a:srgbClr val="26303E"/>
                </a:solidFill>
                <a:latin typeface="Noto Sans CJK SC"/>
              </a:rPr>
              <a:t>注意事项</a:t>
            </a:r>
          </a:p>
          <a:p>
            <a:pPr algn="l"/>
            <a:r>
              <a:rPr sz="1400" b="0">
                <a:solidFill>
                  <a:srgbClr val="26303E"/>
                </a:solidFill>
                <a:latin typeface="Noto Sans CJK SC"/>
              </a:rPr>
              <a:t>缓存价格不能直接等同于基础 input 单价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572000"/>
            <a:ext cx="3017520" cy="914400"/>
          </a:xfrm>
          <a:prstGeom prst="roundRect">
            <a:avLst/>
          </a:prstGeom>
          <a:solidFill>
            <a:srgbClr val="F5EEEE"/>
          </a:solidFill>
          <a:ln>
            <a:solidFill>
              <a:srgbClr val="B0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400" b="0">
                <a:solidFill>
                  <a:srgbClr val="26303E"/>
                </a:solidFill>
                <a:latin typeface="Noto Sans CJK SC"/>
              </a:rPr>
              <a:t>注释</a:t>
            </a:r>
          </a:p>
          <a:p>
            <a:pPr algn="l"/>
            <a:r>
              <a:rPr sz="1400" b="0">
                <a:solidFill>
                  <a:srgbClr val="26303E"/>
                </a:solidFill>
                <a:latin typeface="Noto Sans CJK SC"/>
              </a:rPr>
              <a:t>GLM 价格为转售参考口径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950" b="0">
                <a:solidFill>
                  <a:srgbClr val="626F82"/>
                </a:solidFill>
                <a:latin typeface="Noto Sans CJK SC"/>
              </a:rPr>
              <a:t>表格用于形成管理层直观认知，不展开 RPM/TPM 细节；实际限额仍以账号等级与采购平台配置为准。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86868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2600" b="1">
                <a:solidFill>
                  <a:srgbClr val="0E1E40"/>
                </a:solidFill>
                <a:latin typeface="Noto Sans CJK SC"/>
              </a:rPr>
              <a:t>Token 消耗的主要来源在哪里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107899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150" b="0">
                <a:solidFill>
                  <a:srgbClr val="626F82"/>
                </a:solidFill>
                <a:latin typeface="Noto Sans CJK SC"/>
              </a:rPr>
              <a:t>研发场景不是一次性问答，而是天然形成多轮循环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011680" cy="1051560"/>
          </a:xfrm>
          <a:prstGeom prst="roundRect">
            <a:avLst/>
          </a:prstGeom>
          <a:solidFill>
            <a:srgbClr val="E2ECFA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需求生成</a:t>
            </a:r>
          </a:p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单次对话较长</a:t>
            </a:r>
          </a:p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但频次相对低</a:t>
            </a:r>
          </a:p>
        </p:txBody>
      </p:sp>
      <p:sp>
        <p:nvSpPr>
          <p:cNvPr id="5" name="Chevron 4"/>
          <p:cNvSpPr/>
          <p:nvPr/>
        </p:nvSpPr>
        <p:spPr>
          <a:xfrm>
            <a:off x="2606040" y="2487168"/>
            <a:ext cx="347472" cy="411480"/>
          </a:xfrm>
          <a:prstGeom prst="chevron">
            <a:avLst/>
          </a:prstGeom>
          <a:solidFill>
            <a:srgbClr val="2D6ED2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2103120"/>
            <a:ext cx="2011680" cy="1325880"/>
          </a:xfrm>
          <a:prstGeom prst="roundRect">
            <a:avLst/>
          </a:prstGeom>
          <a:solidFill>
            <a:srgbClr val="FFF1E6"/>
          </a:solidFill>
          <a:ln>
            <a:solidFill>
              <a:srgbClr val="F37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开发</a:t>
            </a:r>
          </a:p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高频</a:t>
            </a:r>
          </a:p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携带代码上下文 / 日志</a:t>
            </a:r>
          </a:p>
        </p:txBody>
      </p:sp>
      <p:sp>
        <p:nvSpPr>
          <p:cNvPr id="7" name="Chevron 6"/>
          <p:cNvSpPr/>
          <p:nvPr/>
        </p:nvSpPr>
        <p:spPr>
          <a:xfrm>
            <a:off x="4937760" y="2487168"/>
            <a:ext cx="347472" cy="411480"/>
          </a:xfrm>
          <a:prstGeom prst="chevron">
            <a:avLst/>
          </a:prstGeom>
          <a:solidFill>
            <a:srgbClr val="2D6ED2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9" y="2103120"/>
            <a:ext cx="2011680" cy="1417320"/>
          </a:xfrm>
          <a:prstGeom prst="roundRect">
            <a:avLst/>
          </a:prstGeom>
          <a:solidFill>
            <a:srgbClr val="FCE4E4"/>
          </a:solidFill>
          <a:ln>
            <a:solidFill>
              <a:srgbClr val="B0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Review</a:t>
            </a:r>
          </a:p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多轮反复</a:t>
            </a:r>
          </a:p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diff / 修改结果持续回放</a:t>
            </a:r>
          </a:p>
        </p:txBody>
      </p:sp>
      <p:sp>
        <p:nvSpPr>
          <p:cNvPr id="9" name="Chevron 8"/>
          <p:cNvSpPr/>
          <p:nvPr/>
        </p:nvSpPr>
        <p:spPr>
          <a:xfrm>
            <a:off x="7269479" y="2487168"/>
            <a:ext cx="347472" cy="411480"/>
          </a:xfrm>
          <a:prstGeom prst="chevron">
            <a:avLst/>
          </a:prstGeom>
          <a:solidFill>
            <a:srgbClr val="2D6ED2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103120"/>
            <a:ext cx="2011680" cy="1097280"/>
          </a:xfrm>
          <a:prstGeom prst="roundRect">
            <a:avLst/>
          </a:prstGeom>
          <a:solidFill>
            <a:srgbClr val="E7F4EC"/>
          </a:solidFill>
          <a:ln>
            <a:solidFill>
              <a:srgbClr val="268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测试</a:t>
            </a:r>
          </a:p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环境排障与测例编写</a:t>
            </a:r>
          </a:p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需要多轮追问</a:t>
            </a:r>
          </a:p>
        </p:txBody>
      </p:sp>
      <p:sp>
        <p:nvSpPr>
          <p:cNvPr id="11" name="Chevron 10"/>
          <p:cNvSpPr/>
          <p:nvPr/>
        </p:nvSpPr>
        <p:spPr>
          <a:xfrm>
            <a:off x="9601200" y="2487168"/>
            <a:ext cx="347472" cy="411480"/>
          </a:xfrm>
          <a:prstGeom prst="chevron">
            <a:avLst/>
          </a:prstGeom>
          <a:solidFill>
            <a:srgbClr val="2D6ED2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2103120"/>
            <a:ext cx="2011680" cy="1005840"/>
          </a:xfrm>
          <a:prstGeom prst="roundRect">
            <a:avLst/>
          </a:prstGeom>
          <a:solidFill>
            <a:srgbClr val="EEF1F6"/>
          </a:solidFill>
          <a:ln>
            <a:solidFill>
              <a:srgbClr val="0E1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回流修复</a:t>
            </a:r>
          </a:p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问题闭环后</a:t>
            </a:r>
          </a:p>
          <a:p>
            <a:pPr algn="ctr"/>
            <a:r>
              <a:rPr sz="1400" b="0">
                <a:solidFill>
                  <a:srgbClr val="26303E"/>
                </a:solidFill>
                <a:latin typeface="Noto Sans CJK SC"/>
              </a:rPr>
              <a:t>再次进入开发与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754880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/>
          <a:lstStyle/>
          <a:p>
            <a:pPr algn="ctr"/>
            <a:r>
              <a:rPr sz="1600" b="1">
                <a:solidFill>
                  <a:srgbClr val="F37A29"/>
                </a:solidFill>
                <a:latin typeface="Noto Sans CJK SC"/>
              </a:rPr>
              <a:t>为什么开发 / Review 最耗 token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交互轮次最多，且每轮都会重复携带上下文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代码、日志、diff 与修改结果叠加放大输入 token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754880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/>
          <a:lstStyle/>
          <a:p>
            <a:pPr algn="ctr"/>
            <a:r>
              <a:rPr sz="1600" b="1">
                <a:solidFill>
                  <a:srgbClr val="268653"/>
                </a:solidFill>
                <a:latin typeface="Noto Sans CJK SC"/>
              </a:rPr>
              <a:t>管理提示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如果要控预算，优先优化 Review loop 与上下文复用策略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需求生成通常不是成本大头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86868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2600" b="1">
                <a:solidFill>
                  <a:srgbClr val="0E1E40"/>
                </a:solidFill>
                <a:latin typeface="Noto Sans CJK SC"/>
              </a:rPr>
              <a:t>20 人团队三档月用量评估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107899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150" b="0">
                <a:solidFill>
                  <a:srgbClr val="626F82"/>
                </a:solidFill>
                <a:latin typeface="Noto Sans CJK SC"/>
              </a:rPr>
              <a:t>建议把“基线场景”作为预算编制默认口径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023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005840"/>
                <a:gridCol w="1005840"/>
                <a:gridCol w="1143000"/>
              </a:tblGrid>
              <a:tr h="50292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场景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月输入 tokens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月输出 tokens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月总 tokens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保守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47.96M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16.28M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64.24M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基线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70.40M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24.20M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94.60M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激进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127.60M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44.00M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171.60M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846320" y="1280160"/>
          <a:ext cx="6400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3749039"/>
            <a:ext cx="3383280" cy="1005840"/>
          </a:xfrm>
          <a:prstGeom prst="roundRect">
            <a:avLst/>
          </a:prstGeom>
          <a:solidFill>
            <a:srgbClr val="2D6ED2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基线场景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94.60M tokens / 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983480"/>
            <a:ext cx="4206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/>
          <a:lstStyle/>
          <a:p>
            <a:pPr algn="ctr"/>
            <a:r>
              <a:rPr sz="1600" b="1">
                <a:solidFill>
                  <a:srgbClr val="2D6ED2"/>
                </a:solidFill>
                <a:latin typeface="Noto Sans CJK SC"/>
              </a:rPr>
              <a:t>场景解释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保守：刚开始试点；激进：深度 AI-native；基线：已进入日常研发流程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950" b="0">
                <a:solidFill>
                  <a:srgbClr val="626F82"/>
                </a:solidFill>
                <a:latin typeface="Noto Sans CJK SC"/>
              </a:rPr>
              <a:t>堆叠柱展示输入 / 输出拆分，便于后续直接映射不同模型的 input/output 计费单价。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86868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2600" b="1">
                <a:solidFill>
                  <a:srgbClr val="0E1E40"/>
                </a:solidFill>
                <a:latin typeface="Noto Sans CJK SC"/>
              </a:rPr>
              <a:t>基线场景下，成本主要消耗在哪些环节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107899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150" b="0">
                <a:solidFill>
                  <a:srgbClr val="626F82"/>
                </a:solidFill>
                <a:latin typeface="Noto Sans CJK SC"/>
              </a:rPr>
              <a:t>基线总量 94.60M tokens，其中代码开发占比最高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4114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1005840"/>
                <a:gridCol w="1188720"/>
              </a:tblGrid>
              <a:tr h="50292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环节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月输入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月输出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月总量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需求生成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11.88M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4.84M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16.72M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代码开发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38.72M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13.20M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51.92M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测试验证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19.80M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6.16M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25.96M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983480" y="1325880"/>
          <a:ext cx="29718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001000" y="1417320"/>
          <a:ext cx="329184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754880"/>
            <a:ext cx="10332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/>
          <a:lstStyle/>
          <a:p>
            <a:pPr algn="ctr"/>
            <a:r>
              <a:rPr sz="1600" b="1">
                <a:solidFill>
                  <a:srgbClr val="F37A29"/>
                </a:solidFill>
                <a:latin typeface="Noto Sans CJK SC"/>
              </a:rPr>
              <a:t>预算控制提示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若后续要控预算，优先优化开发与 Review 的调用策略，而不是先压缩需求分析环节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86868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2600" b="1">
                <a:solidFill>
                  <a:srgbClr val="0E1E40"/>
                </a:solidFill>
                <a:latin typeface="Noto Sans CJK SC"/>
              </a:rPr>
              <a:t>同样用量下，不同模型月成本差异明显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107899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150" b="0">
                <a:solidFill>
                  <a:srgbClr val="626F82"/>
                </a:solidFill>
                <a:latin typeface="Noto Sans CJK SC"/>
              </a:rPr>
              <a:t>基线场景成本未计缓存命中、企业折扣、Batch 与转售差价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00200"/>
          <a:ext cx="2743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280160"/>
              </a:tblGrid>
              <a:tr h="43434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模型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Noto Sans CJK SC"/>
                        </a:rPr>
                        <a:t>基线月成本</a:t>
                      </a:r>
                    </a:p>
                  </a:txBody>
                  <a:tcPr>
                    <a:solidFill>
                      <a:srgbClr val="0E1E40"/>
                    </a:solidFill>
                  </a:tcPr>
                </a:tc>
              </a:tr>
              <a:tr h="4343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GLM-5.1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$143.11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Claude Opus 4.1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$2,871.00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4343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GPT-5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6303E"/>
                          </a:solidFill>
                          <a:latin typeface="Noto Sans CJK SC"/>
                        </a:rPr>
                        <a:t>$330.00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931920" y="1280160"/>
          <a:ext cx="73152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8" y="3840480"/>
            <a:ext cx="2880360" cy="1143000"/>
          </a:xfrm>
          <a:prstGeom prst="roundRect">
            <a:avLst/>
          </a:prstGeom>
          <a:solidFill>
            <a:srgbClr val="FFF0F0"/>
          </a:solidFill>
          <a:ln>
            <a:solidFill>
              <a:srgbClr val="B0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400" b="0">
                <a:solidFill>
                  <a:srgbClr val="26303E"/>
                </a:solidFill>
                <a:latin typeface="Noto Sans CJK SC"/>
              </a:rPr>
              <a:t>解读</a:t>
            </a:r>
          </a:p>
          <a:p>
            <a:pPr algn="l"/>
            <a:r>
              <a:rPr sz="1400" b="0">
                <a:solidFill>
                  <a:srgbClr val="26303E"/>
                </a:solidFill>
                <a:latin typeface="Noto Sans CJK SC"/>
              </a:rPr>
              <a:t>Claude 更适合高价值、高难度任务，</a:t>
            </a:r>
          </a:p>
          <a:p>
            <a:pPr algn="l"/>
            <a:r>
              <a:rPr sz="1400" b="0">
                <a:solidFill>
                  <a:srgbClr val="26303E"/>
                </a:solidFill>
                <a:latin typeface="Noto Sans CJK SC"/>
              </a:rPr>
              <a:t>不宜作为全员日常默认底座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950" b="0">
                <a:solidFill>
                  <a:srgbClr val="626F82"/>
                </a:solidFill>
                <a:latin typeface="Noto Sans CJK SC"/>
              </a:rPr>
              <a:t>最适合回答“如果全员默认都用高端模型，会贵多少”。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86868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2600" b="1">
                <a:solidFill>
                  <a:srgbClr val="0E1E40"/>
                </a:solidFill>
                <a:latin typeface="Noto Sans CJK SC"/>
              </a:rPr>
              <a:t>推荐采用“分层模型策略”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107899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150" b="0">
                <a:solidFill>
                  <a:srgbClr val="626F82"/>
                </a:solidFill>
                <a:latin typeface="Noto Sans CJK SC"/>
              </a:rPr>
              <a:t>真正高性价比通常不是“最强单模型”，而是“主力模型 + 专家模型”组合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4389120" cy="3474720"/>
          </a:xfrm>
          <a:prstGeom prst="roundRect">
            <a:avLst/>
          </a:prstGeom>
          <a:solidFill>
            <a:srgbClr val="EBF2FF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默认流量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/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推荐模型：GPT-5 或 GLM-5.1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/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适用：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• 日常开发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• 常规 Review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• 测试辅助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/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目标：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覆盖高频、标准化、成本敏感任务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417320"/>
            <a:ext cx="4389120" cy="3474720"/>
          </a:xfrm>
          <a:prstGeom prst="roundRect">
            <a:avLst/>
          </a:prstGeom>
          <a:solidFill>
            <a:srgbClr val="E9F4ED"/>
          </a:solidFill>
          <a:ln>
            <a:solidFill>
              <a:srgbClr val="268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升级流量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/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推荐模型：Claude Opus 4.1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/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适用：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• 复杂架构分析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• 高风险 PR 二次 review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• 疑难性能问题定位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/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目标：</a:t>
            </a:r>
          </a:p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在关键复杂任务上保留高质量能力</a:t>
            </a:r>
          </a:p>
        </p:txBody>
      </p:sp>
      <p:sp>
        <p:nvSpPr>
          <p:cNvPr id="6" name="Chevron 5"/>
          <p:cNvSpPr/>
          <p:nvPr/>
        </p:nvSpPr>
        <p:spPr>
          <a:xfrm>
            <a:off x="5440680" y="2468880"/>
            <a:ext cx="1051560" cy="685800"/>
          </a:xfrm>
          <a:prstGeom prst="chevron">
            <a:avLst/>
          </a:prstGeom>
          <a:solidFill>
            <a:srgbClr val="2D6ED2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升级条件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166360"/>
            <a:ext cx="100584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/>
          <a:lstStyle/>
          <a:p>
            <a:pPr algn="ctr"/>
            <a:r>
              <a:rPr sz="1600" b="1">
                <a:solidFill>
                  <a:srgbClr val="268653"/>
                </a:solidFill>
                <a:latin typeface="Noto Sans CJK SC"/>
              </a:rPr>
              <a:t>策略收益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6303E"/>
                </a:solidFill>
                <a:latin typeface="Noto Sans CJK SC"/>
              </a:rPr>
              <a:t>既保留复杂任务质量，又避免日常全量流量落在高价模型上导致成本失控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86868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2600" b="1">
                <a:solidFill>
                  <a:srgbClr val="0E1E40"/>
                </a:solidFill>
                <a:latin typeface="Noto Sans CJK SC"/>
              </a:rPr>
              <a:t>预算、治理与落地建议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58952"/>
            <a:ext cx="107899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150" b="0">
                <a:solidFill>
                  <a:srgbClr val="626F82"/>
                </a:solidFill>
                <a:latin typeface="Noto Sans CJK SC"/>
              </a:rPr>
              <a:t>建议先试运行 1 个月，再用真实调用日志校准预算模型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71600"/>
            <a:ext cx="502920" cy="411480"/>
          </a:xfrm>
          <a:prstGeom prst="roundRect">
            <a:avLst/>
          </a:prstGeom>
          <a:solidFill>
            <a:srgbClr val="2D6ED2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353312"/>
            <a:ext cx="9601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以“基线场景 94.60M tokens/月”作为预算测算起点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76272"/>
            <a:ext cx="502920" cy="411480"/>
          </a:xfrm>
          <a:prstGeom prst="roundRect">
            <a:avLst/>
          </a:prstGeom>
          <a:solidFill>
            <a:srgbClr val="268653"/>
          </a:solidFill>
          <a:ln>
            <a:solidFill>
              <a:srgbClr val="268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2157984"/>
            <a:ext cx="9601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默认启用缓存、上下文复用、模板化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80944"/>
            <a:ext cx="502920" cy="411480"/>
          </a:xfrm>
          <a:prstGeom prst="roundRect">
            <a:avLst/>
          </a:prstGeom>
          <a:solidFill>
            <a:srgbClr val="F37A29"/>
          </a:solidFill>
          <a:ln>
            <a:solidFill>
              <a:srgbClr val="F37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962656"/>
            <a:ext cx="9601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对 Review loop 设置轮次阈值，避免无上限反复对话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785616"/>
            <a:ext cx="502920" cy="411480"/>
          </a:xfrm>
          <a:prstGeom prst="roundRect">
            <a:avLst/>
          </a:prstGeom>
          <a:solidFill>
            <a:srgbClr val="2D6ED2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767328"/>
            <a:ext cx="9601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将环境排障、测例编写优先落到低成本模型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590288"/>
            <a:ext cx="502920" cy="411480"/>
          </a:xfrm>
          <a:prstGeom prst="roundRect">
            <a:avLst/>
          </a:prstGeom>
          <a:solidFill>
            <a:srgbClr val="B02525"/>
          </a:solidFill>
          <a:ln>
            <a:solidFill>
              <a:srgbClr val="B0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4572000"/>
            <a:ext cx="9601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6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26303E"/>
                </a:solidFill>
                <a:latin typeface="Noto Sans CJK SC"/>
              </a:rPr>
              <a:t>对关键任务保留高端模型升级通道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715000"/>
            <a:ext cx="10287000" cy="640080"/>
          </a:xfrm>
          <a:prstGeom prst="roundRect">
            <a:avLst/>
          </a:prstGeom>
          <a:solidFill>
            <a:srgbClr val="0E1E40"/>
          </a:solidFill>
          <a:ln>
            <a:solidFill>
              <a:srgbClr val="0E1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SC"/>
              </a:rPr>
              <a:t>一句话收尾：建议采用低成本主力模型承接日常流量，以高质量模型承接关键复杂任务，在保证效果的同时控制团队级成本。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