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总量(百万)</c:v>
                </c:pt>
              </c:strCache>
            </c:strRef>
          </c:tx>
          <c:spPr>
            <a:solidFill>
              <a:srgbClr val="3366CC"/>
            </a:solidFill>
          </c:spPr>
          <c:cat>
            <c:strRef>
              <c:f>Sheet1!$A$2:$A$4</c:f>
              <c:strCache>
                <c:ptCount val="3"/>
                <c:pt idx="0">
                  <c:v>保守</c:v>
                </c:pt>
                <c:pt idx="1">
                  <c:v>基线</c:v>
                </c:pt>
                <c:pt idx="2">
                  <c:v>激进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370.9</c:v>
                </c:pt>
                <c:pt idx="1">
                  <c:v>618.2</c:v>
                </c:pt>
                <c:pt idx="2">
                  <c:v>865.5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新输入</c:v>
                </c:pt>
              </c:strCache>
            </c:strRef>
          </c:tx>
          <c:spPr>
            <a:solidFill>
              <a:srgbClr val="3366CC"/>
            </a:solidFill>
          </c:spPr>
          <c:cat>
            <c:strRef>
              <c:f>Sheet1!$A$2:$A$4</c:f>
              <c:strCache>
                <c:ptCount val="3"/>
                <c:pt idx="0">
                  <c:v>需求生成</c:v>
                </c:pt>
                <c:pt idx="1">
                  <c:v>代码开发+Review</c:v>
                </c:pt>
                <c:pt idx="2">
                  <c:v>测试验证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35.2</c:v>
                </c:pt>
                <c:pt idx="1">
                  <c:v>79.2</c:v>
                </c:pt>
                <c:pt idx="2">
                  <c:v>35.2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缓存命中</c:v>
                </c:pt>
              </c:strCache>
            </c:strRef>
          </c:tx>
          <c:spPr>
            <a:solidFill>
              <a:srgbClr val="E98300"/>
            </a:solidFill>
          </c:spPr>
          <c:cat>
            <c:strRef>
              <c:f>Sheet1!$A$2:$A$4</c:f>
              <c:strCache>
                <c:ptCount val="3"/>
                <c:pt idx="0">
                  <c:v>需求生成</c:v>
                </c:pt>
                <c:pt idx="1">
                  <c:v>代码开发+Review</c:v>
                </c:pt>
                <c:pt idx="2">
                  <c:v>测试验证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61.6</c:v>
                </c:pt>
                <c:pt idx="1">
                  <c:v>184.8</c:v>
                </c:pt>
                <c:pt idx="2">
                  <c:v>63.8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输出</c:v>
                </c:pt>
              </c:strCache>
            </c:strRef>
          </c:tx>
          <c:spPr>
            <a:solidFill>
              <a:srgbClr val="2F847D"/>
            </a:solidFill>
          </c:spPr>
          <c:cat>
            <c:strRef>
              <c:f>Sheet1!$A$2:$A$4</c:f>
              <c:strCache>
                <c:ptCount val="3"/>
                <c:pt idx="0">
                  <c:v>需求生成</c:v>
                </c:pt>
                <c:pt idx="1">
                  <c:v>代码开发+Review</c:v>
                </c:pt>
                <c:pt idx="2">
                  <c:v>测试验证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26.4</c:v>
                </c:pt>
                <c:pt idx="1">
                  <c:v>88.0</c:v>
                </c:pt>
                <c:pt idx="2">
                  <c:v>44.0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554480" cy="91440"/>
          </a:xfrm>
          <a:prstGeom prst="rect">
            <a:avLst/>
          </a:prstGeom>
          <a:solidFill>
            <a:srgbClr val="E98300"/>
          </a:solidFill>
          <a:ln>
            <a:solidFill>
              <a:srgbClr val="E9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53312"/>
            <a:ext cx="104241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大模型定价与 20 人团队</a:t>
            </a:r>
            <a:br/>
            <a:r>
              <a:t>月度 Token 用量评估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35808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E4F0"/>
                </a:solidFill>
                <a:latin typeface="Microsoft YaHei"/>
              </a:defRPr>
            </a:pPr>
            <a:r>
              <a:t>覆盖 GLM-5.1 / Claude Opus 4.6 / GPT-5.4</a:t>
            </a:r>
            <a:br/>
            <a:r>
              <a:t>输出正式汇报口径、预算区间与落地建议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6235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4F0"/>
                </a:solidFill>
                <a:latin typeface="Microsoft YaHei"/>
              </a:defRPr>
            </a:pPr>
            <a:r>
              <a:t>版本：2026-04-15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368"/>
            <a:ext cx="7680960" cy="548640"/>
          </a:xfrm>
        </p:spPr>
        <p:txBody>
          <a:bodyPr/>
          <a:lstStyle/>
          <a:p>
            <a:pPr>
              <a:defRPr sz="2400" b="1">
                <a:solidFill>
                  <a:srgbClr val="12315B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面向管理层的 4 个决定性结论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743200" cy="1554480"/>
          </a:xfrm>
          <a:prstGeom prst="roundRect">
            <a:avLst/>
          </a:prstGeom>
          <a:solidFill>
            <a:srgbClr val="E6F0FC"/>
          </a:solidFill>
          <a:ln>
            <a:solidFill>
              <a:srgbClr val="E6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77393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预算基线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84832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6.18 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78608"/>
            <a:ext cx="24140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20 人团队月度 token 基线预算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743200" cy="1554480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77393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主成本池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084832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57%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578608"/>
            <a:ext cx="24140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代码开发 + Review loop 占总量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2743200" cy="1554480"/>
          </a:xfrm>
          <a:prstGeom prst="roundRect">
            <a:avLst/>
          </a:prstGeom>
          <a:solidFill>
            <a:srgbClr val="E4F4F2"/>
          </a:solidFill>
          <a:ln>
            <a:solidFill>
              <a:srgbClr val="E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7393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最低人民币口径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84832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GLM-5.1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578608"/>
            <a:ext cx="24140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但长上下文会触发更高分档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468880" cy="1554480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1773936"/>
            <a:ext cx="21396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国际主力建议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084832"/>
            <a:ext cx="21396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GPT-5.4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578608"/>
            <a:ext cx="213969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Opus 4.6 适合高价值升级任务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611880"/>
            <a:ext cx="10789920" cy="2377440"/>
          </a:xfrm>
          <a:prstGeom prst="rect">
            <a:avLst/>
          </a:prstGeom>
          <a:noFill/>
        </p:spPr>
        <p:txBody>
          <a:bodyPr wrap="square" lIns="76200" rIns="50800" tIns="25400" bIns="2540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GLM-5.1 当前公开人民币单价最低，但输入长度 &lt;32K / &gt;=32K 分档会直接影响成本。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GPT-5.4 的价格、缓存输入、超长上下文能力组合最均衡，适合作为国际通用主力模型。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Claude Opus 4.6 适合复杂架构推演、关键疑难问题定位和最终高价值 Review，不适合全员全程默认主力。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更合理的规划不是只比单价，而是按“主力模型 + 升级模型 + 成本控制策略”组合决策。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282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570"/>
                </a:solidFill>
                <a:latin typeface="Microsoft YaHei"/>
              </a:defRPr>
            </a:pPr>
            <a:r>
              <a:t>来源：OpenAI / Anthropic / 智谱官方定价与模型文档，2026-04-15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368"/>
            <a:ext cx="7680960" cy="548640"/>
          </a:xfrm>
        </p:spPr>
        <p:txBody>
          <a:bodyPr/>
          <a:lstStyle/>
          <a:p>
            <a:pPr>
              <a:defRPr sz="2400" b="1">
                <a:solidFill>
                  <a:srgbClr val="12315B"/>
                </a:solidFill>
                <a:latin typeface="Microsoft YaHei"/>
              </a:defRPr>
            </a:pPr>
            <a:r>
              <a:t>三家模型价格总览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先看公开 API 单价，再看缓存和长上下文门槛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15B"/>
                </a:solidFill>
                <a:latin typeface="Microsoft YaHei"/>
              </a:defRPr>
            </a:pPr>
            <a:r>
              <a:t>结论：GLM-5.1 人民币口径最低；GPT-5.4 国际价格最均衡；Claude Opus 4.6 适合高价值升级而非全量承接。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11109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1231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输入价格</a:t>
                      </a:r>
                    </a:p>
                  </a:txBody>
                  <a:tcPr>
                    <a:solidFill>
                      <a:srgbClr val="1231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缓存/命中</a:t>
                      </a:r>
                    </a:p>
                  </a:txBody>
                  <a:tcPr>
                    <a:solidFill>
                      <a:srgbClr val="1231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输出价格</a:t>
                      </a:r>
                    </a:p>
                  </a:txBody>
                  <a:tcPr>
                    <a:solidFill>
                      <a:srgbClr val="1231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>
                    <a:solidFill>
                      <a:srgbClr val="12315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GLM-5.1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6 / 8 元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(&lt;32K / &gt;=32K)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1.3 / 2 元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命中价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24 / 28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缓存存储限时免费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有效期至 8 月 31 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Claude Opus 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$5 / MTok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缓存命中最高节省 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$25 / MTok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Batch 50% 折扣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1M beta 上下文更贵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GPT-5.4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$2.50 / 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$0.25 / 1M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cached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$15.00 / 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&gt;272K 后输入 2x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输出 1.5x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800600"/>
            <a:ext cx="3383280" cy="1097280"/>
          </a:xfrm>
          <a:prstGeom prst="roundRect">
            <a:avLst/>
          </a:prstGeom>
          <a:solidFill>
            <a:srgbClr val="E6F0FC"/>
          </a:solidFill>
          <a:ln>
            <a:solidFill>
              <a:srgbClr val="E6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928616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最低人民币成本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239512"/>
            <a:ext cx="30540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GLM-5.1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733288"/>
            <a:ext cx="305409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适合中文研发协作与成本敏感场景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800600"/>
            <a:ext cx="3383280" cy="1097280"/>
          </a:xfrm>
          <a:prstGeom prst="roundRect">
            <a:avLst/>
          </a:prstGeom>
          <a:solidFill>
            <a:srgbClr val="E4F4F2"/>
          </a:solidFill>
          <a:ln>
            <a:solidFill>
              <a:srgbClr val="E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4928616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最均衡国际主力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5239512"/>
            <a:ext cx="30540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GPT-5.4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5733288"/>
            <a:ext cx="305409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缓存输入清晰、上下文能力强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800600"/>
            <a:ext cx="3017520" cy="1097280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928616"/>
            <a:ext cx="2688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高质量升级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5239512"/>
            <a:ext cx="2688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Opus 4.6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5733288"/>
            <a:ext cx="268833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适合复杂任务，不适合全量默认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282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570"/>
                </a:solidFill>
                <a:latin typeface="Microsoft YaHei"/>
              </a:defRPr>
            </a:pPr>
            <a:r>
              <a:t>价格口径：公开 API 定价；未计入税费、企业协议折扣和代理层加价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368"/>
            <a:ext cx="7680960" cy="548640"/>
          </a:xfrm>
        </p:spPr>
        <p:txBody>
          <a:bodyPr/>
          <a:lstStyle/>
          <a:p>
            <a:pPr>
              <a:defRPr sz="2400" b="1">
                <a:solidFill>
                  <a:srgbClr val="12315B"/>
                </a:solidFill>
                <a:latin typeface="Microsoft YaHei"/>
              </a:defRPr>
            </a:pPr>
            <a:r>
              <a:t>三家模型限制总览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真正影响可用性的不是单价，而是上下文、最大输出和并发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08760"/>
          <a:ext cx="111099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1231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上下文窗口</a:t>
                      </a:r>
                    </a:p>
                  </a:txBody>
                  <a:tcPr>
                    <a:solidFill>
                      <a:srgbClr val="1231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最大输出</a:t>
                      </a:r>
                    </a:p>
                  </a:txBody>
                  <a:tcPr>
                    <a:solidFill>
                      <a:srgbClr val="1231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速率/并发</a:t>
                      </a:r>
                    </a:p>
                  </a:txBody>
                  <a:tcPr>
                    <a:solidFill>
                      <a:srgbClr val="1231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>
                    <a:solidFill>
                      <a:srgbClr val="12315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GLM-5.1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200K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128K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官方未公开固定 RPM/TPM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按权益与并发管理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Coding Plan 并发不可单独申请调整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Claude Opus 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200K 标准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1M 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128K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Tier 1: 50 RPM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30,000 ITPM / 8,000 OTPM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高价值复杂任务更合适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GPT-5.4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1,048,576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128K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Tier 1: 500 RPM / 500K TPM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Tier 4: 10K RPM / 4M TPM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公开规格最完整也最透明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663440"/>
            <a:ext cx="5669280" cy="1280160"/>
          </a:xfrm>
          <a:prstGeom prst="rect">
            <a:avLst/>
          </a:prstGeom>
          <a:noFill/>
        </p:spPr>
        <p:txBody>
          <a:bodyPr wrap="square" lIns="76200" rIns="50800" tIns="25400" bIns="2540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长上下文能力最强：GPT-5.4。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复杂推理升级通道：Claude Opus 4.6。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团队规模化成本优势：GLM-5.1，但要控制 &gt;=32K 输入档占比。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4572000"/>
            <a:ext cx="4663440" cy="1325880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76288" y="4736592"/>
            <a:ext cx="4297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7"/>
                </a:solidFill>
                <a:latin typeface="Microsoft YaHei"/>
              </a:defRPr>
            </a:pPr>
            <a:r>
              <a:t>注意：GLM-5.1 模型页示例代码出现 max_tokens=65536，但官方模型概览页写明最大输出为 128K，本汇报以概览页为准。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282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570"/>
                </a:solidFill>
                <a:latin typeface="Microsoft YaHei"/>
              </a:defRPr>
            </a:pPr>
            <a:r>
              <a:t>限制口径：官方模型页 / 模型概览 / 速率限制文档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368"/>
            <a:ext cx="7680960" cy="548640"/>
          </a:xfrm>
        </p:spPr>
        <p:txBody>
          <a:bodyPr/>
          <a:lstStyle/>
          <a:p>
            <a:pPr>
              <a:defRPr sz="2400" b="1">
                <a:solidFill>
                  <a:srgbClr val="12315B"/>
                </a:solidFill>
                <a:latin typeface="Microsoft YaHei"/>
              </a:defRPr>
            </a:pPr>
            <a:r>
              <a:t>20 人团队月度 Token 基线模型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预算区间的关键不是点值，而是基线与波动范围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585216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49440" y="1737360"/>
            <a:ext cx="201168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14032" y="186537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保守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032" y="2176272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370.9M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2670048"/>
            <a:ext cx="168249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AI 辅助问答 + 有限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737360"/>
            <a:ext cx="2011680" cy="1417320"/>
          </a:xfrm>
          <a:prstGeom prst="roundRect">
            <a:avLst/>
          </a:prstGeom>
          <a:solidFill>
            <a:srgbClr val="E6F0FC"/>
          </a:solidFill>
          <a:ln>
            <a:solidFill>
              <a:srgbClr val="E6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2" y="186537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2176272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618.2M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2670048"/>
            <a:ext cx="168249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AI 深度接入开发与测试循环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337560"/>
            <a:ext cx="4160520" cy="1417320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3465576"/>
            <a:ext cx="3831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激进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3776472"/>
            <a:ext cx="3831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865.5M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270248"/>
            <a:ext cx="383133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高频 agentic coding + 长上下文 + 重度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40680"/>
            <a:ext cx="10607040" cy="822960"/>
          </a:xfrm>
          <a:prstGeom prst="rect">
            <a:avLst/>
          </a:prstGeom>
          <a:noFill/>
        </p:spPr>
        <p:txBody>
          <a:bodyPr wrap="square" lIns="76200" rIns="50800" tIns="25400" bIns="2540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规划区间建议按 3.7 亿到 8.7 亿 tokens/月，而不是只预留一个静态点值。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基线场景可作为预算、限流和路由策略的默认经营口径。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如果团队开始大规模使用自动修复、长上下文代码代理，消耗会向激进场景快速靠拢。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282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570"/>
                </a:solidFill>
                <a:latin typeface="Microsoft YaHei"/>
              </a:defRPr>
            </a:pPr>
            <a:r>
              <a:t>假设：20 人、22 个工作日、需求/开发/测试三环节都深度使用大模型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368"/>
            <a:ext cx="7680960" cy="548640"/>
          </a:xfrm>
        </p:spPr>
        <p:txBody>
          <a:bodyPr/>
          <a:lstStyle/>
          <a:p>
            <a:pPr>
              <a:defRPr sz="2400" b="1">
                <a:solidFill>
                  <a:srgbClr val="12315B"/>
                </a:solidFill>
                <a:latin typeface="Microsoft YaHei"/>
              </a:defRPr>
            </a:pPr>
            <a:r>
              <a:t>分环节用量拆分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代码开发与 Review loop 是绝对主成本池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64008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43800" y="1737360"/>
            <a:ext cx="3657600" cy="1234440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8392" y="1865376"/>
            <a:ext cx="3328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最大头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8392" y="2176272"/>
            <a:ext cx="33284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56.9%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670048"/>
            <a:ext cx="33284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代码开发 + Review 占比最高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154680"/>
            <a:ext cx="3657600" cy="1234440"/>
          </a:xfrm>
          <a:prstGeom prst="roundRect">
            <a:avLst/>
          </a:prstGeom>
          <a:solidFill>
            <a:srgbClr val="E4F4F2"/>
          </a:solidFill>
          <a:ln>
            <a:solidFill>
              <a:srgbClr val="E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3282696"/>
            <a:ext cx="3328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管理重点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593592"/>
            <a:ext cx="33284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缓存复用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4087368"/>
            <a:ext cx="33284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高频往返和重复读取决定账单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572000"/>
            <a:ext cx="3657600" cy="1234440"/>
          </a:xfrm>
          <a:prstGeom prst="roundRect">
            <a:avLst/>
          </a:prstGeom>
          <a:solidFill>
            <a:srgbClr val="E6F0FC"/>
          </a:solidFill>
          <a:ln>
            <a:solidFill>
              <a:srgbClr val="E6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4700016"/>
            <a:ext cx="3328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不要误判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5010912"/>
            <a:ext cx="33284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不是需求阶段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5504688"/>
            <a:ext cx="33284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需求分析不是主成本来源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282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570"/>
                </a:solidFill>
                <a:latin typeface="Microsoft YaHei"/>
              </a:defRPr>
            </a:pPr>
            <a:r>
              <a:t>基线拆分：需求 123.2M / 开发+Review 352.0M / 测试 143.0M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368"/>
            <a:ext cx="7680960" cy="548640"/>
          </a:xfrm>
        </p:spPr>
        <p:txBody>
          <a:bodyPr/>
          <a:lstStyle/>
          <a:p>
            <a:pPr>
              <a:defRPr sz="2400" b="1">
                <a:solidFill>
                  <a:srgbClr val="12315B"/>
                </a:solidFill>
                <a:latin typeface="Microsoft YaHei"/>
              </a:defRPr>
            </a:pPr>
            <a:r>
              <a:t>基线月费测算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同一基线流量下，模型路由策略比单价对比更重要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29000" cy="2057400"/>
          </a:xfrm>
          <a:prstGeom prst="roundRect">
            <a:avLst/>
          </a:prstGeom>
          <a:solidFill>
            <a:srgbClr val="E6F0FC"/>
          </a:solidFill>
          <a:ln>
            <a:solidFill>
              <a:srgbClr val="E6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65376"/>
            <a:ext cx="30998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GLM-5.1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76272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5,102 元 ~ 6,252 元/月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70048"/>
            <a:ext cx="30998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取决于 &lt;32K / &gt;=32K 输入长度分档；混合负载下更接近 5.6K 元/月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737360"/>
            <a:ext cx="3429000" cy="2057400"/>
          </a:xfrm>
          <a:prstGeom prst="roundRect">
            <a:avLst/>
          </a:prstGeom>
          <a:solidFill>
            <a:srgbClr val="E4F4F2"/>
          </a:solidFill>
          <a:ln>
            <a:solidFill>
              <a:srgbClr val="E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865376"/>
            <a:ext cx="30998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GPT-5.4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76272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$2,828 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670048"/>
            <a:ext cx="30998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已计入 cached input 价格；若频繁超过 272K 上下文，成本会继续上浮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29000" cy="2057400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865376"/>
            <a:ext cx="30998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Claude Opus 4.6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76272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$4,863 ~ $6,259 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670048"/>
            <a:ext cx="30998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适合作为升级模型；全量默认使用会显著放大账单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160520"/>
            <a:ext cx="10789920" cy="1417320"/>
          </a:xfrm>
          <a:prstGeom prst="rect">
            <a:avLst/>
          </a:prstGeom>
          <a:noFill/>
        </p:spPr>
        <p:txBody>
          <a:bodyPr wrap="square" lIns="76200" rIns="50800" tIns="25400" bIns="2540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如果目标是人民币成本最低，优先考虑 GLM-5.1，但要严控长输入分档。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如果目标是国际主力模型，GPT-5.4 的成本/能力组合最均衡。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如果目标是难题突破率，保留 Claude Opus 4.6 作为升级通道，而不是日常默认流量入口。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282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570"/>
                </a:solidFill>
                <a:latin typeface="Microsoft YaHei"/>
              </a:defRPr>
            </a:pPr>
            <a:r>
              <a:t>说明：未计税费、企业协议折扣、代理层加价和私有部署费用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368"/>
            <a:ext cx="7680960" cy="548640"/>
          </a:xfrm>
        </p:spPr>
        <p:txBody>
          <a:bodyPr/>
          <a:lstStyle/>
          <a:p>
            <a:pPr>
              <a:defRPr sz="2400" b="1">
                <a:solidFill>
                  <a:srgbClr val="12315B"/>
                </a:solidFill>
                <a:latin typeface="Microsoft YaHei"/>
              </a:defRPr>
            </a:pPr>
            <a:r>
              <a:t>模型分工建议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用“主力模型 + 升级模型”替代“单一最好模型”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926080" cy="2148840"/>
          </a:xfrm>
          <a:prstGeom prst="roundRect">
            <a:avLst/>
          </a:prstGeom>
          <a:solidFill>
            <a:srgbClr val="E6F0FC"/>
          </a:solidFill>
          <a:ln>
            <a:solidFill>
              <a:srgbClr val="E6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7627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15B"/>
                </a:solidFill>
                <a:latin typeface="Microsoft YaHei"/>
              </a:defRPr>
            </a:pPr>
            <a:r>
              <a:t>日常开发主力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15184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GLM-5.1 / GPT-5.4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27248"/>
            <a:ext cx="2560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0"/>
                </a:solidFill>
                <a:latin typeface="Microsoft YaHei"/>
              </a:defRPr>
            </a:pPr>
            <a:r>
              <a:t>普通编码、解释、样板测试、常规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2926080" cy="2148840"/>
          </a:xfrm>
          <a:prstGeom prst="roundRect">
            <a:avLst/>
          </a:prstGeom>
          <a:solidFill>
            <a:srgbClr val="E4F4F2"/>
          </a:solidFill>
          <a:ln>
            <a:solidFill>
              <a:srgbClr val="E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217627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15B"/>
                </a:solidFill>
                <a:latin typeface="Microsoft YaHei"/>
              </a:defRPr>
            </a:pPr>
            <a:r>
              <a:t>复杂任务升级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615184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Claude Opus 4.6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3127248"/>
            <a:ext cx="2560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0"/>
                </a:solidFill>
                <a:latin typeface="Microsoft YaHei"/>
              </a:defRPr>
            </a:pPr>
            <a:r>
              <a:t>架构争议、关键性能瓶颈、最终高价值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011680"/>
            <a:ext cx="2926080" cy="2148840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217627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15B"/>
                </a:solidFill>
                <a:latin typeface="Microsoft YaHei"/>
              </a:defRPr>
            </a:pPr>
            <a:r>
              <a:t>成本优化层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2615184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缓存 + 裁剪 + 路由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3127248"/>
            <a:ext cx="2560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0"/>
                </a:solidFill>
                <a:latin typeface="Microsoft YaHei"/>
              </a:defRPr>
            </a:pPr>
            <a:r>
              <a:t>控制 &gt;=32K 输入档和超长上下文触发频率</a:t>
            </a:r>
          </a:p>
        </p:txBody>
      </p:sp>
      <p:sp>
        <p:nvSpPr>
          <p:cNvPr id="17" name="Chevron 16"/>
          <p:cNvSpPr/>
          <p:nvPr/>
        </p:nvSpPr>
        <p:spPr>
          <a:xfrm>
            <a:off x="3520440" y="2651760"/>
            <a:ext cx="411480" cy="502920"/>
          </a:xfrm>
          <a:prstGeom prst="chevron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6995160" y="2651760"/>
            <a:ext cx="411480" cy="502920"/>
          </a:xfrm>
          <a:prstGeom prst="chevron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754880"/>
            <a:ext cx="10789920" cy="1005840"/>
          </a:xfrm>
          <a:prstGeom prst="rect">
            <a:avLst/>
          </a:prstGeom>
          <a:noFill/>
        </p:spPr>
        <p:txBody>
          <a:bodyPr wrap="square" lIns="76200" rIns="50800" tIns="25400" bIns="2540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国内优先：GLM-5.1 适合中文研发协作与预算敏感场景。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国际优先：GPT-5.4 适合作为默认主力模型。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不建议：把 Claude Opus 4.6 承接所有普通补全、样板代码和测试脚手架。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282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570"/>
                </a:solidFill>
                <a:latin typeface="Microsoft YaHei"/>
              </a:defRPr>
            </a:pPr>
            <a:r>
              <a:t>推荐策略：主力模型承接 80% 流量，升级模型处理 20% 的高价值难题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368"/>
            <a:ext cx="7680960" cy="548640"/>
          </a:xfrm>
        </p:spPr>
        <p:txBody>
          <a:bodyPr/>
          <a:lstStyle/>
          <a:p>
            <a:pPr>
              <a:defRPr sz="2400" b="1">
                <a:solidFill>
                  <a:srgbClr val="12315B"/>
                </a:solidFill>
                <a:latin typeface="Microsoft YaHei"/>
              </a:defRPr>
            </a:pPr>
            <a:r>
              <a:t>成本控制抓手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先抓主成本池，再抓长上下文，再抓缓存复用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10881360" cy="713232"/>
          </a:xfrm>
          <a:prstGeom prst="roundRect">
            <a:avLst/>
          </a:prstGeom>
          <a:solidFill>
            <a:srgbClr val="E6F0FC"/>
          </a:solidFill>
          <a:ln>
            <a:solidFill>
              <a:srgbClr val="E6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916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抓住主成本池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69164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优先优化代码开发 + Review loop，而不是只盯需求分析。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0881360" cy="713232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606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控制长上下文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60604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避免 GLM-5.1 大量落到 &gt;=32K 输入档，避免 GPT-5.4 高频触发 &gt;272K 计费门槛。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429000"/>
            <a:ext cx="10881360" cy="713232"/>
          </a:xfrm>
          <a:prstGeom prst="roundRect">
            <a:avLst/>
          </a:prstGeom>
          <a:solidFill>
            <a:srgbClr val="E4F4F2"/>
          </a:solidFill>
          <a:ln>
            <a:solidFill>
              <a:srgbClr val="E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5204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强制上下文裁剪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52044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只传相关文件片段、关键日志片段和最小可复现信息。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343400"/>
            <a:ext cx="10881360" cy="71323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4348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开启缓存复用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43484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在 IDE / Agent 层优先复用上下文，减少重复读仓库和日志。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257800"/>
            <a:ext cx="10881360" cy="713232"/>
          </a:xfrm>
          <a:prstGeom prst="roundRect">
            <a:avLst/>
          </a:prstGeom>
          <a:solidFill>
            <a:srgbClr val="E6F0FC"/>
          </a:solidFill>
          <a:ln>
            <a:solidFill>
              <a:srgbClr val="E6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3492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做模型分级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34924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主力模型负责规模化吞吐，贵模型只承担升级任务。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282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570"/>
                </a:solidFill>
                <a:latin typeface="Microsoft YaHei"/>
              </a:defRPr>
            </a:pPr>
            <a:r>
              <a:t>控制顺序建议：开发 Review → 长上下文 → 缓存复用 → 路由分级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368"/>
            <a:ext cx="7680960" cy="548640"/>
          </a:xfrm>
        </p:spPr>
        <p:txBody>
          <a:bodyPr/>
          <a:lstStyle/>
          <a:p>
            <a:pPr>
              <a:defRPr sz="2400" b="1">
                <a:solidFill>
                  <a:srgbClr val="12315B"/>
                </a:solidFill>
                <a:latin typeface="Microsoft YaHei"/>
              </a:defRPr>
            </a:pPr>
            <a:r>
              <a:t>推荐落地路径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先试点，再放量，再按成本和质量做路由收敛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2011680"/>
            <a:ext cx="658368" cy="658368"/>
          </a:xfrm>
          <a:prstGeom prst="ellipse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30552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1056" y="1975104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15B"/>
                </a:solidFill>
                <a:latin typeface="Microsoft YaHei"/>
              </a:defRPr>
            </a:pPr>
            <a:r>
              <a:t>先试点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1056" y="2331720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选 1-2 个研发小组，跑通需求分析、开发、测试三环节。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45536" y="2212848"/>
            <a:ext cx="347472" cy="347472"/>
          </a:xfrm>
          <a:prstGeom prst="chevron">
            <a:avLst/>
          </a:prstGeom>
          <a:solidFill>
            <a:srgbClr val="E98300"/>
          </a:solidFill>
          <a:ln>
            <a:solidFill>
              <a:srgbClr val="E9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38727" y="2011680"/>
            <a:ext cx="658368" cy="658368"/>
          </a:xfrm>
          <a:prstGeom prst="ellipse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7" y="2130552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5" y="1975104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15B"/>
                </a:solidFill>
                <a:latin typeface="Microsoft YaHei"/>
              </a:defRPr>
            </a:pPr>
            <a:r>
              <a:t>定口径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5" y="2331720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统一记录新输入、缓存命中、输出和真实月账单。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5934455" y="2212848"/>
            <a:ext cx="347472" cy="347472"/>
          </a:xfrm>
          <a:prstGeom prst="chevron">
            <a:avLst/>
          </a:prstGeom>
          <a:solidFill>
            <a:srgbClr val="E98300"/>
          </a:solidFill>
          <a:ln>
            <a:solidFill>
              <a:srgbClr val="E9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27648" y="2011680"/>
            <a:ext cx="658368" cy="658368"/>
          </a:xfrm>
          <a:prstGeom prst="ellipse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130552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1975104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15B"/>
                </a:solidFill>
                <a:latin typeface="Microsoft YaHei"/>
              </a:defRPr>
            </a:pPr>
            <a:r>
              <a:t>做路由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2331720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把主力模型与升级模型职责固定下来，减少人工切换。</a:t>
            </a:r>
          </a:p>
        </p:txBody>
      </p:sp>
      <p:sp>
        <p:nvSpPr>
          <p:cNvPr id="19" name="Chevron 18"/>
          <p:cNvSpPr/>
          <p:nvPr/>
        </p:nvSpPr>
        <p:spPr>
          <a:xfrm>
            <a:off x="8723376" y="2212848"/>
            <a:ext cx="347472" cy="347472"/>
          </a:xfrm>
          <a:prstGeom prst="chevron">
            <a:avLst/>
          </a:prstGeom>
          <a:solidFill>
            <a:srgbClr val="E98300"/>
          </a:solidFill>
          <a:ln>
            <a:solidFill>
              <a:srgbClr val="E9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16567" y="2011680"/>
            <a:ext cx="658368" cy="658368"/>
          </a:xfrm>
          <a:prstGeom prst="ellipse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7" y="2130552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7815" y="1975104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15B"/>
                </a:solidFill>
                <a:latin typeface="Microsoft YaHei"/>
              </a:defRPr>
            </a:pPr>
            <a:r>
              <a:t>看经营指标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7815" y="2331720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每月复盘成本、响应质量、交付效率和失败重试率。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251960"/>
            <a:ext cx="1042416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62272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Microsoft YaHei"/>
              </a:defRPr>
            </a:pPr>
            <a:r>
              <a:t>推荐组合：如果国内研发占主导，就先以 GLM-5.1 为试点主力；如果需要统一全球研发体验，就先以 GPT-5.4 为主力，再把 Claude Opus 4.6 接成升级通道。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282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570"/>
                </a:solidFill>
                <a:latin typeface="Microsoft YaHei"/>
              </a:defRPr>
            </a:pPr>
            <a:r>
              <a:t>目标不是一次选到最优模型，而是建立可持续的模型经营机制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368"/>
            <a:ext cx="7680960" cy="548640"/>
          </a:xfrm>
        </p:spPr>
        <p:txBody>
          <a:bodyPr/>
          <a:lstStyle/>
          <a:p>
            <a:pPr>
              <a:defRPr sz="2400" b="1">
                <a:solidFill>
                  <a:srgbClr val="12315B"/>
                </a:solidFill>
                <a:latin typeface="Microsoft YaHei"/>
              </a:defRPr>
            </a:pPr>
            <a:r>
              <a:t>风险与注意事项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选型失败通常不是模型太弱，而是口径、路由和上下文管理失控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1554480" cy="676656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37944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价格波动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1810512"/>
            <a:ext cx="8458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Microsoft YaHei"/>
              </a:defRPr>
            </a:pPr>
            <a:r>
              <a:t>GLM-5.1 当前价格配置带有效期；后续可能调整。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43200"/>
            <a:ext cx="1554480" cy="676656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89504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长上下文失控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862072"/>
            <a:ext cx="8458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Microsoft YaHei"/>
              </a:defRPr>
            </a:pPr>
            <a:r>
              <a:t>随着 agentic coding 深入，超长上下文比例会快速抬升。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94760"/>
            <a:ext cx="1554480" cy="676656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41064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缓存收益不稳定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3913632"/>
            <a:ext cx="8458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Microsoft YaHei"/>
              </a:defRPr>
            </a:pPr>
            <a:r>
              <a:t>团队工具链不同，缓存命中率可能与预期差异较大。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846320"/>
            <a:ext cx="1554480" cy="676656"/>
          </a:xfrm>
          <a:prstGeom prst="roundRect">
            <a:avLst/>
          </a:prstGeom>
          <a:solidFill>
            <a:srgbClr val="FDF1DF"/>
          </a:solidFill>
          <a:ln>
            <a:solidFill>
              <a:srgbClr val="FD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992624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15B"/>
                </a:solidFill>
                <a:latin typeface="Microsoft YaHei"/>
              </a:defRPr>
            </a:pPr>
            <a:r>
              <a:t>跨币种比较偏差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4965192"/>
            <a:ext cx="8458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Microsoft YaHei"/>
              </a:defRPr>
            </a:pPr>
            <a:r>
              <a:t>GLM 用人民币、OpenAI/Anthropic 用美元；采购决策需补充汇率和税费口径。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282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570"/>
                </a:solidFill>
                <a:latin typeface="Microsoft YaHei"/>
              </a:defRPr>
            </a:pPr>
            <a:r>
              <a:t>建议每月回顾一次：价格、上下文分布、缓存命中率、失败重试率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368"/>
            <a:ext cx="7680960" cy="548640"/>
          </a:xfrm>
        </p:spPr>
        <p:txBody>
          <a:bodyPr/>
          <a:lstStyle/>
          <a:p>
            <a:pPr>
              <a:defRPr sz="2400" b="1">
                <a:solidFill>
                  <a:srgbClr val="12315B"/>
                </a:solidFill>
                <a:latin typeface="Microsoft YaHei"/>
              </a:defRPr>
            </a:pPr>
            <a:r>
              <a:t>附录：来源与口径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5B"/>
          </a:solidFill>
          <a:ln>
            <a:solidFill>
              <a:srgbClr val="12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PPT 数字全部来自现有调研文档的公开口径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2286000"/>
          </a:xfrm>
          <a:prstGeom prst="rect">
            <a:avLst/>
          </a:prstGeom>
          <a:noFill/>
        </p:spPr>
        <p:txBody>
          <a:bodyPr wrap="square" lIns="76200" rIns="50800" tIns="25400" bIns="2540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来源：OpenAI 官方 API Pricing 与 GPT-5.4 模型页。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来源：Anthropic 官方 Claude Opus 4.6 页面、发布页与 rate limits 文档。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来源：智谱官方模型概览、速率限制文档，以及官方价格页前端静态资源提取。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用量模型假设：20 人、22 个工作日、三环节都深度使用大模型；不含 embedding、图像/音视频、税费和代理层加价。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本 PPT 为管理汇报口径，不等同于企业协议价、私有部署价或真实采购合同价。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10698480" cy="1097280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73659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Microsoft YaHei"/>
              </a:defRPr>
            </a:pPr>
            <a:r>
              <a:t>如需采购决策版，可进一步补充：人民币/美元统一汇率口径、税费口径、模型 SLA、数据合规要求、企业协议折扣。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282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570"/>
                </a:solidFill>
                <a:latin typeface="Microsoft YaHei"/>
              </a:defRPr>
            </a:pPr>
            <a:r>
              <a:t>源文档：2026-04-15-llm-pricing-and-usage-report.md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