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notesMasterIdLst>
    <p:notesMasterId r:id="rId23"/>
  </p:notesMasterIdLst>
  <p:sldIdLst>
    <p:sldId id="5787" r:id="rId2"/>
    <p:sldId id="5782" r:id="rId3"/>
    <p:sldId id="5785" r:id="rId4"/>
    <p:sldId id="5789" r:id="rId5"/>
    <p:sldId id="5790" r:id="rId6"/>
    <p:sldId id="5791" r:id="rId7"/>
    <p:sldId id="5793" r:id="rId8"/>
    <p:sldId id="5120" r:id="rId9"/>
    <p:sldId id="5142" r:id="rId10"/>
    <p:sldId id="5121" r:id="rId11"/>
    <p:sldId id="5794" r:id="rId12"/>
    <p:sldId id="5144" r:id="rId13"/>
    <p:sldId id="5143" r:id="rId14"/>
    <p:sldId id="5145" r:id="rId15"/>
    <p:sldId id="5147" r:id="rId16"/>
    <p:sldId id="5146" r:id="rId17"/>
    <p:sldId id="5788" r:id="rId18"/>
    <p:sldId id="5783" r:id="rId19"/>
    <p:sldId id="5784" r:id="rId20"/>
    <p:sldId id="5786" r:id="rId21"/>
    <p:sldId id="5792" r:id="rId2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zhang wy" initials="zw" lastIdx="1" clrIdx="0">
    <p:extLst>
      <p:ext uri="{19B8F6BF-5375-455C-9EA6-DF929625EA0E}">
        <p15:presenceInfo xmlns:p15="http://schemas.microsoft.com/office/powerpoint/2012/main" userId="e52c2d8f3f35aba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88730" autoAdjust="0"/>
  </p:normalViewPr>
  <p:slideViewPr>
    <p:cSldViewPr snapToGrid="0" showGuides="1">
      <p:cViewPr varScale="1">
        <p:scale>
          <a:sx n="100" d="100"/>
          <a:sy n="100" d="100"/>
        </p:scale>
        <p:origin x="876" y="9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570CEE1-2EBE-4AF5-B327-F540A38A678F}" type="datetimeFigureOut">
              <a:rPr lang="zh-CN" altLang="en-US" smtClean="0"/>
              <a:t>2023/12/14</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AE1547-AFA0-4E77-8634-29935CFA9D36}" type="slidenum">
              <a:rPr lang="zh-CN" altLang="en-US" smtClean="0"/>
              <a:t>‹#›</a:t>
            </a:fld>
            <a:endParaRPr lang="zh-CN" altLang="en-US"/>
          </a:p>
        </p:txBody>
      </p:sp>
    </p:spTree>
    <p:extLst>
      <p:ext uri="{BB962C8B-B14F-4D97-AF65-F5344CB8AC3E}">
        <p14:creationId xmlns:p14="http://schemas.microsoft.com/office/powerpoint/2010/main" val="425979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509815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480162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9025057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9778977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%rip </a:t>
            </a:r>
            <a:r>
              <a:rPr lang="zh-CN" altLang="en-US" dirty="0"/>
              <a:t>的名称来自于</a:t>
            </a:r>
            <a:r>
              <a:rPr lang="en-US" altLang="zh-CN" dirty="0"/>
              <a:t>(instruction pointer register</a:t>
            </a:r>
            <a:r>
              <a:rPr lang="zh-CN" altLang="en-US" dirty="0"/>
              <a:t>，指令指针寄存器</a:t>
            </a:r>
            <a:r>
              <a:rPr lang="en-US" altLang="zh-CN" dirty="0"/>
              <a:t>)</a:t>
            </a:r>
            <a:r>
              <a:rPr lang="zh-CN" altLang="en-US" dirty="0"/>
              <a:t>。</a:t>
            </a:r>
            <a:r>
              <a:rPr lang="en-US" altLang="zh-CN" dirty="0"/>
              <a:t>%rip</a:t>
            </a:r>
            <a:r>
              <a:rPr lang="zh-CN" altLang="en-US" dirty="0"/>
              <a:t>其实就是程序计数器</a:t>
            </a:r>
            <a:r>
              <a:rPr lang="en-US" altLang="zh-CN" dirty="0"/>
              <a:t>(Program Counter, PC), </a:t>
            </a:r>
            <a:r>
              <a:rPr lang="zh-CN" altLang="en-US" dirty="0"/>
              <a:t>存放着下一条指令的地址</a:t>
            </a:r>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5028527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453817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0931884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679264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1071017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2926832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7229626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248260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6760387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40614327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492271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17454117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837819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8509397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57641029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716014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2AE1547-AFA0-4E77-8634-29935CFA9D36}"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0354575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561975"/>
            <a:ext cx="12192000" cy="557213"/>
          </a:xfrm>
        </p:spPr>
        <p:txBody>
          <a:bodyPr/>
          <a:lstStyle/>
          <a:p>
            <a:r>
              <a:rPr lang="zh-CN" altLang="en-US"/>
              <a:t>单击此处编辑母版标题样式</a:t>
            </a:r>
          </a:p>
        </p:txBody>
      </p:sp>
      <p:sp>
        <p:nvSpPr>
          <p:cNvPr id="3" name="内容占位符 2"/>
          <p:cNvSpPr>
            <a:spLocks noGrp="1"/>
          </p:cNvSpPr>
          <p:nvPr>
            <p:ph idx="1"/>
          </p:nvPr>
        </p:nvSpPr>
        <p:spPr>
          <a:xfrm>
            <a:off x="601785" y="1412875"/>
            <a:ext cx="10988431" cy="460851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1057"/>
          <p:cNvSpPr>
            <a:spLocks noGrp="1" noChangeArrowheads="1"/>
          </p:cNvSpPr>
          <p:nvPr>
            <p:ph type="dt" sz="half" idx="10"/>
          </p:nvPr>
        </p:nvSpPr>
        <p:spPr>
          <a:xfrm>
            <a:off x="844062" y="6242050"/>
            <a:ext cx="2344615" cy="457200"/>
          </a:xfrm>
        </p:spPr>
        <p:txBody>
          <a:bodyPr/>
          <a:lstStyle>
            <a:lvl1pPr>
              <a:defRPr/>
            </a:lvl1pPr>
          </a:lstStyle>
          <a:p>
            <a:pPr>
              <a:defRPr/>
            </a:pPr>
            <a:endParaRPr lang="en-US" altLang="zh-CN"/>
          </a:p>
        </p:txBody>
      </p:sp>
      <p:sp>
        <p:nvSpPr>
          <p:cNvPr id="5" name="Rectangle 1058"/>
          <p:cNvSpPr>
            <a:spLocks noGrp="1" noChangeArrowheads="1"/>
          </p:cNvSpPr>
          <p:nvPr>
            <p:ph type="ftr" sz="quarter" idx="11"/>
          </p:nvPr>
        </p:nvSpPr>
        <p:spPr>
          <a:xfrm>
            <a:off x="3845169" y="6242050"/>
            <a:ext cx="3563815" cy="457200"/>
          </a:xfrm>
        </p:spPr>
        <p:txBody>
          <a:bodyPr/>
          <a:lstStyle>
            <a:lvl1pPr>
              <a:defRPr/>
            </a:lvl1pPr>
          </a:lstStyle>
          <a:p>
            <a:pPr>
              <a:defRPr/>
            </a:pPr>
            <a:endParaRPr lang="en-US" altLang="zh-CN"/>
          </a:p>
        </p:txBody>
      </p:sp>
      <p:sp>
        <p:nvSpPr>
          <p:cNvPr id="6" name="Rectangle 1059"/>
          <p:cNvSpPr>
            <a:spLocks noGrp="1" noChangeArrowheads="1"/>
          </p:cNvSpPr>
          <p:nvPr>
            <p:ph type="sldNum" sz="quarter" idx="12"/>
          </p:nvPr>
        </p:nvSpPr>
        <p:spPr>
          <a:xfrm>
            <a:off x="9245600" y="6242050"/>
            <a:ext cx="2344615" cy="457200"/>
          </a:xfrm>
        </p:spPr>
        <p:txBody>
          <a:bodyPr/>
          <a:lstStyle>
            <a:lvl1pPr>
              <a:defRPr/>
            </a:lvl1pPr>
          </a:lstStyle>
          <a:p>
            <a:pPr>
              <a:defRPr/>
            </a:pPr>
            <a:fld id="{891DE90A-06C3-47CE-BA8B-3C8F01A40176}" type="slidenum">
              <a:rPr lang="en-US" altLang="zh-CN"/>
              <a:t>‹#›</a:t>
            </a:fld>
            <a:endParaRPr lang="en-US" altLang="zh-CN"/>
          </a:p>
        </p:txBody>
      </p:sp>
    </p:spTree>
    <p:extLst>
      <p:ext uri="{BB962C8B-B14F-4D97-AF65-F5344CB8AC3E}">
        <p14:creationId xmlns:p14="http://schemas.microsoft.com/office/powerpoint/2010/main" val="157189814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122363"/>
            <a:ext cx="103632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a:xfrm>
            <a:off x="838200" y="6356351"/>
            <a:ext cx="2743200" cy="365125"/>
          </a:xfrm>
        </p:spPr>
        <p:txBody>
          <a:bodyPr/>
          <a:lstStyle/>
          <a:p>
            <a:fld id="{90BC8B1A-6F12-4BBE-A343-BF6F7640911B}" type="datetimeFigureOut">
              <a:rPr lang="zh-CN" altLang="en-US" smtClean="0"/>
              <a:t>2023/12/14</a:t>
            </a:fld>
            <a:endParaRPr lang="zh-CN" altLang="en-US"/>
          </a:p>
        </p:txBody>
      </p:sp>
      <p:sp>
        <p:nvSpPr>
          <p:cNvPr id="5" name="Footer Placeholder 4"/>
          <p:cNvSpPr>
            <a:spLocks noGrp="1"/>
          </p:cNvSpPr>
          <p:nvPr>
            <p:ph type="ftr" sz="quarter" idx="11"/>
          </p:nvPr>
        </p:nvSpPr>
        <p:spPr>
          <a:xfrm>
            <a:off x="4038600" y="6356351"/>
            <a:ext cx="4114800" cy="365125"/>
          </a:xfrm>
        </p:spPr>
        <p:txBody>
          <a:bodyPr/>
          <a:lstStyle/>
          <a:p>
            <a:endParaRPr lang="zh-CN" altLang="en-US"/>
          </a:p>
        </p:txBody>
      </p:sp>
      <p:sp>
        <p:nvSpPr>
          <p:cNvPr id="6" name="Slide Number Placeholder 5"/>
          <p:cNvSpPr>
            <a:spLocks noGrp="1"/>
          </p:cNvSpPr>
          <p:nvPr>
            <p:ph type="sldNum" sz="quarter" idx="12"/>
          </p:nvPr>
        </p:nvSpPr>
        <p:spPr>
          <a:xfrm>
            <a:off x="8610600" y="6356351"/>
            <a:ext cx="2743200" cy="365125"/>
          </a:xfrm>
        </p:spPr>
        <p:txBody>
          <a:bodyPr/>
          <a:lstStyle/>
          <a:p>
            <a:fld id="{CEA839B6-C318-4484-863B-8F1A32D8DFAB}" type="slidenum">
              <a:rPr lang="zh-CN" altLang="en-US" smtClean="0"/>
              <a:t>‹#›</a:t>
            </a:fld>
            <a:endParaRPr lang="zh-CN" altLang="en-US"/>
          </a:p>
        </p:txBody>
      </p:sp>
    </p:spTree>
    <p:extLst>
      <p:ext uri="{BB962C8B-B14F-4D97-AF65-F5344CB8AC3E}">
        <p14:creationId xmlns:p14="http://schemas.microsoft.com/office/powerpoint/2010/main" val="4006989749"/>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a:p>
        </p:txBody>
      </p:sp>
      <p:sp>
        <p:nvSpPr>
          <p:cNvPr id="3" name="矩形 2">
            <a:extLst>
              <a:ext uri="{FF2B5EF4-FFF2-40B4-BE49-F238E27FC236}">
                <a16:creationId xmlns:a16="http://schemas.microsoft.com/office/drawing/2014/main" id="{84C0FDEF-D9D7-8A32-1D62-AA1FBBB356FC}"/>
              </a:ext>
            </a:extLst>
          </p:cNvPr>
          <p:cNvSpPr/>
          <p:nvPr userDrawn="1"/>
        </p:nvSpPr>
        <p:spPr bwMode="auto">
          <a:xfrm>
            <a:off x="-1" y="1268760"/>
            <a:ext cx="9576000" cy="18000"/>
          </a:xfrm>
          <a:prstGeom prst="rect">
            <a:avLst/>
          </a:prstGeom>
          <a:gradFill flip="none" rotWithShape="1">
            <a:gsLst>
              <a:gs pos="50000">
                <a:srgbClr val="C00000"/>
              </a:gs>
              <a:gs pos="0">
                <a:schemeClr val="bg1"/>
              </a:gs>
            </a:gsLst>
            <a:lin ang="108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475689308"/>
      </p:ext>
    </p:extLst>
  </p:cSld>
  <p:clrMapOvr>
    <a:masterClrMapping/>
  </p:clrMapOvr>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D6E42E8-6A54-6544-40FD-1493412E5A74}"/>
              </a:ext>
            </a:extLst>
          </p:cNvPr>
          <p:cNvSpPr/>
          <p:nvPr userDrawn="1"/>
        </p:nvSpPr>
        <p:spPr bwMode="auto">
          <a:xfrm>
            <a:off x="-1" y="1268760"/>
            <a:ext cx="9576000" cy="18000"/>
          </a:xfrm>
          <a:prstGeom prst="rect">
            <a:avLst/>
          </a:prstGeom>
          <a:gradFill flip="none" rotWithShape="1">
            <a:gsLst>
              <a:gs pos="50000">
                <a:srgbClr val="C00000"/>
              </a:gs>
              <a:gs pos="0">
                <a:schemeClr val="bg1"/>
              </a:gs>
            </a:gsLst>
            <a:lin ang="108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1974062584"/>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纯文本内容">
    <p:bg>
      <p:bgPr>
        <a:noFill/>
        <a:effectLst/>
      </p:bgPr>
    </p:bg>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19726" y="1592430"/>
            <a:ext cx="11567474" cy="374390"/>
          </a:xfrm>
        </p:spPr>
        <p:txBody>
          <a:bodyPr/>
          <a:lstStyle>
            <a:lvl1pPr marL="0" indent="0">
              <a:buNone/>
              <a:defRPr sz="2000" b="1">
                <a:solidFill>
                  <a:schemeClr val="bg1"/>
                </a:solidFill>
                <a:latin typeface="思源黑体 CN Bold" panose="020B0800000000000000" pitchFamily="34" charset="-122"/>
                <a:ea typeface="思源黑体 CN Bold" panose="020B0800000000000000" pitchFamily="34" charset="-122"/>
              </a:defRPr>
            </a:lvl1pPr>
            <a:lvl2pPr marL="457200" indent="0" algn="l">
              <a:buNone/>
              <a:defRPr sz="2000">
                <a:latin typeface="+mj-ea"/>
                <a:ea typeface="+mj-ea"/>
              </a:defRPr>
            </a:lvl2pPr>
            <a:lvl3pPr algn="l">
              <a:defRPr sz="1800">
                <a:latin typeface="+mj-ea"/>
                <a:ea typeface="+mj-ea"/>
              </a:defRPr>
            </a:lvl3pPr>
            <a:lvl4pPr algn="l">
              <a:defRPr sz="1600">
                <a:latin typeface="+mj-ea"/>
                <a:ea typeface="+mj-ea"/>
              </a:defRPr>
            </a:lvl4pPr>
            <a:lvl5pPr algn="l">
              <a:defRPr sz="1600">
                <a:latin typeface="+mj-ea"/>
                <a:ea typeface="+mj-ea"/>
              </a:defRPr>
            </a:lvl5pPr>
          </a:lstStyle>
          <a:p>
            <a:pPr lvl="0"/>
            <a:r>
              <a:rPr lang="zh-CN" altLang="en-US" dirty="0"/>
              <a:t>段落标题段落标题</a:t>
            </a:r>
          </a:p>
        </p:txBody>
      </p:sp>
      <p:sp>
        <p:nvSpPr>
          <p:cNvPr id="8" name="文本占位符 7"/>
          <p:cNvSpPr>
            <a:spLocks noGrp="1"/>
          </p:cNvSpPr>
          <p:nvPr>
            <p:ph type="body" sz="quarter" idx="10" hasCustomPrompt="1"/>
          </p:nvPr>
        </p:nvSpPr>
        <p:spPr>
          <a:xfrm>
            <a:off x="318993" y="1995927"/>
            <a:ext cx="11568271" cy="1104124"/>
          </a:xfrm>
        </p:spPr>
        <p:txBody>
          <a:bodyPr/>
          <a:lstStyle>
            <a:lvl1pPr marL="0" marR="0" indent="0" algn="just" defTabSz="914400" rtl="0" eaLnBrk="1" fontAlgn="auto" latinLnBrk="0" hangingPunct="1">
              <a:lnSpc>
                <a:spcPct val="150000"/>
              </a:lnSpc>
              <a:spcBef>
                <a:spcPts val="1000"/>
              </a:spcBef>
              <a:spcAft>
                <a:spcPts val="0"/>
              </a:spcAft>
              <a:buClrTx/>
              <a:buSzTx/>
              <a:buFont typeface="Arial" panose="020B0604020202020204" pitchFamily="34" charset="0"/>
              <a:buNone/>
              <a:defRPr sz="1600">
                <a:solidFill>
                  <a:schemeClr val="bg1"/>
                </a:solidFill>
                <a:latin typeface="思源黑体 CN Regular" panose="020B0500000000000000" pitchFamily="34" charset="-122"/>
                <a:ea typeface="思源黑体 CN Regular" panose="020B0500000000000000" pitchFamily="34" charset="-122"/>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正文中的强调部分可以设置成 蓝色＋加粗 的样式，正文正文正文正文正文正文正文正文正文正文正文正文正文正文正文正文正文正文正正文正文正文正文正文正文正文正文正文正文正文正文正文正文正文正文正文正文正文正文正文正文正文正文正文。</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endParaRPr lang="zh-CN" altLang="en-US" dirty="0"/>
          </a:p>
          <a:p>
            <a:pPr lvl="0"/>
            <a:endParaRPr lang="zh-CN" altLang="en-US" dirty="0"/>
          </a:p>
        </p:txBody>
      </p:sp>
      <p:sp>
        <p:nvSpPr>
          <p:cNvPr id="10" name="内容占位符 2"/>
          <p:cNvSpPr>
            <a:spLocks noGrp="1"/>
          </p:cNvSpPr>
          <p:nvPr>
            <p:ph idx="11" hasCustomPrompt="1"/>
          </p:nvPr>
        </p:nvSpPr>
        <p:spPr>
          <a:xfrm>
            <a:off x="319726" y="3223020"/>
            <a:ext cx="11567474" cy="340355"/>
          </a:xfrm>
        </p:spPr>
        <p:txBody>
          <a:bodyPr/>
          <a:lstStyle>
            <a:lvl1pPr marL="0" indent="0">
              <a:buNone/>
              <a:defRPr lang="zh-CN" altLang="en-US" sz="2000" b="1" kern="1200" dirty="0">
                <a:solidFill>
                  <a:schemeClr val="bg1"/>
                </a:solidFill>
                <a:latin typeface="思源黑体 CN Bold" panose="020B0800000000000000" pitchFamily="34" charset="-122"/>
                <a:ea typeface="思源黑体 CN Bold" panose="020B0800000000000000" pitchFamily="34" charset="-122"/>
                <a:cs typeface="+mn-cs"/>
              </a:defRPr>
            </a:lvl1pPr>
            <a:lvl2pPr marL="457200" indent="0" algn="l">
              <a:buNone/>
              <a:defRPr sz="2000">
                <a:latin typeface="+mj-ea"/>
                <a:ea typeface="+mj-ea"/>
              </a:defRPr>
            </a:lvl2pPr>
            <a:lvl3pPr algn="l">
              <a:defRPr sz="1800">
                <a:latin typeface="+mj-ea"/>
                <a:ea typeface="+mj-ea"/>
              </a:defRPr>
            </a:lvl3pPr>
            <a:lvl4pPr algn="l">
              <a:defRPr sz="1600">
                <a:latin typeface="+mj-ea"/>
                <a:ea typeface="+mj-ea"/>
              </a:defRPr>
            </a:lvl4pPr>
            <a:lvl5pPr algn="l">
              <a:defRPr sz="1600">
                <a:latin typeface="+mj-ea"/>
                <a:ea typeface="+mj-ea"/>
              </a:defRPr>
            </a:lvl5pPr>
          </a:lstStyle>
          <a:p>
            <a:pPr marL="0" lvl="0" indent="0" algn="l" defTabSz="914400" rtl="0" eaLnBrk="1" latinLnBrk="0" hangingPunct="1">
              <a:lnSpc>
                <a:spcPct val="90000"/>
              </a:lnSpc>
              <a:spcBef>
                <a:spcPts val="1000"/>
              </a:spcBef>
              <a:buFont typeface="Arial" panose="020B0604020202020204" pitchFamily="34" charset="0"/>
              <a:buNone/>
            </a:pPr>
            <a:r>
              <a:rPr lang="zh-CN" altLang="en-US" dirty="0"/>
              <a:t>段落标题段落标题</a:t>
            </a:r>
          </a:p>
        </p:txBody>
      </p:sp>
      <p:sp>
        <p:nvSpPr>
          <p:cNvPr id="11" name="文本占位符 7"/>
          <p:cNvSpPr>
            <a:spLocks noGrp="1"/>
          </p:cNvSpPr>
          <p:nvPr>
            <p:ph type="body" sz="quarter" idx="12" hasCustomPrompt="1"/>
          </p:nvPr>
        </p:nvSpPr>
        <p:spPr>
          <a:xfrm>
            <a:off x="318993" y="3592604"/>
            <a:ext cx="11568271" cy="957198"/>
          </a:xfrm>
        </p:spPr>
        <p:txBody>
          <a:bodyPr/>
          <a:lstStyle>
            <a:lvl1pPr marL="0" marR="0" indent="0" algn="just" defTabSz="914400" rtl="0" eaLnBrk="1" fontAlgn="auto" latinLnBrk="0" hangingPunct="1">
              <a:lnSpc>
                <a:spcPct val="150000"/>
              </a:lnSpc>
              <a:spcBef>
                <a:spcPts val="1000"/>
              </a:spcBef>
              <a:spcAft>
                <a:spcPts val="0"/>
              </a:spcAft>
              <a:buClrTx/>
              <a:buSzTx/>
              <a:buFont typeface="Arial" panose="020B0604020202020204" pitchFamily="34" charset="0"/>
              <a:buNone/>
              <a:defRPr lang="zh-CN" altLang="en-US" sz="1600" kern="1200" dirty="0">
                <a:solidFill>
                  <a:schemeClr val="bg1"/>
                </a:solidFill>
                <a:latin typeface="思源黑体 CN Regular" panose="020B0500000000000000" pitchFamily="34" charset="-122"/>
                <a:ea typeface="思源黑体 CN Regular" panose="020B0500000000000000" pitchFamily="34" charset="-122"/>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正文正文正文正文正文正文正文正文正文正文正文正文正文正文正文正文正文正文正文正正文正文正文正文正文正文正文正文正文正文。</a:t>
            </a:r>
            <a:endParaRPr lang="en-US" altLang="zh-CN"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并列内容可以使用项目符号。</a:t>
            </a:r>
          </a:p>
        </p:txBody>
      </p:sp>
      <p:sp>
        <p:nvSpPr>
          <p:cNvPr id="15" name="内容占位符 2"/>
          <p:cNvSpPr>
            <a:spLocks noGrp="1"/>
          </p:cNvSpPr>
          <p:nvPr>
            <p:ph idx="13" hasCustomPrompt="1"/>
          </p:nvPr>
        </p:nvSpPr>
        <p:spPr>
          <a:xfrm>
            <a:off x="323641" y="4672773"/>
            <a:ext cx="11567474" cy="340355"/>
          </a:xfrm>
        </p:spPr>
        <p:txBody>
          <a:bodyPr/>
          <a:lstStyle>
            <a:lvl1pPr marL="0" indent="0">
              <a:buNone/>
              <a:defRPr lang="zh-CN" altLang="en-US" sz="2000" b="1" kern="1200" dirty="0">
                <a:solidFill>
                  <a:schemeClr val="bg1"/>
                </a:solidFill>
                <a:latin typeface="思源黑体 CN Bold" panose="020B0800000000000000" pitchFamily="34" charset="-122"/>
                <a:ea typeface="思源黑体 CN Bold" panose="020B0800000000000000" pitchFamily="34" charset="-122"/>
                <a:cs typeface="+mn-cs"/>
              </a:defRPr>
            </a:lvl1pPr>
            <a:lvl2pPr marL="457200" indent="0" algn="l">
              <a:buNone/>
              <a:defRPr sz="2000">
                <a:latin typeface="+mj-ea"/>
                <a:ea typeface="+mj-ea"/>
              </a:defRPr>
            </a:lvl2pPr>
            <a:lvl3pPr algn="l">
              <a:defRPr sz="1800">
                <a:latin typeface="+mj-ea"/>
                <a:ea typeface="+mj-ea"/>
              </a:defRPr>
            </a:lvl3pPr>
            <a:lvl4pPr algn="l">
              <a:defRPr sz="1600">
                <a:latin typeface="+mj-ea"/>
                <a:ea typeface="+mj-ea"/>
              </a:defRPr>
            </a:lvl4pPr>
            <a:lvl5pPr algn="l">
              <a:defRPr sz="1600">
                <a:latin typeface="+mj-ea"/>
                <a:ea typeface="+mj-ea"/>
              </a:defRPr>
            </a:lvl5pPr>
          </a:lstStyle>
          <a:p>
            <a:pPr lvl="0"/>
            <a:r>
              <a:rPr lang="zh-CN" altLang="en-US" dirty="0"/>
              <a:t>段落标题段落标题</a:t>
            </a:r>
          </a:p>
        </p:txBody>
      </p:sp>
      <p:sp>
        <p:nvSpPr>
          <p:cNvPr id="16" name="文本占位符 7"/>
          <p:cNvSpPr>
            <a:spLocks noGrp="1"/>
          </p:cNvSpPr>
          <p:nvPr>
            <p:ph type="body" sz="quarter" idx="14" hasCustomPrompt="1"/>
          </p:nvPr>
        </p:nvSpPr>
        <p:spPr>
          <a:xfrm>
            <a:off x="322908" y="5042357"/>
            <a:ext cx="11568271" cy="957198"/>
          </a:xfrm>
        </p:spPr>
        <p:txBody>
          <a:bodyPr/>
          <a:lstStyle>
            <a:lvl1pPr marL="0" marR="0" indent="0" algn="just" defTabSz="914400" rtl="0" eaLnBrk="1" fontAlgn="auto" latinLnBrk="0" hangingPunct="1">
              <a:lnSpc>
                <a:spcPct val="150000"/>
              </a:lnSpc>
              <a:spcBef>
                <a:spcPts val="1000"/>
              </a:spcBef>
              <a:spcAft>
                <a:spcPts val="0"/>
              </a:spcAft>
              <a:buClrTx/>
              <a:buSzTx/>
              <a:buFont typeface="Arial" panose="020B0604020202020204" pitchFamily="34" charset="0"/>
              <a:buNone/>
              <a:defRPr lang="zh-CN" altLang="en-US" sz="1600" kern="1200" dirty="0">
                <a:solidFill>
                  <a:schemeClr val="bg1"/>
                </a:solidFill>
                <a:latin typeface="思源黑体 CN Regular" panose="020B0500000000000000" pitchFamily="34" charset="-122"/>
                <a:ea typeface="思源黑体 CN Regular" panose="020B0500000000000000" pitchFamily="34" charset="-122"/>
                <a:cs typeface="+mn-cs"/>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defRPr/>
            </a:pPr>
            <a:r>
              <a:rPr lang="zh-CN" altLang="en-US" dirty="0"/>
              <a:t>正文中如果有内容需要着重强调，可以使用亮蓝色</a:t>
            </a:r>
          </a:p>
        </p:txBody>
      </p:sp>
      <p:sp>
        <p:nvSpPr>
          <p:cNvPr id="13" name="图片占位符 2"/>
          <p:cNvSpPr>
            <a:spLocks noGrp="1"/>
          </p:cNvSpPr>
          <p:nvPr>
            <p:ph type="pic" sz="quarter" idx="15" hasCustomPrompt="1"/>
          </p:nvPr>
        </p:nvSpPr>
        <p:spPr>
          <a:xfrm>
            <a:off x="10448014" y="403732"/>
            <a:ext cx="1322732" cy="240324"/>
          </a:xfrm>
        </p:spPr>
        <p:txBody>
          <a:bodyPr/>
          <a:lstStyle>
            <a:lvl1pPr>
              <a:buNone/>
              <a:defRPr sz="1000">
                <a:solidFill>
                  <a:schemeClr val="bg1"/>
                </a:solidFill>
              </a:defRPr>
            </a:lvl1pPr>
          </a:lstStyle>
          <a:p>
            <a:r>
              <a:rPr lang="zh-CN" altLang="en-US" dirty="0"/>
              <a:t>此处可编辑社区</a:t>
            </a:r>
            <a:r>
              <a:rPr lang="en-US" altLang="zh-CN" dirty="0"/>
              <a:t>logo</a:t>
            </a:r>
            <a:endParaRPr lang="zh-CN" altLang="en-US" dirty="0"/>
          </a:p>
        </p:txBody>
      </p:sp>
      <p:sp>
        <p:nvSpPr>
          <p:cNvPr id="7" name="标题 1"/>
          <p:cNvSpPr>
            <a:spLocks noGrp="1"/>
          </p:cNvSpPr>
          <p:nvPr>
            <p:ph type="title"/>
          </p:nvPr>
        </p:nvSpPr>
        <p:spPr>
          <a:xfrm>
            <a:off x="239349" y="634678"/>
            <a:ext cx="11809312" cy="562074"/>
          </a:xfrm>
          <a:prstGeom prst="rect">
            <a:avLst/>
          </a:prstGeom>
        </p:spPr>
        <p:txBody>
          <a:bodyPr/>
          <a:lstStyle>
            <a:lvl1pPr algn="l">
              <a:defRPr sz="3200" spc="100" baseline="0">
                <a:solidFill>
                  <a:srgbClr val="C00000"/>
                </a:solidFill>
                <a:latin typeface="+mn-lt"/>
                <a:ea typeface="微软雅黑" panose="020B0503020204020204" pitchFamily="34" charset="-122"/>
              </a:defRPr>
            </a:lvl1pPr>
          </a:lstStyle>
          <a:p>
            <a:r>
              <a:rPr lang="zh-CN" altLang="en-US" dirty="0"/>
              <a:t>单击此处编辑母版标题样式</a:t>
            </a:r>
          </a:p>
        </p:txBody>
      </p:sp>
      <p:sp>
        <p:nvSpPr>
          <p:cNvPr id="4" name="矩形 3"/>
          <p:cNvSpPr/>
          <p:nvPr userDrawn="1"/>
        </p:nvSpPr>
        <p:spPr bwMode="auto">
          <a:xfrm>
            <a:off x="-1" y="1268760"/>
            <a:ext cx="9576000" cy="18000"/>
          </a:xfrm>
          <a:prstGeom prst="rect">
            <a:avLst/>
          </a:prstGeom>
          <a:gradFill flip="none" rotWithShape="1">
            <a:gsLst>
              <a:gs pos="50000">
                <a:srgbClr val="C00000"/>
              </a:gs>
              <a:gs pos="0">
                <a:schemeClr val="bg1"/>
              </a:gs>
            </a:gsLst>
            <a:lin ang="108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17051632"/>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7" name="标题 1"/>
          <p:cNvSpPr>
            <a:spLocks noGrp="1"/>
          </p:cNvSpPr>
          <p:nvPr>
            <p:ph type="title"/>
          </p:nvPr>
        </p:nvSpPr>
        <p:spPr>
          <a:xfrm>
            <a:off x="239349" y="634678"/>
            <a:ext cx="11809312" cy="562074"/>
          </a:xfrm>
          <a:prstGeom prst="rect">
            <a:avLst/>
          </a:prstGeom>
        </p:spPr>
        <p:txBody>
          <a:bodyPr/>
          <a:lstStyle>
            <a:lvl1pPr algn="l">
              <a:defRPr sz="3200" spc="100" baseline="0">
                <a:solidFill>
                  <a:srgbClr val="C00000"/>
                </a:solidFill>
                <a:latin typeface="+mn-lt"/>
                <a:ea typeface="微软雅黑" panose="020B0503020204020204"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74414915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ACC2705-7B64-726F-B960-E3999ECA5483}"/>
              </a:ext>
            </a:extLst>
          </p:cNvPr>
          <p:cNvSpPr/>
          <p:nvPr userDrawn="1"/>
        </p:nvSpPr>
        <p:spPr bwMode="auto">
          <a:xfrm>
            <a:off x="-1" y="1268760"/>
            <a:ext cx="9576000" cy="18000"/>
          </a:xfrm>
          <a:prstGeom prst="rect">
            <a:avLst/>
          </a:prstGeom>
          <a:gradFill flip="none" rotWithShape="1">
            <a:gsLst>
              <a:gs pos="50000">
                <a:srgbClr val="C00000"/>
              </a:gs>
              <a:gs pos="0">
                <a:schemeClr val="bg1"/>
              </a:gs>
            </a:gsLst>
            <a:lin ang="10800000" scaled="1"/>
            <a:tileRect/>
          </a:gra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3584202033"/>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13" Type="http://schemas.openxmlformats.org/officeDocument/2006/relationships/image" Target="../media/image5.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5" Type="http://schemas.openxmlformats.org/officeDocument/2006/relationships/image" Target="../media/image7.png"/><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 Id="rId14"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7" name="Rectangle 38"/>
          <p:cNvSpPr>
            <a:spLocks noChangeArrowheads="1"/>
          </p:cNvSpPr>
          <p:nvPr userDrawn="1"/>
        </p:nvSpPr>
        <p:spPr bwMode="auto">
          <a:xfrm>
            <a:off x="2829984" y="0"/>
            <a:ext cx="5067300" cy="539750"/>
          </a:xfrm>
          <a:prstGeom prst="rect">
            <a:avLst/>
          </a:prstGeom>
          <a:gradFill rotWithShape="1">
            <a:gsLst>
              <a:gs pos="0">
                <a:srgbClr val="FFFFFF">
                  <a:alpha val="48000"/>
                </a:srgbClr>
              </a:gs>
              <a:gs pos="100000">
                <a:srgbClr val="0066FF">
                  <a:alpha val="75000"/>
                </a:srgbClr>
              </a:gs>
            </a:gsLst>
            <a:lin ang="0" scaled="1"/>
          </a:gradFill>
          <a:ln>
            <a:noFill/>
          </a:ln>
        </p:spPr>
        <p:txBody>
          <a:bodyPr wrap="none" anchor="ct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defRPr/>
            </a:pPr>
            <a:endParaRPr lang="zh-CN" altLang="en-US" b="1">
              <a:solidFill>
                <a:schemeClr val="accent2"/>
              </a:solidFill>
              <a:latin typeface="华文隶书" panose="02010800040101010101" charset="-122"/>
              <a:ea typeface="华文隶书" panose="02010800040101010101" charset="-122"/>
            </a:endParaRPr>
          </a:p>
        </p:txBody>
      </p:sp>
      <p:sp>
        <p:nvSpPr>
          <p:cNvPr id="1028" name="Text Box 45"/>
          <p:cNvSpPr txBox="1">
            <a:spLocks noChangeArrowheads="1"/>
          </p:cNvSpPr>
          <p:nvPr/>
        </p:nvSpPr>
        <p:spPr bwMode="auto">
          <a:xfrm>
            <a:off x="48684" y="6538914"/>
            <a:ext cx="575733" cy="274637"/>
          </a:xfrm>
          <a:prstGeom prst="rect">
            <a:avLst/>
          </a:prstGeom>
          <a:noFill/>
          <a:ln>
            <a:noFill/>
          </a:ln>
        </p:spPr>
        <p:txBody>
          <a:bodyPr>
            <a:spAutoFit/>
          </a:bodyPr>
          <a:lstStyle>
            <a:lvl1pPr eaLnBrk="0" hangingPunct="0">
              <a:defRPr>
                <a:solidFill>
                  <a:schemeClr val="tx1"/>
                </a:solidFill>
                <a:latin typeface="Arial" panose="020B0604020202020204" pitchFamily="34" charset="0"/>
                <a:ea typeface="楷体_GB2312" pitchFamily="49" charset="-122"/>
              </a:defRPr>
            </a:lvl1pPr>
            <a:lvl2pPr marL="742950" indent="-285750" eaLnBrk="0" hangingPunct="0">
              <a:defRPr>
                <a:solidFill>
                  <a:schemeClr val="tx1"/>
                </a:solidFill>
                <a:latin typeface="Arial" panose="020B0604020202020204" pitchFamily="34" charset="0"/>
                <a:ea typeface="楷体_GB2312" pitchFamily="49" charset="-122"/>
              </a:defRPr>
            </a:lvl2pPr>
            <a:lvl3pPr marL="1143000" indent="-228600" eaLnBrk="0" hangingPunct="0">
              <a:defRPr>
                <a:solidFill>
                  <a:schemeClr val="tx1"/>
                </a:solidFill>
                <a:latin typeface="Arial" panose="020B0604020202020204" pitchFamily="34" charset="0"/>
                <a:ea typeface="楷体_GB2312" pitchFamily="49" charset="-122"/>
              </a:defRPr>
            </a:lvl3pPr>
            <a:lvl4pPr marL="1600200" indent="-228600" eaLnBrk="0" hangingPunct="0">
              <a:defRPr>
                <a:solidFill>
                  <a:schemeClr val="tx1"/>
                </a:solidFill>
                <a:latin typeface="Arial" panose="020B0604020202020204" pitchFamily="34" charset="0"/>
                <a:ea typeface="楷体_GB2312" pitchFamily="49" charset="-122"/>
              </a:defRPr>
            </a:lvl4pPr>
            <a:lvl5pPr marL="2057400" indent="-228600" eaLnBrk="0" hangingPunct="0">
              <a:defRPr>
                <a:solidFill>
                  <a:schemeClr val="tx1"/>
                </a:solidFill>
                <a:latin typeface="Arial" panose="020B0604020202020204" pitchFamily="34" charset="0"/>
                <a:ea typeface="楷体_GB2312" pitchFamily="49"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楷体_GB2312" pitchFamily="49" charset="-122"/>
              </a:defRPr>
            </a:lvl9pPr>
          </a:lstStyle>
          <a:p>
            <a:pPr eaLnBrk="1" hangingPunct="1">
              <a:spcBef>
                <a:spcPct val="50000"/>
              </a:spcBef>
              <a:defRPr/>
            </a:pPr>
            <a:fld id="{D5383C12-1AC3-4C1C-A83D-C2DA9C49C965}" type="slidenum">
              <a:rPr lang="en-US" altLang="zh-CN" sz="1200" b="1" smtClean="0">
                <a:solidFill>
                  <a:schemeClr val="accent6">
                    <a:lumMod val="50000"/>
                  </a:schemeClr>
                </a:solidFill>
                <a:latin typeface="Times New Roman" panose="02020603050405020304" pitchFamily="18" charset="0"/>
                <a:ea typeface="宋体" panose="02010600030101010101" pitchFamily="2" charset="-122"/>
              </a:rPr>
              <a:t>‹#›</a:t>
            </a:fld>
            <a:endParaRPr lang="en-US" altLang="zh-CN" sz="1200" b="1" dirty="0">
              <a:solidFill>
                <a:schemeClr val="accent6">
                  <a:lumMod val="50000"/>
                </a:schemeClr>
              </a:solidFill>
              <a:latin typeface="Times New Roman" panose="02020603050405020304" pitchFamily="18" charset="0"/>
              <a:ea typeface="宋体" panose="02010600030101010101" pitchFamily="2" charset="-122"/>
            </a:endParaRPr>
          </a:p>
        </p:txBody>
      </p:sp>
      <p:sp>
        <p:nvSpPr>
          <p:cNvPr id="1029" name="Line 2069"/>
          <p:cNvSpPr>
            <a:spLocks noChangeShapeType="1"/>
          </p:cNvSpPr>
          <p:nvPr/>
        </p:nvSpPr>
        <p:spPr bwMode="auto">
          <a:xfrm>
            <a:off x="406401" y="6553200"/>
            <a:ext cx="11521017" cy="0"/>
          </a:xfrm>
          <a:prstGeom prst="line">
            <a:avLst/>
          </a:prstGeom>
          <a:noFill/>
          <a:ln w="9525">
            <a:noFill/>
            <a:round/>
          </a:ln>
        </p:spPr>
        <p:txBody>
          <a:bodyPr wrap="none"/>
          <a:lstStyle/>
          <a:p>
            <a:pPr>
              <a:defRPr/>
            </a:pPr>
            <a:endParaRPr lang="zh-CN" altLang="en-US">
              <a:latin typeface="Arial" panose="020B0604020202020204" pitchFamily="34" charset="0"/>
              <a:ea typeface="楷体_GB2312" pitchFamily="49" charset="-122"/>
            </a:endParaRPr>
          </a:p>
        </p:txBody>
      </p:sp>
      <p:pic>
        <p:nvPicPr>
          <p:cNvPr id="12" name="图片 28"/>
          <p:cNvPicPr>
            <a:picLocks noChangeAspect="1"/>
          </p:cNvPicPr>
          <p:nvPr userDrawn="1"/>
        </p:nvPicPr>
        <p:blipFill>
          <a:blip r:embed="rId9" cstate="print">
            <a:extLst>
              <a:ext uri="{28A0092B-C50C-407E-A947-70E740481C1C}">
                <a14:useLocalDpi xmlns:a14="http://schemas.microsoft.com/office/drawing/2010/main" val="0"/>
              </a:ext>
            </a:extLst>
          </a:blip>
          <a:srcRect r="8453"/>
          <a:stretch>
            <a:fillRect/>
          </a:stretch>
        </p:blipFill>
        <p:spPr bwMode="auto">
          <a:xfrm>
            <a:off x="10053109" y="0"/>
            <a:ext cx="7207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图片 29"/>
          <p:cNvPicPr>
            <a:picLocks noChangeAspect="1"/>
          </p:cNvPicPr>
          <p:nvPr userDrawn="1"/>
        </p:nvPicPr>
        <p:blipFill>
          <a:blip r:embed="rId10" cstate="print">
            <a:extLst>
              <a:ext uri="{28A0092B-C50C-407E-A947-70E740481C1C}">
                <a14:useLocalDpi xmlns:a14="http://schemas.microsoft.com/office/drawing/2010/main" val="0"/>
              </a:ext>
            </a:extLst>
          </a:blip>
          <a:srcRect r="20126" b="3873"/>
          <a:stretch>
            <a:fillRect/>
          </a:stretch>
        </p:blipFill>
        <p:spPr bwMode="auto">
          <a:xfrm>
            <a:off x="11489796" y="0"/>
            <a:ext cx="70485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图片 30"/>
          <p:cNvPicPr>
            <a:picLocks noChangeAspect="1"/>
          </p:cNvPicPr>
          <p:nvPr userDrawn="1"/>
        </p:nvPicPr>
        <p:blipFill>
          <a:blip r:embed="rId11" cstate="print">
            <a:extLst>
              <a:ext uri="{28A0092B-C50C-407E-A947-70E740481C1C}">
                <a14:useLocalDpi xmlns:a14="http://schemas.microsoft.com/office/drawing/2010/main" val="0"/>
              </a:ext>
            </a:extLst>
          </a:blip>
          <a:srcRect l="6543" t="12788" r="28691" b="6853"/>
          <a:stretch>
            <a:fillRect/>
          </a:stretch>
        </p:blipFill>
        <p:spPr bwMode="auto">
          <a:xfrm>
            <a:off x="10773834" y="0"/>
            <a:ext cx="71596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图片 31"/>
          <p:cNvPicPr>
            <a:picLocks noChangeAspect="1"/>
          </p:cNvPicPr>
          <p:nvPr userDrawn="1"/>
        </p:nvPicPr>
        <p:blipFill>
          <a:blip r:embed="rId12" cstate="print">
            <a:extLst>
              <a:ext uri="{28A0092B-C50C-407E-A947-70E740481C1C}">
                <a14:useLocalDpi xmlns:a14="http://schemas.microsoft.com/office/drawing/2010/main" val="0"/>
              </a:ext>
            </a:extLst>
          </a:blip>
          <a:srcRect l="2550"/>
          <a:stretch>
            <a:fillRect/>
          </a:stretch>
        </p:blipFill>
        <p:spPr bwMode="auto">
          <a:xfrm>
            <a:off x="9316509" y="0"/>
            <a:ext cx="735012"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图片 32"/>
          <p:cNvPicPr>
            <a:picLocks noChangeAspect="1"/>
          </p:cNvPicPr>
          <p:nvPr userDrawn="1"/>
        </p:nvPicPr>
        <p:blipFill>
          <a:blip r:embed="rId13" cstate="print">
            <a:extLst>
              <a:ext uri="{28A0092B-C50C-407E-A947-70E740481C1C}">
                <a14:useLocalDpi xmlns:a14="http://schemas.microsoft.com/office/drawing/2010/main" val="0"/>
              </a:ext>
            </a:extLst>
          </a:blip>
          <a:srcRect l="5959" r="3806"/>
          <a:stretch>
            <a:fillRect/>
          </a:stretch>
        </p:blipFill>
        <p:spPr bwMode="auto">
          <a:xfrm>
            <a:off x="8595784" y="0"/>
            <a:ext cx="72072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图片 33"/>
          <p:cNvPicPr>
            <a:picLocks noChangeAspect="1"/>
          </p:cNvPicPr>
          <p:nvPr userDrawn="1"/>
        </p:nvPicPr>
        <p:blipFill>
          <a:blip r:embed="rId14" cstate="print">
            <a:extLst>
              <a:ext uri="{28A0092B-C50C-407E-A947-70E740481C1C}">
                <a14:useLocalDpi xmlns:a14="http://schemas.microsoft.com/office/drawing/2010/main" val="0"/>
              </a:ext>
            </a:extLst>
          </a:blip>
          <a:srcRect/>
          <a:stretch>
            <a:fillRect/>
          </a:stretch>
        </p:blipFill>
        <p:spPr bwMode="auto">
          <a:xfrm>
            <a:off x="7897284" y="0"/>
            <a:ext cx="698500"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a:extLst>
              <a:ext uri="{FF2B5EF4-FFF2-40B4-BE49-F238E27FC236}">
                <a16:creationId xmlns:a16="http://schemas.microsoft.com/office/drawing/2014/main" id="{50CC197E-F632-E2D3-3A48-A2AC7FF37444}"/>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191344" y="77231"/>
            <a:ext cx="3312368" cy="3749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5800761"/>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Lst>
  <p:transition/>
  <p:txStyles>
    <p:titleStyle>
      <a:lvl1pPr algn="ctr" rtl="0" eaLnBrk="0" fontAlgn="base" hangingPunct="0">
        <a:spcBef>
          <a:spcPct val="0"/>
        </a:spcBef>
        <a:spcAft>
          <a:spcPct val="0"/>
        </a:spcAft>
        <a:defRPr sz="3600" b="1">
          <a:solidFill>
            <a:srgbClr val="FF0000"/>
          </a:solidFill>
          <a:latin typeface="+mj-lt"/>
          <a:ea typeface="+mj-ea"/>
          <a:cs typeface="+mj-cs"/>
        </a:defRPr>
      </a:lvl1pPr>
      <a:lvl2pPr algn="ctr" rtl="0" eaLnBrk="0" fontAlgn="base" hangingPunct="0">
        <a:spcBef>
          <a:spcPct val="0"/>
        </a:spcBef>
        <a:spcAft>
          <a:spcPct val="0"/>
        </a:spcAft>
        <a:defRPr sz="3600" b="1">
          <a:solidFill>
            <a:srgbClr val="FF0000"/>
          </a:solidFill>
          <a:latin typeface="Times New Roman" panose="02020603050405020304" pitchFamily="18" charset="0"/>
          <a:ea typeface="华文中宋" panose="02010600040101010101" pitchFamily="2" charset="-122"/>
        </a:defRPr>
      </a:lvl2pPr>
      <a:lvl3pPr algn="ctr" rtl="0" eaLnBrk="0" fontAlgn="base" hangingPunct="0">
        <a:spcBef>
          <a:spcPct val="0"/>
        </a:spcBef>
        <a:spcAft>
          <a:spcPct val="0"/>
        </a:spcAft>
        <a:defRPr sz="3600" b="1">
          <a:solidFill>
            <a:srgbClr val="FF0000"/>
          </a:solidFill>
          <a:latin typeface="Times New Roman" panose="02020603050405020304" pitchFamily="18" charset="0"/>
          <a:ea typeface="华文中宋" panose="02010600040101010101" pitchFamily="2" charset="-122"/>
        </a:defRPr>
      </a:lvl3pPr>
      <a:lvl4pPr algn="ctr" rtl="0" eaLnBrk="0" fontAlgn="base" hangingPunct="0">
        <a:spcBef>
          <a:spcPct val="0"/>
        </a:spcBef>
        <a:spcAft>
          <a:spcPct val="0"/>
        </a:spcAft>
        <a:defRPr sz="3600" b="1">
          <a:solidFill>
            <a:srgbClr val="FF0000"/>
          </a:solidFill>
          <a:latin typeface="Times New Roman" panose="02020603050405020304" pitchFamily="18" charset="0"/>
          <a:ea typeface="华文中宋" panose="02010600040101010101" pitchFamily="2" charset="-122"/>
        </a:defRPr>
      </a:lvl4pPr>
      <a:lvl5pPr algn="ctr" rtl="0" eaLnBrk="0" fontAlgn="base" hangingPunct="0">
        <a:spcBef>
          <a:spcPct val="0"/>
        </a:spcBef>
        <a:spcAft>
          <a:spcPct val="0"/>
        </a:spcAft>
        <a:defRPr sz="3600" b="1">
          <a:solidFill>
            <a:srgbClr val="FF0000"/>
          </a:solidFill>
          <a:latin typeface="Times New Roman" panose="02020603050405020304" pitchFamily="18" charset="0"/>
          <a:ea typeface="华文中宋" panose="02010600040101010101" pitchFamily="2" charset="-122"/>
        </a:defRPr>
      </a:lvl5pPr>
      <a:lvl6pPr marL="457200" algn="ctr" rtl="0" eaLnBrk="0" fontAlgn="base" hangingPunct="0">
        <a:spcBef>
          <a:spcPct val="0"/>
        </a:spcBef>
        <a:spcAft>
          <a:spcPct val="0"/>
        </a:spcAft>
        <a:defRPr sz="3600" b="1">
          <a:solidFill>
            <a:srgbClr val="FF0000"/>
          </a:solidFill>
          <a:latin typeface="Times New Roman" panose="02020603050405020304" pitchFamily="18" charset="0"/>
          <a:ea typeface="华文中宋" panose="02010600040101010101" pitchFamily="2" charset="-122"/>
        </a:defRPr>
      </a:lvl6pPr>
      <a:lvl7pPr marL="914400" algn="ctr" rtl="0" eaLnBrk="0" fontAlgn="base" hangingPunct="0">
        <a:spcBef>
          <a:spcPct val="0"/>
        </a:spcBef>
        <a:spcAft>
          <a:spcPct val="0"/>
        </a:spcAft>
        <a:defRPr sz="3600" b="1">
          <a:solidFill>
            <a:srgbClr val="FF0000"/>
          </a:solidFill>
          <a:latin typeface="Times New Roman" panose="02020603050405020304" pitchFamily="18" charset="0"/>
          <a:ea typeface="华文中宋" panose="02010600040101010101" pitchFamily="2" charset="-122"/>
        </a:defRPr>
      </a:lvl7pPr>
      <a:lvl8pPr marL="1371600" algn="ctr" rtl="0" eaLnBrk="0" fontAlgn="base" hangingPunct="0">
        <a:spcBef>
          <a:spcPct val="0"/>
        </a:spcBef>
        <a:spcAft>
          <a:spcPct val="0"/>
        </a:spcAft>
        <a:defRPr sz="3600" b="1">
          <a:solidFill>
            <a:srgbClr val="FF0000"/>
          </a:solidFill>
          <a:latin typeface="Times New Roman" panose="02020603050405020304" pitchFamily="18" charset="0"/>
          <a:ea typeface="华文中宋" panose="02010600040101010101" pitchFamily="2" charset="-122"/>
        </a:defRPr>
      </a:lvl8pPr>
      <a:lvl9pPr marL="1828800" algn="ctr" rtl="0" eaLnBrk="0" fontAlgn="base" hangingPunct="0">
        <a:spcBef>
          <a:spcPct val="0"/>
        </a:spcBef>
        <a:spcAft>
          <a:spcPct val="0"/>
        </a:spcAft>
        <a:defRPr sz="3600" b="1">
          <a:solidFill>
            <a:srgbClr val="FF0000"/>
          </a:solidFill>
          <a:latin typeface="Times New Roman" panose="02020603050405020304" pitchFamily="18" charset="0"/>
          <a:ea typeface="华文中宋" panose="02010600040101010101" pitchFamily="2" charset="-122"/>
        </a:defRPr>
      </a:lvl9pPr>
    </p:titleStyle>
    <p:bodyStyle>
      <a:lvl1pPr marL="342900" indent="-342900" algn="l" rtl="0" eaLnBrk="0" fontAlgn="base" hangingPunct="0">
        <a:spcBef>
          <a:spcPct val="20000"/>
        </a:spcBef>
        <a:spcAft>
          <a:spcPct val="0"/>
        </a:spcAft>
        <a:buFont typeface="Wingdings" panose="05000000000000000000" pitchFamily="2" charset="2"/>
        <a:buChar char="l"/>
        <a:defRPr sz="2800" b="1">
          <a:solidFill>
            <a:srgbClr val="A50021"/>
          </a:solidFill>
          <a:latin typeface="+mn-lt"/>
          <a:ea typeface="+mn-ea"/>
          <a:cs typeface="华文中宋" panose="02010600040101010101" pitchFamily="2" charset="-122"/>
        </a:defRPr>
      </a:lvl1pPr>
      <a:lvl2pPr marL="742950" indent="-285750" algn="l" rtl="0" eaLnBrk="0" fontAlgn="base" hangingPunct="0">
        <a:spcBef>
          <a:spcPct val="20000"/>
        </a:spcBef>
        <a:spcAft>
          <a:spcPct val="0"/>
        </a:spcAft>
        <a:buFont typeface="Wingdings" panose="05000000000000000000" pitchFamily="2" charset="2"/>
        <a:buChar char="Ø"/>
        <a:defRPr sz="2400" b="1">
          <a:solidFill>
            <a:schemeClr val="accent2"/>
          </a:solidFill>
          <a:latin typeface="+mn-lt"/>
          <a:ea typeface="楷体_GB2312" pitchFamily="49" charset="-122"/>
          <a:cs typeface="华文中宋" panose="02010600040101010101" pitchFamily="2" charset="-122"/>
        </a:defRPr>
      </a:lvl2pPr>
      <a:lvl3pPr marL="1143000"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cs typeface="华文中宋" panose="02010600040101010101" pitchFamily="2" charset="-122"/>
        </a:defRPr>
      </a:lvl3pPr>
      <a:lvl4pPr marL="1600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cs typeface="华文中宋" panose="02010600040101010101" pitchFamily="2" charset="-122"/>
        </a:defRPr>
      </a:lvl4pPr>
      <a:lvl5pPr marL="20574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cs typeface="华文中宋" panose="02010600040101010101" pitchFamily="2" charset="-122"/>
        </a:defRPr>
      </a:lvl5pPr>
      <a:lvl6pPr marL="25146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18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90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620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hyperlink" Target="https://wiki.sipeed.com/hardware/zh/lichee/th1520/lpi4a/1_intro.html" TargetMode="Externa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hyperlink" Target="https://github.com/revyos/thead-kernel"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hyperlink" Target="https://github.com/chainsx/armbian-riscv-build/blob/main/config/sources/families/thead.conf" TargetMode="External"/><Relationship Id="rId4" Type="http://schemas.openxmlformats.org/officeDocument/2006/relationships/image" Target="../media/image17.wmf"/></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6.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6.xml"/><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FraSharp/hackbench" TargetMode="External"/><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hyperlink" Target="https://github.com/FraSharp/hackbench.git"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8" Type="http://schemas.openxmlformats.org/officeDocument/2006/relationships/image" Target="../media/image30.wmf"/><Relationship Id="rId3" Type="http://schemas.openxmlformats.org/officeDocument/2006/relationships/hyperlink" Target="https://man7.org/linux/man-pages/man1/perf-record.1.html" TargetMode="External"/><Relationship Id="rId7" Type="http://schemas.openxmlformats.org/officeDocument/2006/relationships/oleObject" Target="../embeddings/oleObject2.bin"/><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hyperlink" Target="https://man7.org/linux/man-pages/man1/perf-report.1.html"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6.xml"/><Relationship Id="rId5" Type="http://schemas.openxmlformats.org/officeDocument/2006/relationships/image" Target="../media/image33.png"/><Relationship Id="rId4" Type="http://schemas.openxmlformats.org/officeDocument/2006/relationships/image" Target="../media/image32.png"/></Relationships>
</file>

<file path=ppt/slides/_rels/slide18.xml.rels><?xml version="1.0" encoding="UTF-8" standalone="yes"?>
<Relationships xmlns="http://schemas.openxmlformats.org/package/2006/relationships"><Relationship Id="rId3" Type="http://schemas.openxmlformats.org/officeDocument/2006/relationships/hyperlink" Target="https://github.com/brendangregg/FlameGraph" TargetMode="External"/><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34.png"/><Relationship Id="rId4" Type="http://schemas.openxmlformats.org/officeDocument/2006/relationships/hyperlink" Target="https://github.com/brendangregg/FlameGraph.git" TargetMode="External"/></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hyperlink" Target="https://github.com/torvalds/linux" TargetMode="External"/><Relationship Id="rId2" Type="http://schemas.openxmlformats.org/officeDocument/2006/relationships/notesSlide" Target="../notesSlides/notesSlide20.xml"/><Relationship Id="rId1" Type="http://schemas.openxmlformats.org/officeDocument/2006/relationships/slideLayout" Target="../slideLayouts/slideLayout6.xml"/><Relationship Id="rId4" Type="http://schemas.openxmlformats.org/officeDocument/2006/relationships/hyperlink" Target="https://lore.kernel.org/linux-riscv/874jic4hzs.ffs@tglx/"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10">
            <a:extLst>
              <a:ext uri="{FF2B5EF4-FFF2-40B4-BE49-F238E27FC236}">
                <a16:creationId xmlns:a16="http://schemas.microsoft.com/office/drawing/2014/main" id="{D27FD23E-B8CA-4B78-E5BB-A86029675402}"/>
              </a:ext>
            </a:extLst>
          </p:cNvPr>
          <p:cNvSpPr/>
          <p:nvPr/>
        </p:nvSpPr>
        <p:spPr>
          <a:xfrm>
            <a:off x="0" y="1350294"/>
            <a:ext cx="12192000" cy="1636282"/>
          </a:xfrm>
          <a:prstGeom prst="rect">
            <a:avLst/>
          </a:prstGeom>
        </p:spPr>
        <p:txBody>
          <a:bodyPr wrap="square">
            <a:spAutoFit/>
          </a:bodyPr>
          <a:lstStyle/>
          <a:p>
            <a:pPr algn="ctr" eaLnBrk="1" hangingPunct="1">
              <a:lnSpc>
                <a:spcPts val="6500"/>
              </a:lnSpc>
              <a:buClrTx/>
              <a:buSzTx/>
              <a:buFontTx/>
              <a:tabLst>
                <a:tab pos="7624445" algn="l"/>
              </a:tabLst>
              <a:defRPr/>
            </a:pPr>
            <a:r>
              <a:rPr lang="zh-CN" altLang="en-US" sz="3600" b="1" u="sng" kern="0" spc="100" dirty="0">
                <a:solidFill>
                  <a:srgbClr val="0000FF"/>
                </a:solidFill>
                <a:latin typeface="宋体" panose="02010600030101010101" pitchFamily="2" charset="-122"/>
                <a:ea typeface="宋体" panose="02010600030101010101" pitchFamily="2" charset="-122"/>
                <a:cs typeface="Times New Roman" panose="02020603050405020304" pitchFamily="18" charset="0"/>
              </a:rPr>
              <a:t>技术报告</a:t>
            </a:r>
            <a:endParaRPr lang="en-US" altLang="zh-CN" sz="3600" b="1" u="sng" kern="0" spc="100" dirty="0">
              <a:solidFill>
                <a:srgbClr val="0000FF"/>
              </a:solidFill>
              <a:latin typeface="宋体" panose="02010600030101010101" pitchFamily="2" charset="-122"/>
              <a:ea typeface="宋体" panose="02010600030101010101" pitchFamily="2" charset="-122"/>
              <a:cs typeface="Times New Roman" panose="02020603050405020304" pitchFamily="18" charset="0"/>
            </a:endParaRPr>
          </a:p>
          <a:p>
            <a:pPr algn="ctr" eaLnBrk="1" hangingPunct="1">
              <a:lnSpc>
                <a:spcPts val="6500"/>
              </a:lnSpc>
              <a:buClrTx/>
              <a:buSzTx/>
              <a:buFontTx/>
              <a:tabLst>
                <a:tab pos="7624445" algn="l"/>
              </a:tabLst>
              <a:defRPr/>
            </a:pPr>
            <a:r>
              <a:rPr lang="zh-CN" altLang="en-US" sz="2800" b="1" u="sng" kern="0" spc="100" dirty="0">
                <a:solidFill>
                  <a:srgbClr val="0000FF"/>
                </a:solidFill>
                <a:latin typeface="宋体" panose="02010600030101010101" pitchFamily="2" charset="-122"/>
                <a:ea typeface="宋体" panose="02010600030101010101" pitchFamily="2" charset="-122"/>
                <a:cs typeface="Times New Roman" panose="02020603050405020304" pitchFamily="18" charset="0"/>
              </a:rPr>
              <a:t>基于</a:t>
            </a:r>
            <a:r>
              <a:rPr lang="en-US" altLang="zh-CN" sz="2800" b="1" u="sng" kern="0" spc="1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perf</a:t>
            </a:r>
            <a:r>
              <a:rPr lang="zh-CN" altLang="en-US" sz="2800" b="1" u="sng" kern="0" spc="100" dirty="0">
                <a:solidFill>
                  <a:srgbClr val="0000FF"/>
                </a:solidFill>
                <a:latin typeface="宋体" panose="02010600030101010101" pitchFamily="2" charset="-122"/>
                <a:ea typeface="宋体" panose="02010600030101010101" pitchFamily="2" charset="-122"/>
                <a:cs typeface="Times New Roman" panose="02020603050405020304" pitchFamily="18" charset="0"/>
              </a:rPr>
              <a:t>工具的</a:t>
            </a:r>
            <a:r>
              <a:rPr lang="en-US" altLang="zh-CN" sz="2800" b="1" u="sng" kern="0" spc="100"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RISC-V</a:t>
            </a:r>
            <a:r>
              <a:rPr lang="zh-CN" altLang="en-US" sz="2800" b="1" u="sng" kern="0" spc="100" dirty="0">
                <a:solidFill>
                  <a:srgbClr val="0000FF"/>
                </a:solidFill>
                <a:latin typeface="宋体" panose="02010600030101010101" pitchFamily="2" charset="-122"/>
                <a:ea typeface="宋体" panose="02010600030101010101" pitchFamily="2" charset="-122"/>
                <a:cs typeface="Times New Roman" panose="02020603050405020304" pitchFamily="18" charset="0"/>
              </a:rPr>
              <a:t>性能检测论述</a:t>
            </a:r>
          </a:p>
        </p:txBody>
      </p:sp>
      <p:sp>
        <p:nvSpPr>
          <p:cNvPr id="12" name="Rectangle 4">
            <a:extLst>
              <a:ext uri="{FF2B5EF4-FFF2-40B4-BE49-F238E27FC236}">
                <a16:creationId xmlns:a16="http://schemas.microsoft.com/office/drawing/2014/main" id="{5EC249F5-38E0-6A4F-8E7D-65CA3BEE9BBE}"/>
              </a:ext>
            </a:extLst>
          </p:cNvPr>
          <p:cNvSpPr>
            <a:spLocks noChangeArrowheads="1"/>
          </p:cNvSpPr>
          <p:nvPr/>
        </p:nvSpPr>
        <p:spPr bwMode="auto">
          <a:xfrm>
            <a:off x="0" y="3961765"/>
            <a:ext cx="12192000" cy="1425575"/>
          </a:xfrm>
          <a:prstGeom prst="rect">
            <a:avLst/>
          </a:prstGeom>
          <a:noFill/>
          <a:ln>
            <a:noFill/>
          </a:ln>
        </p:spPr>
        <p:txBody>
          <a:bodyPr/>
          <a:lstStyle/>
          <a:p>
            <a:pPr algn="ctr">
              <a:spcBef>
                <a:spcPct val="20000"/>
              </a:spcBef>
              <a:buClr>
                <a:schemeClr val="folHlink"/>
              </a:buClr>
              <a:buSzPct val="60000"/>
              <a:buFont typeface="Wingdings" panose="05000000000000000000" pitchFamily="2" charset="2"/>
              <a:buNone/>
              <a:defRPr/>
            </a:pPr>
            <a:r>
              <a:rPr lang="zh-CN" altLang="en-US" sz="2200" b="1" spc="100" dirty="0">
                <a:solidFill>
                  <a:schemeClr val="accent6">
                    <a:lumMod val="50000"/>
                  </a:schemeClr>
                </a:solidFill>
                <a:latin typeface="宋体" panose="02010600030101010101" pitchFamily="2" charset="-122"/>
                <a:ea typeface="宋体" panose="02010600030101010101" pitchFamily="2" charset="-122"/>
                <a:cs typeface="Times New Roman" panose="02020603050405020304" pitchFamily="18" charset="0"/>
              </a:rPr>
              <a:t>报告人：杨 旺</a:t>
            </a:r>
            <a:endParaRPr lang="en-US" altLang="zh-CN" sz="2200" b="1" spc="100" dirty="0">
              <a:solidFill>
                <a:schemeClr val="accent6">
                  <a:lumMod val="50000"/>
                </a:schemeClr>
              </a:solidFill>
              <a:latin typeface="宋体" panose="02010600030101010101" pitchFamily="2" charset="-122"/>
              <a:ea typeface="宋体" panose="02010600030101010101" pitchFamily="2" charset="-122"/>
              <a:cs typeface="Times New Roman" panose="02020603050405020304" pitchFamily="18" charset="0"/>
            </a:endParaRPr>
          </a:p>
          <a:p>
            <a:pPr algn="ctr">
              <a:spcBef>
                <a:spcPct val="20000"/>
              </a:spcBef>
              <a:buClr>
                <a:schemeClr val="folHlink"/>
              </a:buClr>
              <a:buSzPct val="60000"/>
              <a:buFont typeface="Wingdings" panose="05000000000000000000" pitchFamily="2" charset="2"/>
              <a:buNone/>
              <a:defRPr/>
            </a:pPr>
            <a:r>
              <a:rPr lang="zh-CN" altLang="en-US" sz="2200" b="1" spc="100" dirty="0">
                <a:solidFill>
                  <a:schemeClr val="accent6">
                    <a:lumMod val="50000"/>
                  </a:schemeClr>
                </a:solidFill>
                <a:latin typeface="宋体" panose="02010600030101010101" pitchFamily="2" charset="-122"/>
                <a:ea typeface="宋体" panose="02010600030101010101" pitchFamily="2" charset="-122"/>
                <a:cs typeface="Times New Roman" panose="02020603050405020304" pitchFamily="18" charset="0"/>
              </a:rPr>
              <a:t>部门：智能软件研究中心</a:t>
            </a:r>
            <a:endParaRPr lang="en-US" altLang="zh-CN" sz="2200" b="1" spc="100" dirty="0">
              <a:solidFill>
                <a:schemeClr val="accent6">
                  <a:lumMod val="50000"/>
                </a:schemeClr>
              </a:solidFill>
              <a:latin typeface="宋体" panose="02010600030101010101" pitchFamily="2" charset="-122"/>
              <a:ea typeface="宋体" panose="02010600030101010101" pitchFamily="2" charset="-122"/>
              <a:cs typeface="Times New Roman" panose="02020603050405020304" pitchFamily="18" charset="0"/>
            </a:endParaRPr>
          </a:p>
          <a:p>
            <a:pPr algn="ctr">
              <a:spcBef>
                <a:spcPct val="20000"/>
              </a:spcBef>
              <a:buClr>
                <a:schemeClr val="folHlink"/>
              </a:buClr>
              <a:buSzPct val="60000"/>
              <a:buFont typeface="Wingdings" panose="05000000000000000000" pitchFamily="2" charset="2"/>
              <a:buNone/>
              <a:defRPr/>
            </a:pPr>
            <a:r>
              <a:rPr lang="en-US" altLang="zh-CN" sz="2400" b="1" spc="100" dirty="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2023</a:t>
            </a:r>
            <a:r>
              <a:rPr lang="zh-CN" altLang="en-US" sz="2400" b="1" spc="100" dirty="0">
                <a:solidFill>
                  <a:schemeClr val="accent6">
                    <a:lumMod val="50000"/>
                  </a:schemeClr>
                </a:solidFill>
                <a:latin typeface="宋体" panose="02010600030101010101" pitchFamily="2" charset="-122"/>
                <a:ea typeface="宋体" panose="02010600030101010101" pitchFamily="2" charset="-122"/>
                <a:cs typeface="Times New Roman" panose="02020603050405020304" pitchFamily="18" charset="0"/>
              </a:rPr>
              <a:t>年</a:t>
            </a:r>
            <a:r>
              <a:rPr lang="en-US" altLang="zh-CN" sz="2400" b="1" spc="100" dirty="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12</a:t>
            </a:r>
            <a:r>
              <a:rPr lang="zh-CN" altLang="en-US" sz="2400" b="1" spc="100" dirty="0">
                <a:solidFill>
                  <a:schemeClr val="accent6">
                    <a:lumMod val="50000"/>
                  </a:schemeClr>
                </a:solidFill>
                <a:latin typeface="宋体" panose="02010600030101010101" pitchFamily="2" charset="-122"/>
                <a:ea typeface="宋体" panose="02010600030101010101" pitchFamily="2" charset="-122"/>
                <a:cs typeface="Times New Roman" panose="02020603050405020304" pitchFamily="18" charset="0"/>
              </a:rPr>
              <a:t>月</a:t>
            </a:r>
            <a:r>
              <a:rPr lang="en-US" altLang="zh-CN" sz="2400" b="1" spc="100" dirty="0">
                <a:solidFill>
                  <a:schemeClr val="accent6">
                    <a:lumMod val="50000"/>
                  </a:schemeClr>
                </a:solidFill>
                <a:latin typeface="Times New Roman" panose="02020603050405020304" pitchFamily="18" charset="0"/>
                <a:ea typeface="宋体" panose="02010600030101010101" pitchFamily="2" charset="-122"/>
                <a:cs typeface="Times New Roman" panose="02020603050405020304" pitchFamily="18" charset="0"/>
              </a:rPr>
              <a:t>14</a:t>
            </a:r>
            <a:r>
              <a:rPr lang="zh-CN" altLang="en-US" sz="2400" b="1" spc="100" dirty="0">
                <a:solidFill>
                  <a:schemeClr val="accent6">
                    <a:lumMod val="50000"/>
                  </a:schemeClr>
                </a:solidFill>
                <a:latin typeface="宋体" panose="02010600030101010101" pitchFamily="2" charset="-122"/>
                <a:ea typeface="宋体" panose="02010600030101010101" pitchFamily="2" charset="-122"/>
                <a:cs typeface="Times New Roman" panose="02020603050405020304" pitchFamily="18" charset="0"/>
              </a:rPr>
              <a:t>日</a:t>
            </a:r>
          </a:p>
        </p:txBody>
      </p:sp>
    </p:spTree>
    <p:extLst>
      <p:ext uri="{BB962C8B-B14F-4D97-AF65-F5344CB8AC3E}">
        <p14:creationId xmlns:p14="http://schemas.microsoft.com/office/powerpoint/2010/main" val="678015713"/>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表格 2">
            <a:extLst>
              <a:ext uri="{FF2B5EF4-FFF2-40B4-BE49-F238E27FC236}">
                <a16:creationId xmlns:a16="http://schemas.microsoft.com/office/drawing/2014/main" id="{32F038B8-6766-8526-BBCE-EF1F7BF703DC}"/>
              </a:ext>
            </a:extLst>
          </p:cNvPr>
          <p:cNvGraphicFramePr>
            <a:graphicFrameLocks noGrp="1"/>
          </p:cNvGraphicFramePr>
          <p:nvPr>
            <p:extLst>
              <p:ext uri="{D42A27DB-BD31-4B8C-83A1-F6EECF244321}">
                <p14:modId xmlns:p14="http://schemas.microsoft.com/office/powerpoint/2010/main" val="2467400548"/>
              </p:ext>
            </p:extLst>
          </p:nvPr>
        </p:nvGraphicFramePr>
        <p:xfrm>
          <a:off x="174981" y="1650418"/>
          <a:ext cx="3360374" cy="4053840"/>
        </p:xfrm>
        <a:graphic>
          <a:graphicData uri="http://schemas.openxmlformats.org/drawingml/2006/table">
            <a:tbl>
              <a:tblPr firstRow="1" bandRow="1">
                <a:tableStyleId>{5C22544A-7EE6-4342-B048-85BDC9FD1C3A}</a:tableStyleId>
              </a:tblPr>
              <a:tblGrid>
                <a:gridCol w="1680187">
                  <a:extLst>
                    <a:ext uri="{9D8B030D-6E8A-4147-A177-3AD203B41FA5}">
                      <a16:colId xmlns:a16="http://schemas.microsoft.com/office/drawing/2014/main" val="2763862038"/>
                    </a:ext>
                  </a:extLst>
                </a:gridCol>
                <a:gridCol w="1680187">
                  <a:extLst>
                    <a:ext uri="{9D8B030D-6E8A-4147-A177-3AD203B41FA5}">
                      <a16:colId xmlns:a16="http://schemas.microsoft.com/office/drawing/2014/main" val="4205608278"/>
                    </a:ext>
                  </a:extLst>
                </a:gridCol>
              </a:tblGrid>
              <a:tr h="226311">
                <a:tc>
                  <a:txBody>
                    <a:bodyPr/>
                    <a:lstStyle/>
                    <a:p>
                      <a:pPr algn="ctr"/>
                      <a:r>
                        <a:rPr lang="zh-CN" altLang="en-US" sz="1000" dirty="0">
                          <a:latin typeface="宋体" panose="02010600030101010101" pitchFamily="2" charset="-122"/>
                          <a:ea typeface="宋体" panose="02010600030101010101" pitchFamily="2" charset="-122"/>
                        </a:rPr>
                        <a:t>硬件板卡</a:t>
                      </a:r>
                    </a:p>
                  </a:txBody>
                  <a:tcPr/>
                </a:tc>
                <a:tc>
                  <a:txBody>
                    <a:bodyPr/>
                    <a:lstStyle/>
                    <a:p>
                      <a:pPr algn="ctr"/>
                      <a:r>
                        <a:rPr lang="en-US" altLang="zh-CN" sz="1000" dirty="0">
                          <a:latin typeface="Times New Roman" panose="02020603050405020304" pitchFamily="18" charset="0"/>
                          <a:cs typeface="Times New Roman" panose="02020603050405020304" pitchFamily="18" charset="0"/>
                        </a:rPr>
                        <a:t>LicheePi4A</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67066246"/>
                  </a:ext>
                </a:extLst>
              </a:tr>
              <a:tr h="226311">
                <a:tc>
                  <a:txBody>
                    <a:bodyPr/>
                    <a:lstStyle/>
                    <a:p>
                      <a:pPr algn="ctr"/>
                      <a:r>
                        <a:rPr lang="zh-CN" altLang="en-US" sz="1000" b="1" dirty="0">
                          <a:latin typeface="宋体" panose="02010600030101010101" pitchFamily="2" charset="-122"/>
                          <a:ea typeface="宋体" panose="02010600030101010101" pitchFamily="2" charset="-122"/>
                        </a:rPr>
                        <a:t>处理器</a:t>
                      </a:r>
                    </a:p>
                  </a:txBody>
                  <a:tcPr/>
                </a:tc>
                <a:tc>
                  <a:txBody>
                    <a:bodyPr/>
                    <a:lstStyle/>
                    <a:p>
                      <a:pPr algn="ctr"/>
                      <a:r>
                        <a:rPr lang="en-US" altLang="zh-CN" sz="1000" dirty="0" err="1">
                          <a:latin typeface="Times New Roman" panose="02020603050405020304" pitchFamily="18" charset="0"/>
                          <a:cs typeface="Times New Roman" panose="02020603050405020304" pitchFamily="18" charset="0"/>
                        </a:rPr>
                        <a:t>XuanTie</a:t>
                      </a:r>
                      <a:r>
                        <a:rPr lang="en-US" altLang="zh-CN" sz="1000" dirty="0">
                          <a:latin typeface="Times New Roman" panose="02020603050405020304" pitchFamily="18" charset="0"/>
                          <a:cs typeface="Times New Roman" panose="02020603050405020304" pitchFamily="18" charset="0"/>
                        </a:rPr>
                        <a:t> C910</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321966897"/>
                  </a:ext>
                </a:extLst>
              </a:tr>
              <a:tr h="226311">
                <a:tc>
                  <a:txBody>
                    <a:bodyPr/>
                    <a:lstStyle/>
                    <a:p>
                      <a:pPr algn="ctr"/>
                      <a:r>
                        <a:rPr lang="zh-CN" altLang="en-US" sz="1000" b="1" dirty="0">
                          <a:latin typeface="宋体" panose="02010600030101010101" pitchFamily="2" charset="-122"/>
                          <a:ea typeface="宋体" panose="02010600030101010101" pitchFamily="2" charset="-122"/>
                        </a:rPr>
                        <a:t>架构</a:t>
                      </a:r>
                    </a:p>
                  </a:txBody>
                  <a:tcPr/>
                </a:tc>
                <a:tc>
                  <a:txBody>
                    <a:bodyPr/>
                    <a:lstStyle/>
                    <a:p>
                      <a:pPr algn="ctr"/>
                      <a:r>
                        <a:rPr lang="en-US" altLang="zh-CN" sz="1000" dirty="0">
                          <a:latin typeface="Times New Roman" panose="02020603050405020304" pitchFamily="18" charset="0"/>
                          <a:cs typeface="Times New Roman" panose="02020603050405020304" pitchFamily="18" charset="0"/>
                        </a:rPr>
                        <a:t>RV64</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58911126"/>
                  </a:ext>
                </a:extLst>
              </a:tr>
              <a:tr h="226311">
                <a:tc>
                  <a:txBody>
                    <a:bodyPr/>
                    <a:lstStyle/>
                    <a:p>
                      <a:pPr algn="ctr"/>
                      <a:r>
                        <a:rPr lang="en-US" altLang="zh-CN" sz="1000" b="1" dirty="0">
                          <a:latin typeface="Times New Roman" panose="02020603050405020304" pitchFamily="18" charset="0"/>
                          <a:ea typeface="宋体" panose="02010600030101010101" pitchFamily="2" charset="-122"/>
                          <a:cs typeface="Times New Roman" panose="02020603050405020304" pitchFamily="18" charset="0"/>
                        </a:rPr>
                        <a:t>CPU</a:t>
                      </a:r>
                      <a:r>
                        <a:rPr lang="zh-CN" altLang="en-US" sz="1000" b="1" dirty="0">
                          <a:latin typeface="宋体" panose="02010600030101010101" pitchFamily="2" charset="-122"/>
                          <a:ea typeface="宋体" panose="02010600030101010101" pitchFamily="2" charset="-122"/>
                        </a:rPr>
                        <a:t>核心数</a:t>
                      </a:r>
                    </a:p>
                  </a:txBody>
                  <a:tcPr/>
                </a:tc>
                <a:tc>
                  <a:txBody>
                    <a:bodyPr/>
                    <a:lstStyle/>
                    <a:p>
                      <a:pPr algn="ctr"/>
                      <a:r>
                        <a:rPr lang="en-US" altLang="zh-CN" sz="1000" dirty="0">
                          <a:latin typeface="Times New Roman" panose="02020603050405020304" pitchFamily="18" charset="0"/>
                          <a:cs typeface="Times New Roman" panose="02020603050405020304" pitchFamily="18" charset="0"/>
                        </a:rPr>
                        <a:t>4</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88677350"/>
                  </a:ext>
                </a:extLst>
              </a:tr>
              <a:tr h="226311">
                <a:tc>
                  <a:txBody>
                    <a:bodyPr/>
                    <a:lstStyle/>
                    <a:p>
                      <a:pPr algn="ctr"/>
                      <a:r>
                        <a:rPr lang="en-US" altLang="zh-CN" sz="1000" b="1" dirty="0">
                          <a:latin typeface="Times New Roman" panose="02020603050405020304" pitchFamily="18" charset="0"/>
                          <a:ea typeface="宋体" panose="02010600030101010101" pitchFamily="2" charset="-122"/>
                          <a:cs typeface="Times New Roman" panose="02020603050405020304" pitchFamily="18" charset="0"/>
                        </a:rPr>
                        <a:t>CPU</a:t>
                      </a:r>
                      <a:r>
                        <a:rPr lang="zh-CN" altLang="en-US" sz="1000" b="1" dirty="0">
                          <a:latin typeface="宋体" panose="02010600030101010101" pitchFamily="2" charset="-122"/>
                          <a:ea typeface="宋体" panose="02010600030101010101" pitchFamily="2" charset="-122"/>
                        </a:rPr>
                        <a:t>主频</a:t>
                      </a:r>
                    </a:p>
                  </a:txBody>
                  <a:tcPr/>
                </a:tc>
                <a:tc>
                  <a:txBody>
                    <a:bodyPr/>
                    <a:lstStyle/>
                    <a:p>
                      <a:pPr algn="ctr"/>
                      <a:r>
                        <a:rPr lang="en-US" altLang="zh-CN" sz="1000" dirty="0">
                          <a:latin typeface="Times New Roman" panose="02020603050405020304" pitchFamily="18" charset="0"/>
                          <a:cs typeface="Times New Roman" panose="02020603050405020304" pitchFamily="18" charset="0"/>
                        </a:rPr>
                        <a:t>1.85GHz</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43805746"/>
                  </a:ext>
                </a:extLst>
              </a:tr>
              <a:tr h="226311">
                <a:tc>
                  <a:txBody>
                    <a:bodyPr/>
                    <a:lstStyle/>
                    <a:p>
                      <a:pPr algn="ctr"/>
                      <a:r>
                        <a:rPr lang="zh-CN" altLang="en-US" sz="1000" b="1" dirty="0">
                          <a:latin typeface="宋体" panose="02010600030101010101" pitchFamily="2" charset="-122"/>
                          <a:ea typeface="宋体" panose="02010600030101010101" pitchFamily="2" charset="-122"/>
                        </a:rPr>
                        <a:t>流水线规格</a:t>
                      </a:r>
                    </a:p>
                  </a:txBody>
                  <a:tcPr/>
                </a:tc>
                <a:tc>
                  <a:txBody>
                    <a:bodyPr/>
                    <a:lstStyle/>
                    <a:p>
                      <a:pPr algn="ctr"/>
                      <a:r>
                        <a:rPr lang="en-US" altLang="zh-CN" sz="1000" dirty="0">
                          <a:latin typeface="Times New Roman" panose="02020603050405020304" pitchFamily="18" charset="0"/>
                          <a:cs typeface="Times New Roman" panose="02020603050405020304" pitchFamily="18" charset="0"/>
                        </a:rPr>
                        <a:t>12 stages, out-of-order</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54635300"/>
                  </a:ext>
                </a:extLst>
              </a:tr>
              <a:tr h="226311">
                <a:tc>
                  <a:txBody>
                    <a:bodyPr/>
                    <a:lstStyle/>
                    <a:p>
                      <a:pPr algn="ctr"/>
                      <a:r>
                        <a:rPr lang="zh-CN" altLang="en-US" sz="1000" b="1" dirty="0">
                          <a:latin typeface="宋体" panose="02010600030101010101" pitchFamily="2" charset="-122"/>
                          <a:ea typeface="宋体" panose="02010600030101010101" pitchFamily="2" charset="-122"/>
                        </a:rPr>
                        <a:t>分支预测</a:t>
                      </a:r>
                    </a:p>
                  </a:txBody>
                  <a:tcPr/>
                </a:tc>
                <a:tc>
                  <a:txBody>
                    <a:bodyPr/>
                    <a:lstStyle/>
                    <a:p>
                      <a:pPr algn="ctr"/>
                      <a:r>
                        <a:rPr lang="en-US" altLang="zh-CN" sz="1000" dirty="0">
                          <a:latin typeface="Times New Roman" panose="02020603050405020304" pitchFamily="18" charset="0"/>
                          <a:cs typeface="Times New Roman" panose="02020603050405020304" pitchFamily="18" charset="0"/>
                        </a:rPr>
                        <a:t>BTB</a:t>
                      </a:r>
                      <a:r>
                        <a:rPr lang="zh-CN" altLang="en-US" sz="1000" dirty="0">
                          <a:latin typeface="Times New Roman" panose="02020603050405020304" pitchFamily="18" charset="0"/>
                          <a:cs typeface="Times New Roman" panose="02020603050405020304" pitchFamily="18" charset="0"/>
                        </a:rPr>
                        <a:t>，</a:t>
                      </a:r>
                      <a:r>
                        <a:rPr lang="en-US" altLang="zh-CN" sz="1000" dirty="0">
                          <a:latin typeface="Times New Roman" panose="02020603050405020304" pitchFamily="18" charset="0"/>
                          <a:cs typeface="Times New Roman" panose="02020603050405020304" pitchFamily="18" charset="0"/>
                        </a:rPr>
                        <a:t>BHT</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9559001"/>
                  </a:ext>
                </a:extLst>
              </a:tr>
              <a:tr h="226311">
                <a:tc>
                  <a:txBody>
                    <a:bodyPr/>
                    <a:lstStyle/>
                    <a:p>
                      <a:pPr algn="ctr"/>
                      <a:r>
                        <a:rPr lang="zh-CN" altLang="en-US" sz="1000" b="1" dirty="0">
                          <a:latin typeface="宋体" panose="02010600030101010101" pitchFamily="2" charset="-122"/>
                          <a:ea typeface="宋体" panose="02010600030101010101" pitchFamily="2" charset="-122"/>
                        </a:rPr>
                        <a:t>中断控制器</a:t>
                      </a:r>
                    </a:p>
                  </a:txBody>
                  <a:tcPr/>
                </a:tc>
                <a:tc>
                  <a:txBody>
                    <a:bodyPr/>
                    <a:lstStyle/>
                    <a:p>
                      <a:pPr algn="ctr"/>
                      <a:r>
                        <a:rPr lang="en-US" altLang="zh-CN" sz="1000" dirty="0">
                          <a:latin typeface="Times New Roman" panose="02020603050405020304" pitchFamily="18" charset="0"/>
                          <a:cs typeface="Times New Roman" panose="02020603050405020304" pitchFamily="18" charset="0"/>
                        </a:rPr>
                        <a:t>PLIC</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465837642"/>
                  </a:ext>
                </a:extLst>
              </a:tr>
              <a:tr h="226311">
                <a:tc>
                  <a:txBody>
                    <a:bodyPr/>
                    <a:lstStyle/>
                    <a:p>
                      <a:pPr algn="ctr"/>
                      <a:r>
                        <a:rPr lang="en-US" altLang="zh-CN" sz="1000" b="1" dirty="0">
                          <a:latin typeface="Times New Roman" panose="02020603050405020304" pitchFamily="18" charset="0"/>
                          <a:cs typeface="Times New Roman" panose="02020603050405020304" pitchFamily="18" charset="0"/>
                        </a:rPr>
                        <a:t>L1 I-cache</a:t>
                      </a:r>
                      <a:endParaRPr lang="zh-CN" altLang="en-US" sz="10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1000" dirty="0">
                          <a:latin typeface="Times New Roman" panose="02020603050405020304" pitchFamily="18" charset="0"/>
                          <a:cs typeface="Times New Roman" panose="02020603050405020304" pitchFamily="18" charset="0"/>
                        </a:rPr>
                        <a:t>64KB</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89087989"/>
                  </a:ext>
                </a:extLst>
              </a:tr>
              <a:tr h="226311">
                <a:tc>
                  <a:txBody>
                    <a:bodyPr/>
                    <a:lstStyle/>
                    <a:p>
                      <a:pPr algn="ctr"/>
                      <a:r>
                        <a:rPr lang="en-US" altLang="zh-CN" sz="1000" b="1" dirty="0">
                          <a:latin typeface="Times New Roman" panose="02020603050405020304" pitchFamily="18" charset="0"/>
                          <a:cs typeface="Times New Roman" panose="02020603050405020304" pitchFamily="18" charset="0"/>
                        </a:rPr>
                        <a:t>L1</a:t>
                      </a:r>
                      <a:r>
                        <a:rPr lang="en-US" altLang="zh-CN" sz="1000" b="1" baseline="0" dirty="0">
                          <a:latin typeface="Times New Roman" panose="02020603050405020304" pitchFamily="18" charset="0"/>
                          <a:cs typeface="Times New Roman" panose="02020603050405020304" pitchFamily="18" charset="0"/>
                        </a:rPr>
                        <a:t> </a:t>
                      </a:r>
                      <a:r>
                        <a:rPr lang="en-US" altLang="zh-CN" sz="1000" b="1" dirty="0">
                          <a:latin typeface="Times New Roman" panose="02020603050405020304" pitchFamily="18" charset="0"/>
                          <a:cs typeface="Times New Roman" panose="02020603050405020304" pitchFamily="18" charset="0"/>
                        </a:rPr>
                        <a:t>D-cache</a:t>
                      </a:r>
                      <a:endParaRPr lang="zh-CN" altLang="en-US" sz="10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1000" dirty="0">
                          <a:latin typeface="Times New Roman" panose="02020603050405020304" pitchFamily="18" charset="0"/>
                          <a:cs typeface="Times New Roman" panose="02020603050405020304" pitchFamily="18" charset="0"/>
                        </a:rPr>
                        <a:t>64KB</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240009908"/>
                  </a:ext>
                </a:extLst>
              </a:tr>
              <a:tr h="226311">
                <a:tc>
                  <a:txBody>
                    <a:bodyPr/>
                    <a:lstStyle/>
                    <a:p>
                      <a:pPr algn="ctr"/>
                      <a:r>
                        <a:rPr lang="en-US" altLang="zh-CN" sz="1000" b="1" dirty="0">
                          <a:latin typeface="Times New Roman" panose="02020603050405020304" pitchFamily="18" charset="0"/>
                          <a:cs typeface="Times New Roman" panose="02020603050405020304" pitchFamily="18" charset="0"/>
                        </a:rPr>
                        <a:t>L2 cache</a:t>
                      </a:r>
                      <a:endParaRPr lang="zh-CN" altLang="en-US" sz="1000" b="1" dirty="0">
                        <a:latin typeface="Times New Roman" panose="02020603050405020304" pitchFamily="18" charset="0"/>
                        <a:cs typeface="Times New Roman" panose="02020603050405020304" pitchFamily="18" charset="0"/>
                      </a:endParaRPr>
                    </a:p>
                  </a:txBody>
                  <a:tcPr/>
                </a:tc>
                <a:tc>
                  <a:txBody>
                    <a:bodyPr/>
                    <a:lstStyle/>
                    <a:p>
                      <a:pPr algn="ctr"/>
                      <a:r>
                        <a:rPr lang="en-US" altLang="zh-CN" sz="1000" dirty="0">
                          <a:latin typeface="Times New Roman" panose="02020603050405020304" pitchFamily="18" charset="0"/>
                          <a:cs typeface="Times New Roman" panose="02020603050405020304" pitchFamily="18" charset="0"/>
                        </a:rPr>
                        <a:t>1MB</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38078224"/>
                  </a:ext>
                </a:extLst>
              </a:tr>
              <a:tr h="226311">
                <a:tc>
                  <a:txBody>
                    <a:bodyPr/>
                    <a:lstStyle/>
                    <a:p>
                      <a:pPr algn="ctr"/>
                      <a:r>
                        <a:rPr lang="zh-CN" altLang="en-US" sz="1000" b="1" dirty="0">
                          <a:latin typeface="宋体" panose="02010600030101010101" pitchFamily="2" charset="-122"/>
                          <a:ea typeface="宋体" panose="02010600030101010101" pitchFamily="2" charset="-122"/>
                        </a:rPr>
                        <a:t>内存</a:t>
                      </a:r>
                    </a:p>
                  </a:txBody>
                  <a:tcPr/>
                </a:tc>
                <a:tc>
                  <a:txBody>
                    <a:bodyPr/>
                    <a:lstStyle/>
                    <a:p>
                      <a:pPr algn="ctr"/>
                      <a:r>
                        <a:rPr lang="en-US" altLang="zh-CN" sz="1000" dirty="0">
                          <a:latin typeface="Times New Roman" panose="02020603050405020304" pitchFamily="18" charset="0"/>
                          <a:cs typeface="Times New Roman" panose="02020603050405020304" pitchFamily="18" charset="0"/>
                        </a:rPr>
                        <a:t>LPDDR4X</a:t>
                      </a:r>
                      <a:r>
                        <a:rPr lang="zh-CN" altLang="en-US" sz="1000" dirty="0">
                          <a:latin typeface="Times New Roman" panose="02020603050405020304" pitchFamily="18" charset="0"/>
                          <a:cs typeface="Times New Roman" panose="02020603050405020304" pitchFamily="18" charset="0"/>
                        </a:rPr>
                        <a:t>：</a:t>
                      </a:r>
                      <a:r>
                        <a:rPr lang="en-US" altLang="zh-CN" sz="1000" dirty="0">
                          <a:latin typeface="Times New Roman" panose="02020603050405020304" pitchFamily="18" charset="0"/>
                          <a:cs typeface="Times New Roman" panose="02020603050405020304" pitchFamily="18" charset="0"/>
                        </a:rPr>
                        <a:t>8GB</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86143292"/>
                  </a:ext>
                </a:extLst>
              </a:tr>
              <a:tr h="226311">
                <a:tc>
                  <a:txBody>
                    <a:bodyPr/>
                    <a:lstStyle/>
                    <a:p>
                      <a:pPr algn="ctr"/>
                      <a:r>
                        <a:rPr lang="en-US" altLang="zh-CN" sz="1000" b="1" dirty="0">
                          <a:latin typeface="Times New Roman" panose="02020603050405020304" pitchFamily="18" charset="0"/>
                          <a:ea typeface="宋体" panose="02010600030101010101" pitchFamily="2" charset="-122"/>
                          <a:cs typeface="Times New Roman" panose="02020603050405020304" pitchFamily="18" charset="0"/>
                        </a:rPr>
                        <a:t>performance monitoring counters (PMCs)</a:t>
                      </a:r>
                      <a:endParaRPr lang="zh-CN" altLang="en-US" sz="1000" b="1" dirty="0">
                        <a:latin typeface="Times New Roman" panose="02020603050405020304" pitchFamily="18" charset="0"/>
                        <a:ea typeface="宋体" panose="02010600030101010101" pitchFamily="2" charset="-122"/>
                        <a:cs typeface="Times New Roman" panose="02020603050405020304" pitchFamily="18" charset="0"/>
                      </a:endParaRPr>
                    </a:p>
                  </a:txBody>
                  <a:tcPr/>
                </a:tc>
                <a:tc>
                  <a:txBody>
                    <a:bodyPr/>
                    <a:lstStyle/>
                    <a:p>
                      <a:pPr algn="ctr"/>
                      <a:r>
                        <a:rPr lang="en-US" altLang="zh-CN" sz="1000" dirty="0">
                          <a:latin typeface="Times New Roman" panose="02020603050405020304" pitchFamily="18" charset="0"/>
                          <a:cs typeface="Times New Roman" panose="02020603050405020304" pitchFamily="18" charset="0"/>
                        </a:rPr>
                        <a:t>PMU</a:t>
                      </a:r>
                      <a:endParaRPr lang="zh-CN" altLang="en-US" sz="1000"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939599168"/>
                  </a:ext>
                </a:extLst>
              </a:tr>
              <a:tr h="226311">
                <a:tc>
                  <a:txBody>
                    <a:bodyPr/>
                    <a:lstStyle/>
                    <a:p>
                      <a:pPr marL="0" algn="ctr" defTabSz="914400" rtl="0" eaLnBrk="1" latinLnBrk="0" hangingPunct="1"/>
                      <a:r>
                        <a:rPr lang="zh-CN" altLang="en-US" sz="1000" b="1" kern="1200" dirty="0">
                          <a:solidFill>
                            <a:schemeClr val="lt1"/>
                          </a:solidFill>
                          <a:latin typeface="宋体" panose="02010600030101010101" pitchFamily="2" charset="-122"/>
                          <a:ea typeface="宋体" panose="02010600030101010101" pitchFamily="2" charset="-122"/>
                          <a:cs typeface="+mn-cs"/>
                        </a:rPr>
                        <a:t>软件类型</a:t>
                      </a:r>
                    </a:p>
                  </a:txBody>
                  <a:tcPr>
                    <a:solidFill>
                      <a:schemeClr val="accent1"/>
                    </a:solidFill>
                  </a:tcPr>
                </a:tc>
                <a:tc>
                  <a:txBody>
                    <a:bodyPr/>
                    <a:lstStyle/>
                    <a:p>
                      <a:pPr marL="0" algn="ctr" defTabSz="914400" rtl="0" eaLnBrk="1" latinLnBrk="0" hangingPunct="1"/>
                      <a:r>
                        <a:rPr lang="zh-CN" altLang="en-US" sz="1000" b="1" kern="1200" dirty="0">
                          <a:solidFill>
                            <a:schemeClr val="lt1"/>
                          </a:solidFill>
                          <a:latin typeface="宋体" panose="02010600030101010101" pitchFamily="2" charset="-122"/>
                          <a:ea typeface="宋体" panose="02010600030101010101" pitchFamily="2" charset="-122"/>
                          <a:cs typeface="+mn-cs"/>
                        </a:rPr>
                        <a:t>版本</a:t>
                      </a:r>
                    </a:p>
                  </a:txBody>
                  <a:tcPr>
                    <a:solidFill>
                      <a:schemeClr val="accent1"/>
                    </a:solidFill>
                  </a:tcPr>
                </a:tc>
                <a:extLst>
                  <a:ext uri="{0D108BD9-81ED-4DB2-BD59-A6C34878D82A}">
                    <a16:rowId xmlns:a16="http://schemas.microsoft.com/office/drawing/2014/main" val="954457684"/>
                  </a:ext>
                </a:extLst>
              </a:tr>
              <a:tr h="226311">
                <a:tc>
                  <a:txBody>
                    <a:bodyPr/>
                    <a:lstStyle/>
                    <a:p>
                      <a:pPr algn="ctr"/>
                      <a:r>
                        <a:rPr lang="zh-CN" altLang="en-US" sz="1000" b="1" dirty="0">
                          <a:latin typeface="宋体" panose="02010600030101010101" pitchFamily="2" charset="-122"/>
                          <a:ea typeface="宋体" panose="02010600030101010101" pitchFamily="2" charset="-122"/>
                        </a:rPr>
                        <a:t>内核</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dirty="0">
                          <a:latin typeface="Times New Roman" panose="02020603050405020304" pitchFamily="18" charset="0"/>
                          <a:cs typeface="Times New Roman" panose="02020603050405020304" pitchFamily="18" charset="0"/>
                        </a:rPr>
                        <a:t>Linux </a:t>
                      </a:r>
                      <a:r>
                        <a:rPr lang="en-US" altLang="zh-CN" sz="1000" dirty="0">
                          <a:solidFill>
                            <a:srgbClr val="FF0000"/>
                          </a:solidFill>
                          <a:latin typeface="Times New Roman" panose="02020603050405020304" pitchFamily="18" charset="0"/>
                          <a:cs typeface="Times New Roman" panose="02020603050405020304" pitchFamily="18" charset="0"/>
                        </a:rPr>
                        <a:t>5.10.113</a:t>
                      </a:r>
                      <a:endParaRPr lang="zh-CN" altLang="en-US" sz="1000" dirty="0">
                        <a:solidFill>
                          <a:srgbClr val="FF0000"/>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71329816"/>
                  </a:ext>
                </a:extLst>
              </a:tr>
              <a:tr h="226311">
                <a:tc>
                  <a:txBody>
                    <a:bodyPr/>
                    <a:lstStyle/>
                    <a:p>
                      <a:pPr algn="ctr"/>
                      <a:r>
                        <a:rPr lang="zh-CN" altLang="en-US" sz="1000" b="1" dirty="0">
                          <a:latin typeface="宋体" panose="02010600030101010101" pitchFamily="2" charset="-122"/>
                          <a:ea typeface="宋体" panose="02010600030101010101" pitchFamily="2" charset="-122"/>
                        </a:rPr>
                        <a:t>操作系统</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00" dirty="0" err="1">
                          <a:latin typeface="Times New Roman" panose="02020603050405020304" pitchFamily="18" charset="0"/>
                          <a:cs typeface="Times New Roman" panose="02020603050405020304" pitchFamily="18" charset="0"/>
                        </a:rPr>
                        <a:t>Armbian</a:t>
                      </a:r>
                      <a:r>
                        <a:rPr lang="en-US" altLang="zh-CN" sz="1000" dirty="0">
                          <a:latin typeface="Times New Roman" panose="02020603050405020304" pitchFamily="18" charset="0"/>
                          <a:cs typeface="Times New Roman" panose="02020603050405020304" pitchFamily="18" charset="0"/>
                        </a:rPr>
                        <a:t> 23.05</a:t>
                      </a:r>
                      <a:endParaRPr lang="zh-CN" altLang="en-US" sz="10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60953276"/>
                  </a:ext>
                </a:extLst>
              </a:tr>
            </a:tbl>
          </a:graphicData>
        </a:graphic>
      </p:graphicFrame>
      <p:pic>
        <p:nvPicPr>
          <p:cNvPr id="12" name="Picture 2">
            <a:extLst>
              <a:ext uri="{FF2B5EF4-FFF2-40B4-BE49-F238E27FC236}">
                <a16:creationId xmlns:a16="http://schemas.microsoft.com/office/drawing/2014/main" id="{40A7088A-2381-47A8-FE3E-0F706FA9312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86555" y="2340072"/>
            <a:ext cx="2889189" cy="2112609"/>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1">
            <a:extLst>
              <a:ext uri="{FF2B5EF4-FFF2-40B4-BE49-F238E27FC236}">
                <a16:creationId xmlns:a16="http://schemas.microsoft.com/office/drawing/2014/main" id="{9D44ACDB-69C2-79A8-012F-0824CDE8EEC2}"/>
              </a:ext>
            </a:extLst>
          </p:cNvPr>
          <p:cNvSpPr txBox="1"/>
          <p:nvPr/>
        </p:nvSpPr>
        <p:spPr>
          <a:xfrm>
            <a:off x="4727848" y="4631563"/>
            <a:ext cx="1368152" cy="369332"/>
          </a:xfrm>
          <a:prstGeom prst="rect">
            <a:avLst/>
          </a:prstGeom>
          <a:noFill/>
        </p:spPr>
        <p:txBody>
          <a:bodyPr wrap="square" rtlCol="0">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CN" sz="1800" b="0" i="0" u="none" strike="noStrike" kern="1200" cap="none" spc="0" normalizeH="0" baseline="0" noProof="0" dirty="0">
                <a:ln>
                  <a:noFill/>
                </a:ln>
                <a:solidFill>
                  <a:srgbClr val="000000"/>
                </a:solidFill>
                <a:effectLst/>
                <a:uLnTx/>
                <a:uFillTx/>
                <a:latin typeface="Times New Roman"/>
                <a:ea typeface="宋体" panose="02010600030101010101" pitchFamily="2" charset="-122"/>
                <a:cs typeface="+mn-cs"/>
              </a:rPr>
              <a:t>LicheePi4A</a:t>
            </a:r>
          </a:p>
        </p:txBody>
      </p:sp>
      <p:sp>
        <p:nvSpPr>
          <p:cNvPr id="14" name="文本框 4">
            <a:extLst>
              <a:ext uri="{FF2B5EF4-FFF2-40B4-BE49-F238E27FC236}">
                <a16:creationId xmlns:a16="http://schemas.microsoft.com/office/drawing/2014/main" id="{00DAAE82-126E-5298-C584-C7D54BA9267E}"/>
              </a:ext>
            </a:extLst>
          </p:cNvPr>
          <p:cNvSpPr txBox="1"/>
          <p:nvPr/>
        </p:nvSpPr>
        <p:spPr>
          <a:xfrm>
            <a:off x="589909" y="1140560"/>
            <a:ext cx="2077092" cy="481863"/>
          </a:xfrm>
          <a:prstGeom prst="rect">
            <a:avLst/>
          </a:prstGeom>
          <a:noFill/>
        </p:spPr>
        <p:txBody>
          <a:bodyPr wrap="square" rtlCol="0">
            <a:spAutoFit/>
          </a:bodyPr>
          <a:lstStyle/>
          <a:p>
            <a:pPr marL="0" marR="0" lvl="0" indent="0" algn="ctr" defTabSz="914400" rtl="0" eaLnBrk="1" fontAlgn="base" latinLnBrk="0" hangingPunct="1">
              <a:lnSpc>
                <a:spcPct val="150000"/>
              </a:lnSpc>
              <a:spcBef>
                <a:spcPct val="0"/>
              </a:spcBef>
              <a:spcAft>
                <a:spcPct val="0"/>
              </a:spcAft>
              <a:buClrTx/>
              <a:buSzTx/>
              <a:buFontTx/>
              <a:buNone/>
              <a:tabLst/>
              <a:defRPr/>
            </a:pPr>
            <a:r>
              <a:rPr kumimoji="0" lang="zh-CN" altLang="en-US"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rPr>
              <a:t>软硬件基本信息</a:t>
            </a:r>
            <a:endParaRPr kumimoji="0" lang="en-US" altLang="zh-CN" sz="2000" b="1" i="0" u="none" strike="noStrike" kern="1200" cap="none" spc="0" normalizeH="0" baseline="0" noProof="0" dirty="0">
              <a:ln>
                <a:noFill/>
              </a:ln>
              <a:solidFill>
                <a:srgbClr val="000000"/>
              </a:solidFill>
              <a:effectLst/>
              <a:uLnTx/>
              <a:uFillTx/>
              <a:latin typeface="宋体" panose="02010600030101010101" pitchFamily="2" charset="-122"/>
              <a:ea typeface="宋体" panose="02010600030101010101" pitchFamily="2" charset="-122"/>
              <a:cs typeface="+mn-cs"/>
            </a:endParaRPr>
          </a:p>
        </p:txBody>
      </p:sp>
      <p:sp>
        <p:nvSpPr>
          <p:cNvPr id="18" name="文本框 17">
            <a:extLst>
              <a:ext uri="{FF2B5EF4-FFF2-40B4-BE49-F238E27FC236}">
                <a16:creationId xmlns:a16="http://schemas.microsoft.com/office/drawing/2014/main" id="{1D091179-878A-DD29-6E7E-08EA29405795}"/>
              </a:ext>
            </a:extLst>
          </p:cNvPr>
          <p:cNvSpPr txBox="1"/>
          <p:nvPr/>
        </p:nvSpPr>
        <p:spPr>
          <a:xfrm>
            <a:off x="7041244" y="5143500"/>
            <a:ext cx="4975775" cy="954107"/>
          </a:xfrm>
          <a:prstGeom prst="rect">
            <a:avLst/>
          </a:prstGeom>
          <a:noFill/>
        </p:spPr>
        <p:txBody>
          <a:bodyPr wrap="square" rtlCol="0">
            <a:spAutoFit/>
          </a:bodyPr>
          <a:lstStyle/>
          <a:p>
            <a:pPr marL="285750" indent="-285750">
              <a:buFont typeface="Wingdings" panose="05000000000000000000" pitchFamily="2" charset="2"/>
              <a:buChar char="Ø"/>
            </a:pPr>
            <a:r>
              <a:rPr lang="en-US" altLang="zh-CN" sz="1400" dirty="0">
                <a:latin typeface="Times New Roman" panose="02020603050405020304" pitchFamily="18" charset="0"/>
                <a:cs typeface="Times New Roman" panose="02020603050405020304" pitchFamily="18" charset="0"/>
              </a:rPr>
              <a:t>perf</a:t>
            </a:r>
            <a:r>
              <a:rPr lang="zh-CN" altLang="en-US" sz="1400" dirty="0">
                <a:solidFill>
                  <a:srgbClr val="4D4D4D"/>
                </a:solidFill>
                <a:latin typeface="-apple-system"/>
              </a:rPr>
              <a:t>是</a:t>
            </a:r>
            <a:r>
              <a:rPr lang="en-US" altLang="zh-CN" sz="1400" b="0" i="0" dirty="0">
                <a:solidFill>
                  <a:srgbClr val="4D4D4D"/>
                </a:solidFill>
                <a:effectLst/>
                <a:latin typeface="Times New Roman" panose="02020603050405020304" pitchFamily="18" charset="0"/>
                <a:cs typeface="Times New Roman" panose="02020603050405020304" pitchFamily="18" charset="0"/>
              </a:rPr>
              <a:t>IO</a:t>
            </a:r>
            <a:r>
              <a:rPr lang="zh-CN" altLang="en-US" sz="1400" b="0" i="0" dirty="0">
                <a:solidFill>
                  <a:srgbClr val="4D4D4D"/>
                </a:solidFill>
                <a:effectLst/>
                <a:latin typeface="-apple-system"/>
              </a:rPr>
              <a:t>、网络、系统调用等软件性能分析的工具</a:t>
            </a:r>
            <a:endParaRPr lang="en-US" altLang="zh-CN" sz="1400" b="0" i="0" dirty="0">
              <a:solidFill>
                <a:srgbClr val="4D4D4D"/>
              </a:solidFill>
              <a:effectLst/>
              <a:latin typeface="-apple-system"/>
            </a:endParaRPr>
          </a:p>
          <a:p>
            <a:pPr marL="285750" indent="-285750">
              <a:buFont typeface="Wingdings" panose="05000000000000000000" pitchFamily="2" charset="2"/>
              <a:buChar char="Ø"/>
            </a:pPr>
            <a:r>
              <a:rPr lang="zh-CN" altLang="en-US" sz="1400" b="0" i="0" dirty="0">
                <a:solidFill>
                  <a:srgbClr val="191B1F"/>
                </a:solidFill>
                <a:effectLst/>
                <a:latin typeface="-apple-system"/>
              </a:rPr>
              <a:t>通过</a:t>
            </a:r>
            <a:r>
              <a:rPr lang="en-US" altLang="zh-CN" sz="1400" b="0" i="0" dirty="0">
                <a:solidFill>
                  <a:srgbClr val="191B1F"/>
                </a:solidFill>
                <a:effectLst/>
                <a:latin typeface="Times New Roman" panose="02020603050405020304" pitchFamily="18" charset="0"/>
                <a:cs typeface="Times New Roman" panose="02020603050405020304" pitchFamily="18" charset="0"/>
              </a:rPr>
              <a:t>perf</a:t>
            </a:r>
            <a:r>
              <a:rPr lang="zh-CN" altLang="en-US" sz="1400" b="0" i="0" dirty="0">
                <a:solidFill>
                  <a:srgbClr val="191B1F"/>
                </a:solidFill>
                <a:effectLst/>
                <a:latin typeface="-apple-system"/>
              </a:rPr>
              <a:t>，应用程序可以利用</a:t>
            </a:r>
            <a:r>
              <a:rPr lang="en-US" altLang="zh-CN" sz="1400" b="0" i="0" dirty="0">
                <a:solidFill>
                  <a:srgbClr val="191B1F"/>
                </a:solidFill>
                <a:effectLst/>
                <a:latin typeface="Times New Roman" panose="02020603050405020304" pitchFamily="18" charset="0"/>
                <a:cs typeface="Times New Roman" panose="02020603050405020304" pitchFamily="18" charset="0"/>
              </a:rPr>
              <a:t>PMU</a:t>
            </a:r>
            <a:r>
              <a:rPr lang="zh-CN" altLang="en-US" sz="1400" b="0" i="0" dirty="0">
                <a:solidFill>
                  <a:srgbClr val="191B1F"/>
                </a:solidFill>
                <a:effectLst/>
                <a:latin typeface="Times New Roman" panose="02020603050405020304" pitchFamily="18" charset="0"/>
                <a:cs typeface="Times New Roman" panose="02020603050405020304" pitchFamily="18" charset="0"/>
              </a:rPr>
              <a:t>、</a:t>
            </a:r>
            <a:r>
              <a:rPr lang="en-US" altLang="zh-CN" sz="1400" b="0" i="0" dirty="0" err="1">
                <a:solidFill>
                  <a:srgbClr val="191B1F"/>
                </a:solidFill>
                <a:effectLst/>
                <a:latin typeface="Times New Roman" panose="02020603050405020304" pitchFamily="18" charset="0"/>
                <a:cs typeface="Times New Roman" panose="02020603050405020304" pitchFamily="18" charset="0"/>
              </a:rPr>
              <a:t>tracepoint</a:t>
            </a:r>
            <a:r>
              <a:rPr lang="zh-CN" altLang="en-US" sz="1400" b="0" i="0" dirty="0">
                <a:solidFill>
                  <a:srgbClr val="191B1F"/>
                </a:solidFill>
                <a:effectLst/>
                <a:latin typeface="-apple-system"/>
              </a:rPr>
              <a:t>和内核中的计数器来进行性能统计</a:t>
            </a:r>
            <a:endParaRPr lang="en-US" altLang="zh-CN" sz="1400" b="0" i="0" dirty="0">
              <a:solidFill>
                <a:srgbClr val="191B1F"/>
              </a:solidFill>
              <a:effectLst/>
              <a:latin typeface="-apple-system"/>
            </a:endParaRPr>
          </a:p>
          <a:p>
            <a:pPr marL="285750" indent="-285750">
              <a:buFont typeface="Wingdings" panose="05000000000000000000" pitchFamily="2" charset="2"/>
              <a:buChar char="Ø"/>
            </a:pPr>
            <a:r>
              <a:rPr lang="en-US" altLang="zh-CN" sz="1400" b="0" i="0" dirty="0">
                <a:solidFill>
                  <a:srgbClr val="191B1F"/>
                </a:solidFill>
                <a:effectLst/>
                <a:latin typeface="Times New Roman" panose="02020603050405020304" pitchFamily="18" charset="0"/>
                <a:cs typeface="Times New Roman" panose="02020603050405020304" pitchFamily="18" charset="0"/>
              </a:rPr>
              <a:t>perf</a:t>
            </a:r>
            <a:r>
              <a:rPr lang="zh-CN" altLang="en-US" sz="1400" b="0" i="0" dirty="0">
                <a:solidFill>
                  <a:srgbClr val="191B1F"/>
                </a:solidFill>
                <a:effectLst/>
                <a:latin typeface="-apple-system"/>
              </a:rPr>
              <a:t>可以分析程序运行期间发生的软硬件事件</a:t>
            </a:r>
            <a:endParaRPr lang="zh-CN" altLang="en-US" sz="1400" dirty="0"/>
          </a:p>
        </p:txBody>
      </p:sp>
      <p:pic>
        <p:nvPicPr>
          <p:cNvPr id="1028" name="Picture 4">
            <a:extLst>
              <a:ext uri="{FF2B5EF4-FFF2-40B4-BE49-F238E27FC236}">
                <a16:creationId xmlns:a16="http://schemas.microsoft.com/office/drawing/2014/main" id="{4EC090F1-C127-0453-BFF9-148AEDE5EF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48820" y="1314078"/>
            <a:ext cx="5343180" cy="3740486"/>
          </a:xfrm>
          <a:prstGeom prst="rect">
            <a:avLst/>
          </a:prstGeom>
          <a:noFill/>
          <a:extLst>
            <a:ext uri="{909E8E84-426E-40DD-AFC4-6F175D3DCCD1}">
              <a14:hiddenFill xmlns:a14="http://schemas.microsoft.com/office/drawing/2010/main">
                <a:solidFill>
                  <a:srgbClr val="FFFFFF"/>
                </a:solidFill>
              </a14:hiddenFill>
            </a:ext>
          </a:extLst>
        </p:spPr>
      </p:pic>
      <p:sp>
        <p:nvSpPr>
          <p:cNvPr id="19" name="标题 5">
            <a:extLst>
              <a:ext uri="{FF2B5EF4-FFF2-40B4-BE49-F238E27FC236}">
                <a16:creationId xmlns:a16="http://schemas.microsoft.com/office/drawing/2014/main" id="{7BD920BD-CBBE-DA3E-E0B8-43BFB7A2D11C}"/>
              </a:ext>
            </a:extLst>
          </p:cNvPr>
          <p:cNvSpPr>
            <a:spLocks noGrp="1"/>
          </p:cNvSpPr>
          <p:nvPr>
            <p:ph type="title"/>
          </p:nvPr>
        </p:nvSpPr>
        <p:spPr>
          <a:xfrm>
            <a:off x="0" y="634678"/>
            <a:ext cx="12192000"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运行环境与架构图</a:t>
            </a:r>
            <a:endParaRPr lang="zh-CN" altLang="en-US" dirty="0">
              <a:latin typeface="宋体" panose="02010600030101010101" pitchFamily="2" charset="-122"/>
              <a:ea typeface="宋体" panose="02010600030101010101" pitchFamily="2" charset="-122"/>
            </a:endParaRPr>
          </a:p>
        </p:txBody>
      </p:sp>
      <p:sp>
        <p:nvSpPr>
          <p:cNvPr id="2" name="文本框 1">
            <a:extLst>
              <a:ext uri="{FF2B5EF4-FFF2-40B4-BE49-F238E27FC236}">
                <a16:creationId xmlns:a16="http://schemas.microsoft.com/office/drawing/2014/main" id="{946AD9EE-61B9-D05B-509A-1A6C85745636}"/>
              </a:ext>
            </a:extLst>
          </p:cNvPr>
          <p:cNvSpPr txBox="1"/>
          <p:nvPr/>
        </p:nvSpPr>
        <p:spPr>
          <a:xfrm>
            <a:off x="66675" y="5934075"/>
            <a:ext cx="4975775" cy="553998"/>
          </a:xfrm>
          <a:prstGeom prst="rect">
            <a:avLst/>
          </a:prstGeom>
          <a:noFill/>
        </p:spPr>
        <p:txBody>
          <a:bodyPr wrap="square" rtlCol="0">
            <a:spAutoFit/>
          </a:bodyPr>
          <a:lstStyle/>
          <a:p>
            <a:r>
              <a:rPr lang="en-US" altLang="zh-CN" sz="1200" dirty="0">
                <a:latin typeface="Times New Roman" panose="02020603050405020304" pitchFamily="18" charset="0"/>
                <a:cs typeface="Times New Roman" panose="02020603050405020304" pitchFamily="18" charset="0"/>
                <a:hlinkClick r:id="rId5"/>
              </a:rPr>
              <a:t>Ref:  https://wiki.sipeed.com/hardware/zh/lichee/th1520/lpi4a/1_intro.html</a:t>
            </a:r>
            <a:endParaRPr lang="en-US" altLang="zh-CN" sz="1200" dirty="0">
              <a:latin typeface="Times New Roman" panose="02020603050405020304" pitchFamily="18" charset="0"/>
              <a:cs typeface="Times New Roman" panose="02020603050405020304" pitchFamily="18" charset="0"/>
            </a:endParaRPr>
          </a:p>
          <a:p>
            <a:endParaRPr lang="zh-CN" altLang="en-US" dirty="0"/>
          </a:p>
        </p:txBody>
      </p:sp>
    </p:spTree>
    <p:extLst>
      <p:ext uri="{BB962C8B-B14F-4D97-AF65-F5344CB8AC3E}">
        <p14:creationId xmlns:p14="http://schemas.microsoft.com/office/powerpoint/2010/main" val="1310503021"/>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ADD5CFC-A287-EDE1-8C16-A4524B6057F1}"/>
              </a:ext>
            </a:extLst>
          </p:cNvPr>
          <p:cNvSpPr>
            <a:spLocks noGrp="1"/>
          </p:cNvSpPr>
          <p:nvPr>
            <p:ph type="title"/>
          </p:nvPr>
        </p:nvSpPr>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内核源码架构</a:t>
            </a:r>
            <a:endParaRPr lang="zh-CN" altLang="en-US" dirty="0">
              <a:latin typeface="宋体" panose="02010600030101010101" pitchFamily="2" charset="-122"/>
              <a:ea typeface="宋体" panose="02010600030101010101" pitchFamily="2" charset="-122"/>
            </a:endParaRPr>
          </a:p>
        </p:txBody>
      </p:sp>
      <p:pic>
        <p:nvPicPr>
          <p:cNvPr id="2050" name="Picture 2">
            <a:extLst>
              <a:ext uri="{FF2B5EF4-FFF2-40B4-BE49-F238E27FC236}">
                <a16:creationId xmlns:a16="http://schemas.microsoft.com/office/drawing/2014/main" id="{C48A8078-3A12-4306-907D-E3F604B67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1609724"/>
            <a:ext cx="6096000" cy="397145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1700CA50-57F0-5567-CE63-21D619EECFF6}"/>
              </a:ext>
            </a:extLst>
          </p:cNvPr>
          <p:cNvSpPr txBox="1"/>
          <p:nvPr/>
        </p:nvSpPr>
        <p:spPr>
          <a:xfrm>
            <a:off x="8286750" y="5743575"/>
            <a:ext cx="2028825"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perf</a:t>
            </a:r>
            <a:r>
              <a:rPr lang="zh-CN" altLang="en-US" b="1" dirty="0">
                <a:latin typeface="宋体" panose="02010600030101010101" pitchFamily="2" charset="-122"/>
                <a:ea typeface="宋体" panose="02010600030101010101" pitchFamily="2" charset="-122"/>
              </a:rPr>
              <a:t>整体软件架构</a:t>
            </a:r>
          </a:p>
        </p:txBody>
      </p:sp>
      <p:sp>
        <p:nvSpPr>
          <p:cNvPr id="4" name="文本框 3">
            <a:extLst>
              <a:ext uri="{FF2B5EF4-FFF2-40B4-BE49-F238E27FC236}">
                <a16:creationId xmlns:a16="http://schemas.microsoft.com/office/drawing/2014/main" id="{1C23FA52-FC69-FA94-7C65-F5C971D7566D}"/>
              </a:ext>
            </a:extLst>
          </p:cNvPr>
          <p:cNvSpPr txBox="1"/>
          <p:nvPr/>
        </p:nvSpPr>
        <p:spPr>
          <a:xfrm>
            <a:off x="95250" y="5848350"/>
            <a:ext cx="5305426" cy="646331"/>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内核源码</a:t>
            </a:r>
            <a:r>
              <a:rPr lang="en-US" altLang="zh-CN" dirty="0"/>
              <a:t>: </a:t>
            </a:r>
            <a:r>
              <a:rPr lang="en-US" altLang="zh-CN" dirty="0">
                <a:hlinkClick r:id="rId4"/>
              </a:rPr>
              <a:t>https://github.com/revyos/thead-kernel</a:t>
            </a:r>
            <a:endParaRPr lang="en-US" altLang="zh-CN" dirty="0"/>
          </a:p>
          <a:p>
            <a:r>
              <a:rPr lang="zh-CN" altLang="en-US" b="1" dirty="0">
                <a:latin typeface="宋体" panose="02010600030101010101" pitchFamily="2" charset="-122"/>
                <a:ea typeface="宋体" panose="02010600030101010101" pitchFamily="2" charset="-122"/>
              </a:rPr>
              <a:t>内核分支</a:t>
            </a:r>
            <a:r>
              <a:rPr lang="en-US" altLang="zh-CN" dirty="0"/>
              <a:t>: "</a:t>
            </a:r>
            <a:r>
              <a:rPr lang="en-US" altLang="zh-CN" b="1" dirty="0">
                <a:latin typeface="Times New Roman" panose="02020603050405020304" pitchFamily="18" charset="0"/>
                <a:cs typeface="Times New Roman" panose="02020603050405020304" pitchFamily="18" charset="0"/>
              </a:rPr>
              <a:t>branch:lpi4a</a:t>
            </a:r>
            <a:r>
              <a:rPr lang="en-US" altLang="zh-CN" dirty="0"/>
              <a:t>"</a:t>
            </a:r>
            <a:endParaRPr lang="zh-CN" altLang="en-US" dirty="0"/>
          </a:p>
        </p:txBody>
      </p:sp>
      <p:sp>
        <p:nvSpPr>
          <p:cNvPr id="5" name="文本框 4">
            <a:extLst>
              <a:ext uri="{FF2B5EF4-FFF2-40B4-BE49-F238E27FC236}">
                <a16:creationId xmlns:a16="http://schemas.microsoft.com/office/drawing/2014/main" id="{E1FA08E0-BA56-6642-8DB8-B2A6838A49FF}"/>
              </a:ext>
            </a:extLst>
          </p:cNvPr>
          <p:cNvSpPr txBox="1"/>
          <p:nvPr/>
        </p:nvSpPr>
        <p:spPr>
          <a:xfrm>
            <a:off x="144098" y="1885950"/>
            <a:ext cx="6542451"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/tools/perf     -----------------------------------------------------------&gt;</a:t>
            </a:r>
            <a:endParaRPr lang="zh-CN" alt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A2EAF288-FA21-3C90-104E-2AE82C9737D3}"/>
              </a:ext>
            </a:extLst>
          </p:cNvPr>
          <p:cNvSpPr txBox="1"/>
          <p:nvPr/>
        </p:nvSpPr>
        <p:spPr>
          <a:xfrm>
            <a:off x="115523" y="3009900"/>
            <a:ext cx="6542451"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/arch/</a:t>
            </a:r>
            <a:r>
              <a:rPr lang="en-US" altLang="zh-CN" dirty="0" err="1">
                <a:latin typeface="Times New Roman" panose="02020603050405020304" pitchFamily="18" charset="0"/>
                <a:cs typeface="Times New Roman" panose="02020603050405020304" pitchFamily="18" charset="0"/>
              </a:rPr>
              <a:t>riscv</a:t>
            </a:r>
            <a:r>
              <a:rPr lang="en-US" altLang="zh-CN" dirty="0">
                <a:latin typeface="Times New Roman" panose="02020603050405020304" pitchFamily="18" charset="0"/>
                <a:cs typeface="Times New Roman" panose="02020603050405020304" pitchFamily="18" charset="0"/>
              </a:rPr>
              <a:t>/kernel </a:t>
            </a:r>
            <a:r>
              <a:rPr lang="zh-CN" altLang="en-US" dirty="0">
                <a:latin typeface="Times New Roman" panose="02020603050405020304" pitchFamily="18" charset="0"/>
                <a:cs typeface="Times New Roman" panose="02020603050405020304" pitchFamily="18" charset="0"/>
              </a:rPr>
              <a:t>和  </a:t>
            </a:r>
            <a:r>
              <a:rPr lang="en-US" altLang="zh-CN" dirty="0">
                <a:latin typeface="Times New Roman" panose="02020603050405020304" pitchFamily="18" charset="0"/>
                <a:cs typeface="Times New Roman" panose="02020603050405020304" pitchFamily="18" charset="0"/>
              </a:rPr>
              <a:t>/kernel/events  -------------------------------&gt;</a:t>
            </a:r>
            <a:endParaRPr lang="zh-CN" altLang="en-US" dirty="0">
              <a:latin typeface="Times New Roman" panose="02020603050405020304" pitchFamily="18" charset="0"/>
              <a:cs typeface="Times New Roman" panose="02020603050405020304" pitchFamily="18" charset="0"/>
            </a:endParaRPr>
          </a:p>
        </p:txBody>
      </p:sp>
      <p:sp>
        <p:nvSpPr>
          <p:cNvPr id="9" name="文本框 8">
            <a:extLst>
              <a:ext uri="{FF2B5EF4-FFF2-40B4-BE49-F238E27FC236}">
                <a16:creationId xmlns:a16="http://schemas.microsoft.com/office/drawing/2014/main" id="{B9665B6B-7905-A230-34F1-2D75E56CE567}"/>
              </a:ext>
            </a:extLst>
          </p:cNvPr>
          <p:cNvSpPr txBox="1"/>
          <p:nvPr/>
        </p:nvSpPr>
        <p:spPr>
          <a:xfrm>
            <a:off x="86948" y="4514850"/>
            <a:ext cx="6542451"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/drivers/perf     ---------------------------------------------------------&gt;</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573098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DADD5CFC-A287-EDE1-8C16-A4524B6057F1}"/>
              </a:ext>
            </a:extLst>
          </p:cNvPr>
          <p:cNvSpPr>
            <a:spLocks noGrp="1"/>
          </p:cNvSpPr>
          <p:nvPr>
            <p:ph type="title"/>
          </p:nvPr>
        </p:nvSpPr>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原理</a:t>
            </a:r>
            <a:r>
              <a:rPr lang="en-US" altLang="zh-CN" dirty="0">
                <a:solidFill>
                  <a:srgbClr val="10218B"/>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1</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2DDF3D0A-EAA8-297B-C4E1-9928E722ACA8}"/>
              </a:ext>
            </a:extLst>
          </p:cNvPr>
          <p:cNvSpPr txBox="1"/>
          <p:nvPr/>
        </p:nvSpPr>
        <p:spPr>
          <a:xfrm>
            <a:off x="239349" y="1329267"/>
            <a:ext cx="4290318" cy="369332"/>
          </a:xfrm>
          <a:prstGeom prst="rect">
            <a:avLst/>
          </a:prstGeom>
          <a:noFill/>
        </p:spPr>
        <p:txBody>
          <a:bodyPr wrap="square" rtlCol="0">
            <a:spAutoFit/>
          </a:bodyPr>
          <a:lstStyle/>
          <a:p>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perf</a:t>
            </a:r>
            <a:r>
              <a:rPr lang="zh-CN" altLang="en-US" b="1" dirty="0">
                <a:solidFill>
                  <a:srgbClr val="000000"/>
                </a:solidFill>
                <a:latin typeface="宋体" panose="02010600030101010101" pitchFamily="2" charset="-122"/>
                <a:ea typeface="宋体" panose="02010600030101010101" pitchFamily="2" charset="-122"/>
              </a:rPr>
              <a:t>定时器</a:t>
            </a:r>
            <a:r>
              <a:rPr lang="zh-CN" altLang="en-US" b="1" i="0" dirty="0">
                <a:effectLst/>
                <a:latin typeface="宋体" panose="02010600030101010101" pitchFamily="2" charset="-122"/>
                <a:ea typeface="宋体" panose="02010600030101010101" pitchFamily="2" charset="-122"/>
              </a:rPr>
              <a:t>中断触发采样的</a:t>
            </a:r>
            <a:r>
              <a:rPr lang="zh-CN" altLang="en-US" b="1" dirty="0">
                <a:solidFill>
                  <a:srgbClr val="000000"/>
                </a:solidFill>
                <a:latin typeface="宋体" panose="02010600030101010101" pitchFamily="2" charset="-122"/>
                <a:ea typeface="宋体" panose="02010600030101010101" pitchFamily="2" charset="-122"/>
              </a:rPr>
              <a:t>处理</a:t>
            </a:r>
            <a:r>
              <a:rPr lang="zh-CN" altLang="en-US" b="1" i="0" dirty="0">
                <a:solidFill>
                  <a:srgbClr val="000000"/>
                </a:solidFill>
                <a:effectLst/>
                <a:latin typeface="宋体" panose="02010600030101010101" pitchFamily="2" charset="-122"/>
                <a:ea typeface="宋体" panose="02010600030101010101" pitchFamily="2" charset="-122"/>
              </a:rPr>
              <a:t>流程</a:t>
            </a:r>
            <a:endParaRPr lang="zh-CN" altLang="en-US" b="1" dirty="0">
              <a:latin typeface="宋体" panose="02010600030101010101" pitchFamily="2" charset="-122"/>
              <a:ea typeface="宋体" panose="02010600030101010101" pitchFamily="2" charset="-122"/>
            </a:endParaRPr>
          </a:p>
        </p:txBody>
      </p:sp>
      <p:pic>
        <p:nvPicPr>
          <p:cNvPr id="10" name="图片 9">
            <a:extLst>
              <a:ext uri="{FF2B5EF4-FFF2-40B4-BE49-F238E27FC236}">
                <a16:creationId xmlns:a16="http://schemas.microsoft.com/office/drawing/2014/main" id="{AF6CC0E4-A3F0-215E-1625-69C82D6DC06A}"/>
              </a:ext>
            </a:extLst>
          </p:cNvPr>
          <p:cNvPicPr>
            <a:picLocks noChangeAspect="1"/>
          </p:cNvPicPr>
          <p:nvPr/>
        </p:nvPicPr>
        <p:blipFill>
          <a:blip r:embed="rId3"/>
          <a:stretch>
            <a:fillRect/>
          </a:stretch>
        </p:blipFill>
        <p:spPr>
          <a:xfrm>
            <a:off x="6096000" y="1538229"/>
            <a:ext cx="6078602" cy="5303270"/>
          </a:xfrm>
          <a:prstGeom prst="rect">
            <a:avLst/>
          </a:prstGeom>
        </p:spPr>
      </p:pic>
      <p:sp>
        <p:nvSpPr>
          <p:cNvPr id="11" name="文本框 10">
            <a:extLst>
              <a:ext uri="{FF2B5EF4-FFF2-40B4-BE49-F238E27FC236}">
                <a16:creationId xmlns:a16="http://schemas.microsoft.com/office/drawing/2014/main" id="{EC28D27A-1E9B-E83B-24FC-22219567372B}"/>
              </a:ext>
            </a:extLst>
          </p:cNvPr>
          <p:cNvSpPr txBox="1"/>
          <p:nvPr/>
        </p:nvSpPr>
        <p:spPr>
          <a:xfrm>
            <a:off x="239349" y="2082800"/>
            <a:ext cx="6322318" cy="2585323"/>
          </a:xfrm>
          <a:prstGeom prst="rect">
            <a:avLst/>
          </a:prstGeom>
          <a:noFill/>
        </p:spPr>
        <p:txBody>
          <a:bodyPr wrap="square" rtlCol="0">
            <a:spAutoFit/>
          </a:bodyPr>
          <a:lstStyle/>
          <a:p>
            <a:pPr marL="342900" indent="-342900">
              <a:buFont typeface="+mj-ea"/>
              <a:buAutoNum type="circleNumDbPlain"/>
            </a:pPr>
            <a:r>
              <a:rPr lang="zh-CN" altLang="en-US" b="1" i="0" dirty="0">
                <a:solidFill>
                  <a:srgbClr val="000000"/>
                </a:solidFill>
                <a:effectLst/>
                <a:latin typeface="宋体" panose="02010600030101010101" pitchFamily="2" charset="-122"/>
                <a:ea typeface="宋体" panose="02010600030101010101" pitchFamily="2" charset="-122"/>
              </a:rPr>
              <a:t>通过设置一个定时器，定时器的触发时间可以由用户设定</a:t>
            </a:r>
            <a:endParaRPr lang="en-US" altLang="zh-CN" b="1" i="0" dirty="0">
              <a:solidFill>
                <a:srgbClr val="000000"/>
              </a:solidFill>
              <a:effectLst/>
              <a:latin typeface="宋体" panose="02010600030101010101" pitchFamily="2" charset="-122"/>
              <a:ea typeface="宋体" panose="02010600030101010101" pitchFamily="2" charset="-122"/>
            </a:endParaRPr>
          </a:p>
          <a:p>
            <a:pPr marL="342900" indent="-342900">
              <a:buFont typeface="+mj-ea"/>
              <a:buAutoNum type="circleNumDbPlain"/>
            </a:pPr>
            <a:endParaRPr lang="en-US" altLang="zh-CN" b="1" dirty="0">
              <a:solidFill>
                <a:srgbClr val="000000"/>
              </a:solidFill>
              <a:latin typeface="宋体" panose="02010600030101010101" pitchFamily="2" charset="-122"/>
              <a:ea typeface="宋体" panose="02010600030101010101" pitchFamily="2" charset="-122"/>
            </a:endParaRPr>
          </a:p>
          <a:p>
            <a:pPr marL="342900" indent="-342900">
              <a:buFont typeface="+mj-ea"/>
              <a:buAutoNum type="circleNumDbPlain"/>
            </a:pPr>
            <a:r>
              <a:rPr lang="zh-CN" altLang="en-US" b="1" i="0" dirty="0">
                <a:solidFill>
                  <a:srgbClr val="000000"/>
                </a:solidFill>
                <a:effectLst/>
                <a:latin typeface="宋体" panose="02010600030101010101" pitchFamily="2" charset="-122"/>
                <a:ea typeface="宋体" panose="02010600030101010101" pitchFamily="2" charset="-122"/>
              </a:rPr>
              <a:t>定时器被触发后，将会调用采集函数收集当前运行环境的数据（如当前正在执行的进程和函数等）</a:t>
            </a:r>
            <a:endParaRPr lang="en-US" altLang="zh-CN" b="1" i="0" dirty="0">
              <a:solidFill>
                <a:srgbClr val="000000"/>
              </a:solidFill>
              <a:effectLst/>
              <a:latin typeface="宋体" panose="02010600030101010101" pitchFamily="2" charset="-122"/>
              <a:ea typeface="宋体" panose="02010600030101010101" pitchFamily="2" charset="-122"/>
            </a:endParaRPr>
          </a:p>
          <a:p>
            <a:pPr marL="342900" indent="-342900">
              <a:buFont typeface="+mj-ea"/>
              <a:buAutoNum type="circleNumDbPlain"/>
            </a:pPr>
            <a:endParaRPr lang="en-US" altLang="zh-CN" b="1" dirty="0">
              <a:solidFill>
                <a:srgbClr val="000000"/>
              </a:solidFill>
              <a:latin typeface="宋体" panose="02010600030101010101" pitchFamily="2" charset="-122"/>
              <a:ea typeface="宋体" panose="02010600030101010101" pitchFamily="2" charset="-122"/>
            </a:endParaRPr>
          </a:p>
          <a:p>
            <a:pPr marL="342900" indent="-342900">
              <a:buFont typeface="+mj-ea"/>
              <a:buAutoNum type="circleNumDbPlain"/>
            </a:pPr>
            <a:r>
              <a:rPr lang="zh-CN" altLang="en-US" b="1" i="0" dirty="0">
                <a:solidFill>
                  <a:srgbClr val="000000"/>
                </a:solidFill>
                <a:effectLst/>
                <a:latin typeface="宋体" panose="02010600030101010101" pitchFamily="2" charset="-122"/>
                <a:ea typeface="宋体" panose="02010600030101010101" pitchFamily="2" charset="-122"/>
              </a:rPr>
              <a:t>将采集到的数据写入到一个环形缓冲区</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(ring buffer</a:t>
            </a:r>
            <a:r>
              <a:rPr lang="en-US" altLang="zh-CN"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b="1" i="0" dirty="0">
                <a:solidFill>
                  <a:srgbClr val="000000"/>
                </a:solidFill>
                <a:effectLst/>
                <a:latin typeface="宋体" panose="02010600030101010101" pitchFamily="2" charset="-122"/>
                <a:ea typeface="宋体" panose="02010600030101010101" pitchFamily="2" charset="-122"/>
              </a:rPr>
              <a:t>中</a:t>
            </a:r>
            <a:endParaRPr lang="en-US" altLang="zh-CN" b="1" i="0" dirty="0">
              <a:solidFill>
                <a:srgbClr val="000000"/>
              </a:solidFill>
              <a:effectLst/>
              <a:latin typeface="宋体" panose="02010600030101010101" pitchFamily="2" charset="-122"/>
              <a:ea typeface="宋体" panose="02010600030101010101" pitchFamily="2" charset="-122"/>
            </a:endParaRPr>
          </a:p>
          <a:p>
            <a:pPr marL="342900" indent="-342900">
              <a:buFont typeface="+mj-ea"/>
              <a:buAutoNum type="circleNumDbPlain"/>
            </a:pPr>
            <a:endParaRPr lang="en-US" altLang="zh-CN" b="1" dirty="0">
              <a:solidFill>
                <a:srgbClr val="000000"/>
              </a:solidFill>
              <a:latin typeface="宋体" panose="02010600030101010101" pitchFamily="2" charset="-122"/>
              <a:ea typeface="宋体" panose="02010600030101010101" pitchFamily="2" charset="-122"/>
            </a:endParaRPr>
          </a:p>
          <a:p>
            <a:pPr marL="342900" indent="-342900">
              <a:buFont typeface="+mj-ea"/>
              <a:buAutoNum type="circleNumDbPlain"/>
            </a:pPr>
            <a:r>
              <a:rPr lang="zh-CN" altLang="en-US" b="1" i="0" dirty="0">
                <a:solidFill>
                  <a:srgbClr val="000000"/>
                </a:solidFill>
                <a:effectLst/>
                <a:latin typeface="宋体" panose="02010600030101010101" pitchFamily="2" charset="-122"/>
                <a:ea typeface="宋体" panose="02010600030101010101" pitchFamily="2" charset="-122"/>
              </a:rPr>
              <a:t>应用层可以通过内存映射来读取环形缓冲区中的采样数据</a:t>
            </a:r>
            <a:endParaRPr lang="en-US" altLang="zh-CN" b="1" i="0" dirty="0">
              <a:solidFill>
                <a:srgbClr val="000000"/>
              </a:solidFill>
              <a:effectLst/>
              <a:latin typeface="宋体" panose="02010600030101010101" pitchFamily="2" charset="-122"/>
              <a:ea typeface="宋体" panose="02010600030101010101" pitchFamily="2" charset="-122"/>
            </a:endParaRPr>
          </a:p>
          <a:p>
            <a:endParaRPr lang="zh-CN" altLang="en-US" dirty="0"/>
          </a:p>
        </p:txBody>
      </p:sp>
    </p:spTree>
    <p:extLst>
      <p:ext uri="{BB962C8B-B14F-4D97-AF65-F5344CB8AC3E}">
        <p14:creationId xmlns:p14="http://schemas.microsoft.com/office/powerpoint/2010/main" val="3062220892"/>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82405351-8137-8FCE-AAE4-C479D8787B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3357" y="1867435"/>
            <a:ext cx="7138643" cy="364437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FE8B66AC-0F98-6E21-77FC-B49A39D5BE20}"/>
              </a:ext>
            </a:extLst>
          </p:cNvPr>
          <p:cNvSpPr txBox="1"/>
          <p:nvPr/>
        </p:nvSpPr>
        <p:spPr>
          <a:xfrm>
            <a:off x="10747" y="1761065"/>
            <a:ext cx="5052320" cy="3693319"/>
          </a:xfrm>
          <a:prstGeom prst="rect">
            <a:avLst/>
          </a:prstGeom>
          <a:noFill/>
        </p:spPr>
        <p:txBody>
          <a:bodyPr wrap="square" rtlCol="0">
            <a:spAutoFit/>
          </a:bodyPr>
          <a:lstStyle/>
          <a:p>
            <a:pPr marL="342900" indent="-342900">
              <a:buFont typeface="+mj-ea"/>
              <a:buAutoNum type="circleNumDbPlain"/>
            </a:pPr>
            <a:r>
              <a:rPr lang="en-US" altLang="zh-CN"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perf</a:t>
            </a:r>
            <a:r>
              <a:rPr lang="zh-CN" altLang="en-US" b="1" i="0" dirty="0">
                <a:solidFill>
                  <a:srgbClr val="000000"/>
                </a:solidFill>
                <a:effectLst/>
                <a:latin typeface="宋体" panose="02010600030101010101" pitchFamily="2" charset="-122"/>
                <a:ea typeface="宋体" panose="02010600030101010101" pitchFamily="2" charset="-122"/>
              </a:rPr>
              <a:t>通过系统调用</a:t>
            </a:r>
            <a:r>
              <a:rPr lang="en-US" altLang="zh-CN" b="1" i="0" dirty="0" err="1">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sys_perf_event_open</a:t>
            </a:r>
            <a:r>
              <a:rPr lang="zh-CN" altLang="en-US" b="1" i="0" dirty="0">
                <a:solidFill>
                  <a:srgbClr val="000000"/>
                </a:solidFill>
                <a:effectLst/>
                <a:latin typeface="宋体" panose="02010600030101010101" pitchFamily="2" charset="-122"/>
                <a:ea typeface="宋体" panose="02010600030101010101" pitchFamily="2" charset="-122"/>
              </a:rPr>
              <a:t>在发送监控请求</a:t>
            </a:r>
            <a:endParaRPr lang="en-US" altLang="zh-CN" b="1" dirty="0">
              <a:solidFill>
                <a:srgbClr val="000000"/>
              </a:solidFill>
              <a:latin typeface="宋体" panose="02010600030101010101" pitchFamily="2" charset="-122"/>
              <a:ea typeface="宋体" panose="02010600030101010101" pitchFamily="2" charset="-122"/>
            </a:endParaRPr>
          </a:p>
          <a:p>
            <a:pPr marL="342900" indent="-342900">
              <a:buFont typeface="+mj-ea"/>
              <a:buAutoNum type="circleNumDbPlain"/>
            </a:pPr>
            <a:r>
              <a:rPr lang="zh-CN" altLang="en-US" b="1" i="0" dirty="0">
                <a:solidFill>
                  <a:srgbClr val="000000"/>
                </a:solidFill>
                <a:effectLst/>
                <a:latin typeface="宋体" panose="02010600030101010101" pitchFamily="2" charset="-122"/>
                <a:ea typeface="宋体" panose="02010600030101010101" pitchFamily="2" charset="-122"/>
              </a:rPr>
              <a:t>内核根据</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perf</a:t>
            </a:r>
            <a:r>
              <a:rPr lang="zh-CN" altLang="en-US" b="1" i="0" dirty="0">
                <a:solidFill>
                  <a:srgbClr val="000000"/>
                </a:solidFill>
                <a:effectLst/>
                <a:latin typeface="宋体" panose="02010600030101010101" pitchFamily="2" charset="-122"/>
                <a:ea typeface="宋体" panose="02010600030101010101" pitchFamily="2" charset="-122"/>
              </a:rPr>
              <a:t>提供的信息在</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PMU</a:t>
            </a:r>
            <a:r>
              <a:rPr lang="zh-CN" altLang="en-US" b="1" i="0" dirty="0">
                <a:solidFill>
                  <a:srgbClr val="000000"/>
                </a:solidFill>
                <a:effectLst/>
                <a:latin typeface="宋体" panose="02010600030101010101" pitchFamily="2" charset="-122"/>
                <a:ea typeface="宋体" panose="02010600030101010101" pitchFamily="2" charset="-122"/>
              </a:rPr>
              <a:t>上初始化一个</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PMC</a:t>
            </a:r>
            <a:endParaRPr lang="en-US" altLang="zh-CN"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Font typeface="+mj-ea"/>
              <a:buAutoNum type="circleNumDbPlain"/>
            </a:pPr>
            <a:r>
              <a:rPr lang="zh-CN" altLang="en-US" b="1" i="0" dirty="0">
                <a:solidFill>
                  <a:srgbClr val="000000"/>
                </a:solidFill>
                <a:effectLst/>
                <a:latin typeface="宋体" panose="02010600030101010101" pitchFamily="2" charset="-122"/>
                <a:ea typeface="宋体" panose="02010600030101010101" pitchFamily="2" charset="-122"/>
              </a:rPr>
              <a:t>在</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PMC</a:t>
            </a:r>
            <a:r>
              <a:rPr lang="zh-CN" altLang="en-US" b="1" i="0" dirty="0">
                <a:solidFill>
                  <a:srgbClr val="000000"/>
                </a:solidFill>
                <a:effectLst/>
                <a:latin typeface="宋体" panose="02010600030101010101" pitchFamily="2" charset="-122"/>
                <a:ea typeface="宋体" panose="02010600030101010101" pitchFamily="2" charset="-122"/>
              </a:rPr>
              <a:t>溢出时，</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PMU</a:t>
            </a:r>
            <a:r>
              <a:rPr lang="zh-CN" altLang="en-US" b="1" i="0" dirty="0">
                <a:solidFill>
                  <a:srgbClr val="000000"/>
                </a:solidFill>
                <a:effectLst/>
                <a:latin typeface="宋体" panose="02010600030101010101" pitchFamily="2" charset="-122"/>
                <a:ea typeface="宋体" panose="02010600030101010101" pitchFamily="2" charset="-122"/>
              </a:rPr>
              <a:t>触发一个</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PMI</a:t>
            </a:r>
            <a:r>
              <a:rPr lang="zh-CN" altLang="en-US" b="1" i="0" dirty="0">
                <a:solidFill>
                  <a:srgbClr val="000000"/>
                </a:solidFill>
                <a:effectLst/>
                <a:latin typeface="宋体" panose="02010600030101010101" pitchFamily="2" charset="-122"/>
                <a:ea typeface="宋体" panose="02010600030101010101" pitchFamily="2" charset="-122"/>
              </a:rPr>
              <a:t>中断</a:t>
            </a:r>
            <a:endParaRPr lang="en-US" altLang="zh-CN" b="1" dirty="0">
              <a:solidFill>
                <a:srgbClr val="000000"/>
              </a:solidFill>
              <a:latin typeface="宋体" panose="02010600030101010101" pitchFamily="2" charset="-122"/>
              <a:ea typeface="宋体" panose="02010600030101010101" pitchFamily="2" charset="-122"/>
            </a:endParaRPr>
          </a:p>
          <a:p>
            <a:pPr marL="342900" indent="-342900">
              <a:buFont typeface="+mj-ea"/>
              <a:buAutoNum type="circleNumDbPlain"/>
            </a:pPr>
            <a:r>
              <a:rPr lang="zh-CN" altLang="en-US" b="1" i="0" dirty="0">
                <a:solidFill>
                  <a:srgbClr val="000000"/>
                </a:solidFill>
                <a:effectLst/>
                <a:latin typeface="宋体" panose="02010600030101010101" pitchFamily="2" charset="-122"/>
                <a:ea typeface="宋体" panose="02010600030101010101" pitchFamily="2" charset="-122"/>
              </a:rPr>
              <a:t>内核在</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PMI</a:t>
            </a:r>
            <a:r>
              <a:rPr lang="zh-CN" altLang="en-US" b="1" i="0" dirty="0">
                <a:solidFill>
                  <a:srgbClr val="000000"/>
                </a:solidFill>
                <a:effectLst/>
                <a:latin typeface="宋体" panose="02010600030101010101" pitchFamily="2" charset="-122"/>
                <a:ea typeface="宋体" panose="02010600030101010101" pitchFamily="2" charset="-122"/>
              </a:rPr>
              <a:t>中断处理函数中保存信息</a:t>
            </a:r>
            <a:r>
              <a:rPr lang="en-US" altLang="zh-CN" b="1" i="0" dirty="0">
                <a:solidFill>
                  <a:srgbClr val="000000"/>
                </a:solidFill>
                <a:effectLst/>
                <a:latin typeface="宋体" panose="02010600030101010101" pitchFamily="2" charset="-122"/>
                <a:ea typeface="宋体" panose="02010600030101010101" pitchFamily="2" charset="-122"/>
              </a:rPr>
              <a:t>(</a:t>
            </a:r>
            <a:r>
              <a:rPr lang="zh-CN" altLang="en-US" b="1" i="0" dirty="0">
                <a:solidFill>
                  <a:srgbClr val="000000"/>
                </a:solidFill>
                <a:effectLst/>
                <a:latin typeface="宋体" panose="02010600030101010101" pitchFamily="2" charset="-122"/>
                <a:ea typeface="宋体" panose="02010600030101010101" pitchFamily="2" charset="-122"/>
              </a:rPr>
              <a:t>触发中断的指令地址</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RIP</a:t>
            </a:r>
            <a:r>
              <a:rPr lang="zh-CN" altLang="en-US"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zh-CN" altLang="en-US" b="1" i="0" dirty="0">
                <a:solidFill>
                  <a:srgbClr val="000000"/>
                </a:solidFill>
                <a:effectLst/>
                <a:latin typeface="宋体" panose="02010600030101010101" pitchFamily="2" charset="-122"/>
                <a:ea typeface="宋体" panose="02010600030101010101" pitchFamily="2" charset="-122"/>
              </a:rPr>
              <a:t>时间戳、进程</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PID</a:t>
            </a:r>
            <a:r>
              <a:rPr lang="zh-CN" altLang="en-US"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TID</a:t>
            </a:r>
            <a:r>
              <a:rPr lang="zh-CN" altLang="en-US" b="1" i="0" dirty="0">
                <a:solidFill>
                  <a:srgbClr val="000000"/>
                </a:solidFill>
                <a:effectLst/>
                <a:latin typeface="宋体" panose="02010600030101010101" pitchFamily="2" charset="-122"/>
                <a:ea typeface="宋体" panose="02010600030101010101" pitchFamily="2" charset="-122"/>
              </a:rPr>
              <a:t>等</a:t>
            </a:r>
            <a:r>
              <a:rPr lang="en-US" altLang="zh-CN" b="1" i="0" dirty="0">
                <a:solidFill>
                  <a:srgbClr val="000000"/>
                </a:solidFill>
                <a:effectLst/>
                <a:latin typeface="宋体" panose="02010600030101010101" pitchFamily="2" charset="-122"/>
                <a:ea typeface="宋体" panose="02010600030101010101" pitchFamily="2" charset="-122"/>
              </a:rPr>
              <a:t>)</a:t>
            </a:r>
            <a:r>
              <a:rPr lang="zh-CN" altLang="en-US" b="1" i="0" dirty="0">
                <a:solidFill>
                  <a:srgbClr val="000000"/>
                </a:solidFill>
                <a:effectLst/>
                <a:latin typeface="宋体" panose="02010600030101010101" pitchFamily="2" charset="-122"/>
                <a:ea typeface="宋体" panose="02010600030101010101" pitchFamily="2" charset="-122"/>
              </a:rPr>
              <a:t>，形成一个采样：</a:t>
            </a:r>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PMC</a:t>
            </a:r>
            <a:r>
              <a:rPr lang="zh-CN" altLang="en-US" b="1" i="0" dirty="0">
                <a:solidFill>
                  <a:srgbClr val="000000"/>
                </a:solidFill>
                <a:effectLst/>
                <a:latin typeface="宋体" panose="02010600030101010101" pitchFamily="2" charset="-122"/>
                <a:ea typeface="宋体" panose="02010600030101010101" pitchFamily="2" charset="-122"/>
              </a:rPr>
              <a:t>值</a:t>
            </a:r>
            <a:endParaRPr lang="en-US" altLang="zh-CN" b="1" i="0" dirty="0">
              <a:solidFill>
                <a:srgbClr val="000000"/>
              </a:solidFill>
              <a:effectLst/>
              <a:latin typeface="宋体" panose="02010600030101010101" pitchFamily="2" charset="-122"/>
              <a:ea typeface="宋体" panose="02010600030101010101" pitchFamily="2" charset="-122"/>
            </a:endParaRPr>
          </a:p>
          <a:p>
            <a:pPr marL="342900" indent="-342900">
              <a:buFont typeface="+mj-ea"/>
              <a:buAutoNum type="circleNumDbPlain"/>
            </a:pPr>
            <a:r>
              <a:rPr lang="zh-CN" altLang="en-US" b="1" dirty="0">
                <a:latin typeface="宋体" panose="02010600030101010101" pitchFamily="2" charset="-122"/>
                <a:ea typeface="宋体" panose="02010600030101010101" pitchFamily="2" charset="-122"/>
              </a:rPr>
              <a:t>内核将采样放入与用户空间共享的</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ring buffer</a:t>
            </a:r>
            <a:endParaRPr lang="en-US" altLang="zh-CN"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Font typeface="+mj-ea"/>
              <a:buAutoNum type="circleNumDbPlain"/>
            </a:pPr>
            <a:r>
              <a:rPr lang="en-US" altLang="zh-CN" b="1" dirty="0">
                <a:latin typeface="Times New Roman" panose="02020603050405020304" pitchFamily="18" charset="0"/>
                <a:ea typeface="宋体" panose="02010600030101010101" pitchFamily="2" charset="-122"/>
                <a:cs typeface="Times New Roman" panose="02020603050405020304" pitchFamily="18" charset="0"/>
              </a:rPr>
              <a:t>perf</a:t>
            </a:r>
            <a:r>
              <a:rPr lang="zh-CN" altLang="en-US" b="1" dirty="0">
                <a:latin typeface="宋体" panose="02010600030101010101" pitchFamily="2" charset="-122"/>
                <a:ea typeface="宋体" panose="02010600030101010101" pitchFamily="2" charset="-122"/>
              </a:rPr>
              <a:t>利用</a:t>
            </a:r>
            <a:r>
              <a:rPr lang="en-US" altLang="zh-CN" b="1" dirty="0" err="1">
                <a:latin typeface="Times New Roman" panose="02020603050405020304" pitchFamily="18" charset="0"/>
                <a:ea typeface="宋体" panose="02010600030101010101" pitchFamily="2" charset="-122"/>
                <a:cs typeface="Times New Roman" panose="02020603050405020304" pitchFamily="18" charset="0"/>
              </a:rPr>
              <a:t>mmap</a:t>
            </a:r>
            <a:r>
              <a:rPr lang="zh-CN" altLang="en-US" b="1" dirty="0">
                <a:latin typeface="宋体" panose="02010600030101010101" pitchFamily="2" charset="-122"/>
                <a:ea typeface="宋体" panose="02010600030101010101" pitchFamily="2" charset="-122"/>
              </a:rPr>
              <a:t>从</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ring buffer</a:t>
            </a:r>
            <a:r>
              <a:rPr lang="zh-CN" altLang="en-US" b="1" dirty="0">
                <a:latin typeface="宋体" panose="02010600030101010101" pitchFamily="2" charset="-122"/>
                <a:ea typeface="宋体" panose="02010600030101010101" pitchFamily="2" charset="-122"/>
              </a:rPr>
              <a:t>读取采样并解析</a:t>
            </a:r>
            <a:endParaRPr lang="en-US" altLang="zh-CN" b="1" dirty="0">
              <a:solidFill>
                <a:srgbClr val="000000"/>
              </a:solidFill>
              <a:latin typeface="宋体" panose="02010600030101010101" pitchFamily="2" charset="-122"/>
              <a:ea typeface="宋体" panose="02010600030101010101" pitchFamily="2" charset="-122"/>
            </a:endParaRPr>
          </a:p>
          <a:p>
            <a:pPr marL="342900" indent="-342900">
              <a:buFont typeface="+mj-ea"/>
              <a:buAutoNum type="circleNumDbPlain"/>
            </a:pPr>
            <a:r>
              <a:rPr lang="zh-CN" altLang="en-US" b="1" i="0" dirty="0">
                <a:effectLst/>
                <a:latin typeface="宋体" panose="02010600030101010101" pitchFamily="2" charset="-122"/>
                <a:ea typeface="宋体" panose="02010600030101010101" pitchFamily="2" charset="-122"/>
              </a:rPr>
              <a:t>根据</a:t>
            </a:r>
            <a:r>
              <a:rPr lang="en-US" altLang="zh-CN" b="1" i="0" dirty="0" err="1">
                <a:effectLst/>
                <a:latin typeface="Times New Roman" panose="02020603050405020304" pitchFamily="18" charset="0"/>
                <a:ea typeface="宋体" panose="02010600030101010101" pitchFamily="2" charset="-122"/>
                <a:cs typeface="Times New Roman" panose="02020603050405020304" pitchFamily="18" charset="0"/>
              </a:rPr>
              <a:t>pid</a:t>
            </a:r>
            <a:r>
              <a:rPr lang="zh-CN" altLang="en-US" b="1" i="0" dirty="0">
                <a:effectLst/>
                <a:latin typeface="宋体" panose="02010600030101010101" pitchFamily="2" charset="-122"/>
                <a:ea typeface="宋体" panose="02010600030101010101" pitchFamily="2" charset="-122"/>
              </a:rPr>
              <a:t>等信息找到进程</a:t>
            </a:r>
          </a:p>
          <a:p>
            <a:pPr marL="342900" indent="-342900">
              <a:buFont typeface="+mj-ea"/>
              <a:buAutoNum type="circleNumDbPlain"/>
            </a:pPr>
            <a:r>
              <a:rPr lang="zh-CN" altLang="en-US" b="1" dirty="0">
                <a:latin typeface="宋体" panose="02010600030101010101" pitchFamily="2" charset="-122"/>
                <a:ea typeface="宋体" panose="02010600030101010101" pitchFamily="2" charset="-122"/>
              </a:rPr>
              <a:t>根据</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RIP</a:t>
            </a:r>
            <a:r>
              <a:rPr lang="zh-CN" altLang="en-US" b="1" dirty="0">
                <a:latin typeface="宋体" panose="02010600030101010101" pitchFamily="2" charset="-122"/>
                <a:ea typeface="宋体" panose="02010600030101010101" pitchFamily="2" charset="-122"/>
              </a:rPr>
              <a:t>和</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ELF</a:t>
            </a:r>
            <a:r>
              <a:rPr lang="zh-CN" altLang="en-US" b="1" dirty="0">
                <a:latin typeface="宋体" panose="02010600030101010101" pitchFamily="2" charset="-122"/>
                <a:ea typeface="宋体" panose="02010600030101010101" pitchFamily="2" charset="-122"/>
              </a:rPr>
              <a:t>文件符号表等信息找到触发 </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PMI</a:t>
            </a:r>
            <a:r>
              <a:rPr lang="zh-CN" altLang="en-US" b="1" dirty="0">
                <a:latin typeface="宋体" panose="02010600030101010101" pitchFamily="2" charset="-122"/>
                <a:ea typeface="宋体" panose="02010600030101010101" pitchFamily="2" charset="-122"/>
              </a:rPr>
              <a:t>中断的函数</a:t>
            </a:r>
          </a:p>
        </p:txBody>
      </p:sp>
      <p:sp>
        <p:nvSpPr>
          <p:cNvPr id="8" name="文本框 7">
            <a:extLst>
              <a:ext uri="{FF2B5EF4-FFF2-40B4-BE49-F238E27FC236}">
                <a16:creationId xmlns:a16="http://schemas.microsoft.com/office/drawing/2014/main" id="{BECA9C8D-5D6A-2E53-F0BA-6423E896BAD2}"/>
              </a:ext>
            </a:extLst>
          </p:cNvPr>
          <p:cNvSpPr txBox="1"/>
          <p:nvPr/>
        </p:nvSpPr>
        <p:spPr>
          <a:xfrm>
            <a:off x="44608" y="1295399"/>
            <a:ext cx="5492584" cy="369332"/>
          </a:xfrm>
          <a:prstGeom prst="rect">
            <a:avLst/>
          </a:prstGeom>
          <a:noFill/>
        </p:spPr>
        <p:txBody>
          <a:bodyPr wrap="square" rtlCol="0">
            <a:spAutoFit/>
          </a:bodyPr>
          <a:lstStyle/>
          <a:p>
            <a:r>
              <a:rPr lang="en-US" altLang="zh-CN" b="1" i="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rPr>
              <a:t>perf</a:t>
            </a:r>
            <a:r>
              <a:rPr lang="zh-CN" altLang="en-US" b="1" dirty="0">
                <a:solidFill>
                  <a:srgbClr val="000000"/>
                </a:solidFill>
                <a:latin typeface="宋体" panose="02010600030101010101" pitchFamily="2" charset="-122"/>
                <a:ea typeface="宋体" panose="02010600030101010101" pitchFamily="2" charset="-122"/>
              </a:rPr>
              <a:t>硬件</a:t>
            </a:r>
            <a:r>
              <a:rPr lang="en-US" altLang="zh-CN" b="1"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PMU</a:t>
            </a:r>
            <a:r>
              <a:rPr lang="zh-CN" altLang="en-US" b="1" dirty="0">
                <a:solidFill>
                  <a:srgbClr val="000000"/>
                </a:solidFill>
                <a:latin typeface="宋体" panose="02010600030101010101" pitchFamily="2" charset="-122"/>
                <a:ea typeface="宋体" panose="02010600030101010101" pitchFamily="2" charset="-122"/>
              </a:rPr>
              <a:t>中断捕获硬件性能事件</a:t>
            </a:r>
            <a:r>
              <a:rPr lang="zh-CN" altLang="en-US" b="1" i="0" dirty="0">
                <a:effectLst/>
                <a:latin typeface="宋体" panose="02010600030101010101" pitchFamily="2" charset="-122"/>
                <a:ea typeface="宋体" panose="02010600030101010101" pitchFamily="2" charset="-122"/>
              </a:rPr>
              <a:t>的</a:t>
            </a:r>
            <a:r>
              <a:rPr lang="zh-CN" altLang="en-US" b="1" dirty="0">
                <a:solidFill>
                  <a:srgbClr val="000000"/>
                </a:solidFill>
                <a:latin typeface="宋体" panose="02010600030101010101" pitchFamily="2" charset="-122"/>
                <a:ea typeface="宋体" panose="02010600030101010101" pitchFamily="2" charset="-122"/>
              </a:rPr>
              <a:t>处理</a:t>
            </a:r>
            <a:r>
              <a:rPr lang="zh-CN" altLang="en-US" b="1" i="0" dirty="0">
                <a:solidFill>
                  <a:srgbClr val="000000"/>
                </a:solidFill>
                <a:effectLst/>
                <a:latin typeface="宋体" panose="02010600030101010101" pitchFamily="2" charset="-122"/>
                <a:ea typeface="宋体" panose="02010600030101010101" pitchFamily="2" charset="-122"/>
              </a:rPr>
              <a:t>流程</a:t>
            </a:r>
            <a:endParaRPr lang="zh-CN" altLang="en-US" b="1" dirty="0">
              <a:latin typeface="宋体" panose="02010600030101010101" pitchFamily="2" charset="-122"/>
              <a:ea typeface="宋体" panose="02010600030101010101" pitchFamily="2" charset="-122"/>
            </a:endParaRPr>
          </a:p>
        </p:txBody>
      </p:sp>
      <p:sp>
        <p:nvSpPr>
          <p:cNvPr id="9" name="标题 5">
            <a:extLst>
              <a:ext uri="{FF2B5EF4-FFF2-40B4-BE49-F238E27FC236}">
                <a16:creationId xmlns:a16="http://schemas.microsoft.com/office/drawing/2014/main" id="{5D4E4859-F9D6-1AC5-97CE-7839C019BE2D}"/>
              </a:ext>
            </a:extLst>
          </p:cNvPr>
          <p:cNvSpPr>
            <a:spLocks noGrp="1"/>
          </p:cNvSpPr>
          <p:nvPr>
            <p:ph type="title"/>
          </p:nvPr>
        </p:nvSpPr>
        <p:spPr>
          <a:xfrm>
            <a:off x="239349" y="634678"/>
            <a:ext cx="11809312"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原理</a:t>
            </a:r>
            <a:r>
              <a:rPr lang="en-US" altLang="zh-CN" dirty="0">
                <a:solidFill>
                  <a:srgbClr val="10218B"/>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2</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639282620"/>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5">
            <a:extLst>
              <a:ext uri="{FF2B5EF4-FFF2-40B4-BE49-F238E27FC236}">
                <a16:creationId xmlns:a16="http://schemas.microsoft.com/office/drawing/2014/main" id="{5D4E4859-F9D6-1AC5-97CE-7839C019BE2D}"/>
              </a:ext>
            </a:extLst>
          </p:cNvPr>
          <p:cNvSpPr>
            <a:spLocks noGrp="1"/>
          </p:cNvSpPr>
          <p:nvPr>
            <p:ph type="title"/>
          </p:nvPr>
        </p:nvSpPr>
        <p:spPr>
          <a:xfrm>
            <a:off x="239349" y="634678"/>
            <a:ext cx="11809312"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原理</a:t>
            </a:r>
            <a:r>
              <a:rPr lang="en-US" altLang="zh-CN" dirty="0">
                <a:solidFill>
                  <a:srgbClr val="10218B"/>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3</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3074" name="Picture 2">
            <a:extLst>
              <a:ext uri="{FF2B5EF4-FFF2-40B4-BE49-F238E27FC236}">
                <a16:creationId xmlns:a16="http://schemas.microsoft.com/office/drawing/2014/main" id="{DAA065F6-3FB1-CB3D-2DC4-60C6A3FECF2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411" r="3490" b="8291"/>
          <a:stretch/>
        </p:blipFill>
        <p:spPr bwMode="auto">
          <a:xfrm>
            <a:off x="3961855" y="1697225"/>
            <a:ext cx="7909939" cy="4332964"/>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621539F0-FC3D-EA3E-66AB-5836A541AC6B}"/>
              </a:ext>
            </a:extLst>
          </p:cNvPr>
          <p:cNvSpPr txBox="1"/>
          <p:nvPr/>
        </p:nvSpPr>
        <p:spPr>
          <a:xfrm>
            <a:off x="6903784" y="6038656"/>
            <a:ext cx="2218266"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PMU block diagram</a:t>
            </a:r>
            <a:endParaRPr lang="zh-CN" altLang="en-US" b="1" dirty="0">
              <a:latin typeface="Times New Roman" panose="02020603050405020304" pitchFamily="18" charset="0"/>
              <a:cs typeface="Times New Roman" panose="02020603050405020304" pitchFamily="18" charset="0"/>
            </a:endParaRPr>
          </a:p>
        </p:txBody>
      </p:sp>
      <p:sp>
        <p:nvSpPr>
          <p:cNvPr id="4" name="文本框 3">
            <a:extLst>
              <a:ext uri="{FF2B5EF4-FFF2-40B4-BE49-F238E27FC236}">
                <a16:creationId xmlns:a16="http://schemas.microsoft.com/office/drawing/2014/main" id="{0C3BA802-E2AC-7B70-CC74-8C9F1EA7C007}"/>
              </a:ext>
            </a:extLst>
          </p:cNvPr>
          <p:cNvSpPr txBox="1"/>
          <p:nvPr/>
        </p:nvSpPr>
        <p:spPr>
          <a:xfrm>
            <a:off x="0" y="2192867"/>
            <a:ext cx="4021667" cy="1569660"/>
          </a:xfrm>
          <a:prstGeom prst="rect">
            <a:avLst/>
          </a:prstGeom>
          <a:noFill/>
        </p:spPr>
        <p:txBody>
          <a:bodyPr wrap="square" rtlCol="0">
            <a:spAutoFit/>
          </a:bodyPr>
          <a:lstStyle/>
          <a:p>
            <a:pPr marL="285750" indent="-285750" algn="just">
              <a:buFont typeface="Wingdings" panose="05000000000000000000" pitchFamily="2" charset="2"/>
              <a:buChar char="Ø"/>
            </a:pPr>
            <a:r>
              <a:rPr lang="zh-CN" altLang="en-US" sz="1600" b="1" dirty="0">
                <a:latin typeface="宋体" panose="02010600030101010101" pitchFamily="2" charset="-122"/>
                <a:ea typeface="宋体" panose="02010600030101010101" pitchFamily="2" charset="-122"/>
              </a:rPr>
              <a:t>采样和事件记录协同进行</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定时器中断和硬件</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PMU</a:t>
            </a:r>
            <a:r>
              <a:rPr lang="zh-CN" altLang="en-US" sz="1600" b="1" dirty="0">
                <a:latin typeface="宋体" panose="02010600030101010101" pitchFamily="2" charset="-122"/>
                <a:ea typeface="宋体" panose="02010600030101010101" pitchFamily="2" charset="-122"/>
              </a:rPr>
              <a:t>中断在时间上交织在一起</a:t>
            </a:r>
            <a:endParaRPr lang="en-US" altLang="zh-CN" sz="1600" b="1" dirty="0">
              <a:latin typeface="宋体" panose="02010600030101010101" pitchFamily="2" charset="-122"/>
              <a:ea typeface="宋体" panose="02010600030101010101" pitchFamily="2" charset="-122"/>
            </a:endParaRPr>
          </a:p>
          <a:p>
            <a:pPr marL="285750" indent="-285750" algn="just">
              <a:buFont typeface="Wingdings" panose="05000000000000000000" pitchFamily="2" charset="2"/>
              <a:buChar char="Ø"/>
            </a:pPr>
            <a:endParaRPr lang="en-US" altLang="zh-CN" sz="1600" b="1" dirty="0">
              <a:latin typeface="宋体" panose="02010600030101010101" pitchFamily="2" charset="-122"/>
              <a:ea typeface="宋体" panose="02010600030101010101" pitchFamily="2" charset="-122"/>
            </a:endParaRPr>
          </a:p>
          <a:p>
            <a:pPr marL="285750" indent="-285750" algn="just">
              <a:buFont typeface="Wingdings" panose="05000000000000000000" pitchFamily="2" charset="2"/>
              <a:buChar char="Ø"/>
            </a:pP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perf</a:t>
            </a:r>
            <a:r>
              <a:rPr lang="zh-CN" altLang="en-US" sz="1600" b="1" dirty="0">
                <a:latin typeface="宋体" panose="02010600030101010101" pitchFamily="2" charset="-122"/>
                <a:ea typeface="宋体" panose="02010600030101010101" pitchFamily="2" charset="-122"/>
              </a:rPr>
              <a:t>利用定时器中断周期性地对程序进行采样</a:t>
            </a:r>
            <a:r>
              <a:rPr lang="en-US" altLang="zh-CN" sz="1600" b="1" dirty="0">
                <a:latin typeface="宋体" panose="02010600030101010101" pitchFamily="2" charset="-122"/>
                <a:ea typeface="宋体" panose="02010600030101010101" pitchFamily="2" charset="-122"/>
              </a:rPr>
              <a:t>,</a:t>
            </a:r>
            <a:r>
              <a:rPr lang="zh-CN" altLang="en-US" sz="1600" b="1" dirty="0">
                <a:latin typeface="宋体" panose="02010600030101010101" pitchFamily="2" charset="-122"/>
                <a:ea typeface="宋体" panose="02010600030101010101" pitchFamily="2" charset="-122"/>
              </a:rPr>
              <a:t>同时通过硬件</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PMU</a:t>
            </a:r>
            <a:r>
              <a:rPr lang="zh-CN" altLang="en-US" sz="1600" b="1" dirty="0">
                <a:latin typeface="宋体" panose="02010600030101010101" pitchFamily="2" charset="-122"/>
                <a:ea typeface="宋体" panose="02010600030101010101" pitchFamily="2" charset="-122"/>
              </a:rPr>
              <a:t>中断捕获硬件性能事件</a:t>
            </a:r>
          </a:p>
        </p:txBody>
      </p:sp>
    </p:spTree>
    <p:extLst>
      <p:ext uri="{BB962C8B-B14F-4D97-AF65-F5344CB8AC3E}">
        <p14:creationId xmlns:p14="http://schemas.microsoft.com/office/powerpoint/2010/main" val="2362457015"/>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5">
            <a:extLst>
              <a:ext uri="{FF2B5EF4-FFF2-40B4-BE49-F238E27FC236}">
                <a16:creationId xmlns:a16="http://schemas.microsoft.com/office/drawing/2014/main" id="{5D4E4859-F9D6-1AC5-97CE-7839C019BE2D}"/>
              </a:ext>
            </a:extLst>
          </p:cNvPr>
          <p:cNvSpPr>
            <a:spLocks noGrp="1"/>
          </p:cNvSpPr>
          <p:nvPr>
            <p:ph type="title"/>
          </p:nvPr>
        </p:nvSpPr>
        <p:spPr>
          <a:xfrm>
            <a:off x="239349" y="634678"/>
            <a:ext cx="11809312"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中断</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0C3BA802-E2AC-7B70-CC74-8C9F1EA7C007}"/>
              </a:ext>
            </a:extLst>
          </p:cNvPr>
          <p:cNvSpPr txBox="1"/>
          <p:nvPr/>
        </p:nvSpPr>
        <p:spPr>
          <a:xfrm>
            <a:off x="-1" y="1761068"/>
            <a:ext cx="4443019" cy="1569660"/>
          </a:xfrm>
          <a:prstGeom prst="rect">
            <a:avLst/>
          </a:prstGeom>
          <a:noFill/>
        </p:spPr>
        <p:txBody>
          <a:bodyPr wrap="square" rtlCol="0">
            <a:spAutoFit/>
          </a:bodyPr>
          <a:lstStyle/>
          <a:p>
            <a:pPr marL="285750" indent="-285750" algn="just">
              <a:buFont typeface="Wingdings" panose="05000000000000000000" pitchFamily="2" charset="2"/>
              <a:buChar char="Ø"/>
            </a:pPr>
            <a:r>
              <a:rPr lang="zh-CN" altLang="en-US" sz="1600" b="1" dirty="0">
                <a:solidFill>
                  <a:srgbClr val="000000"/>
                </a:solidFill>
                <a:latin typeface="宋体" panose="02010600030101010101" pitchFamily="2" charset="-122"/>
                <a:ea typeface="宋体" panose="02010600030101010101" pitchFamily="2" charset="-122"/>
                <a:cs typeface="Times New Roman" panose="02020603050405020304" pitchFamily="18" charset="0"/>
              </a:rPr>
              <a:t>定时器</a:t>
            </a:r>
            <a:r>
              <a:rPr lang="zh-CN" altLang="en-US" sz="1600" b="1" i="0" dirty="0">
                <a:effectLst/>
                <a:latin typeface="宋体" panose="02010600030101010101" pitchFamily="2" charset="-122"/>
                <a:ea typeface="宋体" panose="02010600030101010101" pitchFamily="2" charset="-122"/>
              </a:rPr>
              <a:t>中断的时间设置是</a:t>
            </a:r>
            <a:r>
              <a:rPr lang="en-US" altLang="zh-CN" sz="1600" b="1" i="0" dirty="0">
                <a:effectLst/>
                <a:latin typeface="Times New Roman" panose="02020603050405020304" pitchFamily="18" charset="0"/>
                <a:ea typeface="宋体" panose="02010600030101010101" pitchFamily="2" charset="-122"/>
                <a:cs typeface="Times New Roman" panose="02020603050405020304" pitchFamily="18" charset="0"/>
              </a:rPr>
              <a:t>perf record</a:t>
            </a:r>
            <a:r>
              <a:rPr lang="zh-CN" altLang="en-US" sz="1600" b="1" i="0" dirty="0">
                <a:effectLst/>
                <a:latin typeface="Times New Roman" panose="02020603050405020304" pitchFamily="18" charset="0"/>
                <a:ea typeface="宋体" panose="02010600030101010101" pitchFamily="2" charset="-122"/>
                <a:cs typeface="Times New Roman" panose="02020603050405020304" pitchFamily="18" charset="0"/>
              </a:rPr>
              <a:t> </a:t>
            </a:r>
            <a:r>
              <a:rPr lang="en-US" altLang="zh-CN" sz="1600" b="1" i="0" dirty="0">
                <a:effectLst/>
                <a:latin typeface="Times New Roman" panose="02020603050405020304" pitchFamily="18" charset="0"/>
                <a:ea typeface="宋体" panose="02010600030101010101" pitchFamily="2" charset="-122"/>
                <a:cs typeface="Times New Roman" panose="02020603050405020304" pitchFamily="18" charset="0"/>
              </a:rPr>
              <a:t>–F </a:t>
            </a:r>
            <a:endParaRPr lang="en-US" altLang="zh-CN" sz="1600" b="1"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buFont typeface="Wingdings" panose="05000000000000000000" pitchFamily="2" charset="2"/>
              <a:buChar char="Ø"/>
            </a:pPr>
            <a:endParaRPr lang="en-US" altLang="zh-CN" sz="1600" b="1" dirty="0">
              <a:latin typeface="宋体" panose="02010600030101010101" pitchFamily="2" charset="-122"/>
              <a:ea typeface="宋体" panose="02010600030101010101" pitchFamily="2" charset="-122"/>
            </a:endParaRPr>
          </a:p>
          <a:p>
            <a:pPr marL="285750" indent="-285750" algn="just">
              <a:buFont typeface="Wingdings" panose="05000000000000000000" pitchFamily="2" charset="2"/>
              <a:buChar char="Ø"/>
            </a:pP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PMU</a:t>
            </a:r>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中断号是</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17</a:t>
            </a:r>
          </a:p>
          <a:p>
            <a:pPr marL="285750" indent="-285750" algn="just">
              <a:buFont typeface="Wingdings" panose="05000000000000000000" pitchFamily="2" charset="2"/>
              <a:buChar char="Ø"/>
            </a:pPr>
            <a:endParaRPr lang="en-US" altLang="zh-CN" sz="1600" b="1" dirty="0">
              <a:latin typeface="Times New Roman" panose="02020603050405020304" pitchFamily="18" charset="0"/>
              <a:ea typeface="宋体" panose="02010600030101010101" pitchFamily="2" charset="-122"/>
              <a:cs typeface="Times New Roman" panose="02020603050405020304" pitchFamily="18" charset="0"/>
            </a:endParaRPr>
          </a:p>
          <a:p>
            <a:pPr marL="285750" indent="-285750" algn="just">
              <a:buFont typeface="Wingdings" panose="05000000000000000000" pitchFamily="2" charset="2"/>
              <a:buChar char="Ø"/>
            </a:pP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PMU</a:t>
            </a:r>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事件的溢出中断</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采样数达到多少进入</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PMU</a:t>
            </a:r>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中断处理程序</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a:t>
            </a:r>
            <a:r>
              <a:rPr lang="zh-CN" altLang="en-US" sz="1600" b="1" dirty="0">
                <a:latin typeface="Times New Roman" panose="02020603050405020304" pitchFamily="18" charset="0"/>
                <a:ea typeface="宋体" panose="02010600030101010101" pitchFamily="2" charset="-122"/>
                <a:cs typeface="Times New Roman" panose="02020603050405020304" pitchFamily="18" charset="0"/>
              </a:rPr>
              <a:t>设置是 </a:t>
            </a:r>
            <a:r>
              <a:rPr lang="en-US" altLang="zh-CN" sz="1600" b="1" dirty="0">
                <a:latin typeface="Times New Roman" panose="02020603050405020304" pitchFamily="18" charset="0"/>
                <a:ea typeface="宋体" panose="02010600030101010101" pitchFamily="2" charset="-122"/>
                <a:cs typeface="Times New Roman" panose="02020603050405020304" pitchFamily="18" charset="0"/>
              </a:rPr>
              <a:t>perf record -c</a:t>
            </a:r>
            <a:endParaRPr lang="zh-CN" altLang="en-US" sz="1600" b="1" dirty="0">
              <a:latin typeface="宋体" panose="02010600030101010101" pitchFamily="2" charset="-122"/>
              <a:ea typeface="宋体" panose="02010600030101010101" pitchFamily="2" charset="-122"/>
            </a:endParaRPr>
          </a:p>
        </p:txBody>
      </p:sp>
      <p:pic>
        <p:nvPicPr>
          <p:cNvPr id="7" name="图片 6">
            <a:extLst>
              <a:ext uri="{FF2B5EF4-FFF2-40B4-BE49-F238E27FC236}">
                <a16:creationId xmlns:a16="http://schemas.microsoft.com/office/drawing/2014/main" id="{C561DC61-A569-0866-9664-7CF50BC3FC9C}"/>
              </a:ext>
            </a:extLst>
          </p:cNvPr>
          <p:cNvPicPr>
            <a:picLocks noChangeAspect="1"/>
          </p:cNvPicPr>
          <p:nvPr/>
        </p:nvPicPr>
        <p:blipFill>
          <a:blip r:embed="rId3"/>
          <a:stretch>
            <a:fillRect/>
          </a:stretch>
        </p:blipFill>
        <p:spPr>
          <a:xfrm>
            <a:off x="4443019" y="1202650"/>
            <a:ext cx="7748981" cy="2371821"/>
          </a:xfrm>
          <a:prstGeom prst="rect">
            <a:avLst/>
          </a:prstGeom>
        </p:spPr>
      </p:pic>
      <p:pic>
        <p:nvPicPr>
          <p:cNvPr id="10" name="图片 9">
            <a:extLst>
              <a:ext uri="{FF2B5EF4-FFF2-40B4-BE49-F238E27FC236}">
                <a16:creationId xmlns:a16="http://schemas.microsoft.com/office/drawing/2014/main" id="{2B697A06-AB92-0005-1C61-EA12400EC5A2}"/>
              </a:ext>
            </a:extLst>
          </p:cNvPr>
          <p:cNvPicPr>
            <a:picLocks noChangeAspect="1"/>
          </p:cNvPicPr>
          <p:nvPr/>
        </p:nvPicPr>
        <p:blipFill>
          <a:blip r:embed="rId4"/>
          <a:stretch>
            <a:fillRect/>
          </a:stretch>
        </p:blipFill>
        <p:spPr>
          <a:xfrm>
            <a:off x="7077987" y="4257676"/>
            <a:ext cx="5114013" cy="1179394"/>
          </a:xfrm>
          <a:prstGeom prst="rect">
            <a:avLst/>
          </a:prstGeom>
        </p:spPr>
      </p:pic>
      <p:sp>
        <p:nvSpPr>
          <p:cNvPr id="11" name="文本框 10">
            <a:extLst>
              <a:ext uri="{FF2B5EF4-FFF2-40B4-BE49-F238E27FC236}">
                <a16:creationId xmlns:a16="http://schemas.microsoft.com/office/drawing/2014/main" id="{BADBEFE4-D30B-B1AD-047E-CCD65D35B177}"/>
              </a:ext>
            </a:extLst>
          </p:cNvPr>
          <p:cNvSpPr txBox="1"/>
          <p:nvPr/>
        </p:nvSpPr>
        <p:spPr>
          <a:xfrm>
            <a:off x="8356223" y="5616590"/>
            <a:ext cx="2785534"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设备树文件中</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PMU</a:t>
            </a:r>
            <a:r>
              <a:rPr lang="zh-CN" altLang="en-US" b="1" dirty="0">
                <a:latin typeface="宋体" panose="02010600030101010101" pitchFamily="2" charset="-122"/>
                <a:ea typeface="宋体" panose="02010600030101010101" pitchFamily="2" charset="-122"/>
              </a:rPr>
              <a:t>的描述</a:t>
            </a:r>
          </a:p>
        </p:txBody>
      </p:sp>
      <p:sp>
        <p:nvSpPr>
          <p:cNvPr id="14" name="文本框 13">
            <a:extLst>
              <a:ext uri="{FF2B5EF4-FFF2-40B4-BE49-F238E27FC236}">
                <a16:creationId xmlns:a16="http://schemas.microsoft.com/office/drawing/2014/main" id="{7A6D1B17-7240-3242-9735-B9C7DB79B6A8}"/>
              </a:ext>
            </a:extLst>
          </p:cNvPr>
          <p:cNvSpPr txBox="1"/>
          <p:nvPr/>
        </p:nvSpPr>
        <p:spPr>
          <a:xfrm>
            <a:off x="2283478" y="5575312"/>
            <a:ext cx="1783697" cy="369332"/>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perf</a:t>
            </a:r>
            <a:r>
              <a:rPr lang="zh-CN" altLang="en-US" b="1" dirty="0">
                <a:latin typeface="宋体" panose="02010600030101010101" pitchFamily="2" charset="-122"/>
                <a:ea typeface="宋体" panose="02010600030101010101" pitchFamily="2" charset="-122"/>
                <a:cs typeface="Times New Roman" panose="02020603050405020304" pitchFamily="18" charset="0"/>
              </a:rPr>
              <a:t>默认参数</a:t>
            </a:r>
            <a:r>
              <a:rPr lang="zh-CN" altLang="en-US" b="1" dirty="0">
                <a:latin typeface="宋体" panose="02010600030101010101" pitchFamily="2" charset="-122"/>
                <a:ea typeface="宋体" panose="02010600030101010101" pitchFamily="2" charset="-122"/>
              </a:rPr>
              <a:t>值</a:t>
            </a:r>
          </a:p>
        </p:txBody>
      </p:sp>
      <p:pic>
        <p:nvPicPr>
          <p:cNvPr id="3" name="图片 2">
            <a:extLst>
              <a:ext uri="{FF2B5EF4-FFF2-40B4-BE49-F238E27FC236}">
                <a16:creationId xmlns:a16="http://schemas.microsoft.com/office/drawing/2014/main" id="{903D178A-4B74-BF7C-4E5F-8F0320A1CFAB}"/>
              </a:ext>
            </a:extLst>
          </p:cNvPr>
          <p:cNvPicPr>
            <a:picLocks noChangeAspect="1"/>
          </p:cNvPicPr>
          <p:nvPr/>
        </p:nvPicPr>
        <p:blipFill>
          <a:blip r:embed="rId5"/>
          <a:stretch>
            <a:fillRect/>
          </a:stretch>
        </p:blipFill>
        <p:spPr>
          <a:xfrm>
            <a:off x="-1" y="4051171"/>
            <a:ext cx="6632761" cy="1422823"/>
          </a:xfrm>
          <a:prstGeom prst="rect">
            <a:avLst/>
          </a:prstGeom>
        </p:spPr>
      </p:pic>
    </p:spTree>
    <p:extLst>
      <p:ext uri="{BB962C8B-B14F-4D97-AF65-F5344CB8AC3E}">
        <p14:creationId xmlns:p14="http://schemas.microsoft.com/office/powerpoint/2010/main" val="172051167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内核编译选项</a:t>
            </a:r>
            <a:endParaRPr lang="zh-CN" altLang="en-US"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61BC3360-DE4C-350C-2C0E-5B3C6FAB4E58}"/>
              </a:ext>
            </a:extLst>
          </p:cNvPr>
          <p:cNvSpPr txBox="1"/>
          <p:nvPr/>
        </p:nvSpPr>
        <p:spPr>
          <a:xfrm>
            <a:off x="-1" y="1699836"/>
            <a:ext cx="12192001"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perf PMU</a:t>
            </a:r>
            <a:r>
              <a:rPr lang="zh-CN" altLang="en-US" dirty="0">
                <a:latin typeface="宋体" panose="02010600030101010101" pitchFamily="2" charset="-122"/>
                <a:ea typeface="宋体" panose="02010600030101010101" pitchFamily="2" charset="-122"/>
              </a:rPr>
              <a:t>驱动选项：</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CONFIG_RISCV</a:t>
            </a:r>
            <a:endParaRPr lang="zh-CN" altLang="en-US" dirty="0">
              <a:latin typeface="Times New Roman" panose="02020603050405020304" pitchFamily="18" charset="0"/>
              <a:cs typeface="Times New Roman" panose="02020603050405020304" pitchFamily="18" charset="0"/>
            </a:endParaRPr>
          </a:p>
        </p:txBody>
      </p:sp>
      <p:sp>
        <p:nvSpPr>
          <p:cNvPr id="5" name="文本框 4">
            <a:extLst>
              <a:ext uri="{FF2B5EF4-FFF2-40B4-BE49-F238E27FC236}">
                <a16:creationId xmlns:a16="http://schemas.microsoft.com/office/drawing/2014/main" id="{917B9551-BAE2-A385-3779-B5244F204E97}"/>
              </a:ext>
            </a:extLst>
          </p:cNvPr>
          <p:cNvSpPr txBox="1"/>
          <p:nvPr/>
        </p:nvSpPr>
        <p:spPr>
          <a:xfrm>
            <a:off x="0" y="2438403"/>
            <a:ext cx="12143419"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编译内核选项：</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CONFIG_DEBUG_INFO</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CONFIG_FRAME_POINTER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CONFIG_ARCH_WANT_FRAME_POINTERS</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B74C4458-6D27-1FE9-AA90-AF694151E782}"/>
              </a:ext>
            </a:extLst>
          </p:cNvPr>
          <p:cNvSpPr txBox="1"/>
          <p:nvPr/>
        </p:nvSpPr>
        <p:spPr>
          <a:xfrm>
            <a:off x="0" y="3241436"/>
            <a:ext cx="12181521" cy="923330"/>
          </a:xfrm>
          <a:prstGeom prst="rect">
            <a:avLst/>
          </a:prstGeom>
          <a:noFill/>
        </p:spPr>
        <p:txBody>
          <a:bodyPr wrap="square" rtlCol="0">
            <a:spAutoFit/>
          </a:bodyPr>
          <a:lstStyle/>
          <a:p>
            <a:r>
              <a:rPr lang="en-US" altLang="zh-CN" dirty="0">
                <a:latin typeface="Times New Roman" panose="02020603050405020304" pitchFamily="18" charset="0"/>
                <a:ea typeface="宋体" panose="02010600030101010101" pitchFamily="2" charset="-122"/>
                <a:cs typeface="Times New Roman" panose="02020603050405020304" pitchFamily="18" charset="0"/>
              </a:rPr>
              <a:t>debug</a:t>
            </a:r>
            <a:r>
              <a:rPr lang="zh-CN" altLang="en-US" dirty="0">
                <a:latin typeface="宋体" panose="02010600030101010101" pitchFamily="2" charset="-122"/>
                <a:ea typeface="宋体" panose="02010600030101010101" pitchFamily="2" charset="-122"/>
              </a:rPr>
              <a:t>选项：</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CONFIG_STACKTRACE</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CONFIG_NOP_TRACER</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CONFIG_TRACE_CLOCK</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CONFIG_EVENT_TRACING</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CONFIG_TRACING</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CONFIG_TRACING_SUPPORT</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CONFIG_FTRACE</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CONFIG_UPROBE_EVENTS</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CONFIG_DYNAMIC_EVENTS</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2E238518-734E-12C5-E5EA-D0D2EB7FE1BA}"/>
              </a:ext>
            </a:extLst>
          </p:cNvPr>
          <p:cNvSpPr txBox="1"/>
          <p:nvPr/>
        </p:nvSpPr>
        <p:spPr>
          <a:xfrm>
            <a:off x="22715" y="4533904"/>
            <a:ext cx="12181520"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内核性能事件与计数器选项：</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CONFIG_PERF_EVENTS</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26195922-C06B-B901-79A8-2C2D200AD1A9}"/>
              </a:ext>
            </a:extLst>
          </p:cNvPr>
          <p:cNvSpPr txBox="1"/>
          <p:nvPr/>
        </p:nvSpPr>
        <p:spPr>
          <a:xfrm>
            <a:off x="0" y="5372105"/>
            <a:ext cx="12221819" cy="369332"/>
          </a:xfrm>
          <a:prstGeom prst="rect">
            <a:avLst/>
          </a:prstGeom>
          <a:noFill/>
        </p:spPr>
        <p:txBody>
          <a:bodyPr wrap="square" rtlCol="0">
            <a:spAutoFit/>
          </a:bodyPr>
          <a:lstStyle/>
          <a:p>
            <a:r>
              <a:rPr lang="zh-CN" altLang="en-US" dirty="0">
                <a:latin typeface="宋体" panose="02010600030101010101" pitchFamily="2" charset="-122"/>
                <a:ea typeface="宋体" panose="02010600030101010101" pitchFamily="2" charset="-122"/>
              </a:rPr>
              <a:t>内核符号信息选项：</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CONFIG_KALLSYMS</a:t>
            </a:r>
            <a:r>
              <a:rPr lang="zh-CN" altLang="en-US" dirty="0">
                <a:latin typeface="Times New Roman" panose="02020603050405020304" pitchFamily="18" charset="0"/>
                <a:ea typeface="宋体" panose="02010600030101010101" pitchFamily="2" charset="-122"/>
                <a:cs typeface="Times New Roman" panose="02020603050405020304" pitchFamily="18" charset="0"/>
              </a:rPr>
              <a:t>、</a:t>
            </a:r>
            <a:r>
              <a:rPr lang="en-US" altLang="zh-CN" dirty="0">
                <a:latin typeface="Times New Roman" panose="02020603050405020304" pitchFamily="18" charset="0"/>
                <a:ea typeface="宋体" panose="02010600030101010101" pitchFamily="2" charset="-122"/>
                <a:cs typeface="Times New Roman" panose="02020603050405020304" pitchFamily="18" charset="0"/>
              </a:rPr>
              <a:t>CONFIG_KALLSYMS_ALL</a:t>
            </a:r>
            <a:endParaRPr lang="zh-CN" altLang="en-US"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770508352"/>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p:txBody>
          <a:bodyPr/>
          <a:lstStyle/>
          <a:p>
            <a:r>
              <a:rPr lang="en-US" altLang="zh-CN" dirty="0">
                <a:solidFill>
                  <a:srgbClr val="10218B"/>
                </a:solidFill>
                <a:latin typeface="Times New Roman" panose="02020603050405020304" pitchFamily="18" charset="0"/>
                <a:ea typeface="宋体" panose="02010600030101010101" pitchFamily="2" charset="-122"/>
                <a:cs typeface="Times New Roman" panose="02020603050405020304" pitchFamily="18" charset="0"/>
                <a:sym typeface="Times New Roman" panose="02020603050405020304" pitchFamily="18" charset="0"/>
              </a:rPr>
              <a:t>perf</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源码编译</a:t>
            </a:r>
            <a:endParaRPr lang="zh-CN" altLang="en-US" dirty="0"/>
          </a:p>
        </p:txBody>
      </p:sp>
      <p:graphicFrame>
        <p:nvGraphicFramePr>
          <p:cNvPr id="6" name="对象 5">
            <a:extLst>
              <a:ext uri="{FF2B5EF4-FFF2-40B4-BE49-F238E27FC236}">
                <a16:creationId xmlns:a16="http://schemas.microsoft.com/office/drawing/2014/main" id="{9341088A-9427-76C5-98CC-82314DF929F9}"/>
              </a:ext>
            </a:extLst>
          </p:cNvPr>
          <p:cNvGraphicFramePr>
            <a:graphicFrameLocks noChangeAspect="1"/>
          </p:cNvGraphicFramePr>
          <p:nvPr>
            <p:extLst>
              <p:ext uri="{D42A27DB-BD31-4B8C-83A1-F6EECF244321}">
                <p14:modId xmlns:p14="http://schemas.microsoft.com/office/powerpoint/2010/main" val="4137395105"/>
              </p:ext>
            </p:extLst>
          </p:nvPr>
        </p:nvGraphicFramePr>
        <p:xfrm>
          <a:off x="1075836" y="1808129"/>
          <a:ext cx="1425575" cy="361950"/>
        </p:xfrm>
        <a:graphic>
          <a:graphicData uri="http://schemas.openxmlformats.org/presentationml/2006/ole">
            <mc:AlternateContent xmlns:mc="http://schemas.openxmlformats.org/markup-compatibility/2006">
              <mc:Choice xmlns:v="urn:schemas-microsoft-com:vml" Requires="v">
                <p:oleObj name="包装程序外壳对象" showAsIcon="1" r:id="rId3" imgW="1425600" imgH="362160" progId="Package">
                  <p:embed/>
                </p:oleObj>
              </mc:Choice>
              <mc:Fallback>
                <p:oleObj name="包装程序外壳对象" showAsIcon="1" r:id="rId3" imgW="1425600" imgH="362160" progId="Package">
                  <p:embed/>
                  <p:pic>
                    <p:nvPicPr>
                      <p:cNvPr id="6" name="对象 5">
                        <a:extLst>
                          <a:ext uri="{FF2B5EF4-FFF2-40B4-BE49-F238E27FC236}">
                            <a16:creationId xmlns:a16="http://schemas.microsoft.com/office/drawing/2014/main" id="{9341088A-9427-76C5-98CC-82314DF929F9}"/>
                          </a:ext>
                        </a:extLst>
                      </p:cNvPr>
                      <p:cNvPicPr/>
                      <p:nvPr/>
                    </p:nvPicPr>
                    <p:blipFill>
                      <a:blip r:embed="rId4"/>
                      <a:stretch>
                        <a:fillRect/>
                      </a:stretch>
                    </p:blipFill>
                    <p:spPr>
                      <a:xfrm>
                        <a:off x="1075836" y="1808129"/>
                        <a:ext cx="1425575" cy="361950"/>
                      </a:xfrm>
                      <a:prstGeom prst="rect">
                        <a:avLst/>
                      </a:prstGeom>
                    </p:spPr>
                  </p:pic>
                </p:oleObj>
              </mc:Fallback>
            </mc:AlternateContent>
          </a:graphicData>
        </a:graphic>
      </p:graphicFrame>
      <p:sp>
        <p:nvSpPr>
          <p:cNvPr id="10" name="文本框 9">
            <a:extLst>
              <a:ext uri="{FF2B5EF4-FFF2-40B4-BE49-F238E27FC236}">
                <a16:creationId xmlns:a16="http://schemas.microsoft.com/office/drawing/2014/main" id="{60C1B29B-001A-E5AA-F7D4-4748C3B3E033}"/>
              </a:ext>
            </a:extLst>
          </p:cNvPr>
          <p:cNvSpPr txBox="1"/>
          <p:nvPr/>
        </p:nvSpPr>
        <p:spPr>
          <a:xfrm>
            <a:off x="161194" y="1340369"/>
            <a:ext cx="4233006" cy="369332"/>
          </a:xfrm>
          <a:prstGeom prst="rect">
            <a:avLst/>
          </a:prstGeom>
          <a:noFill/>
        </p:spPr>
        <p:txBody>
          <a:bodyPr wrap="square" rtlCol="0">
            <a:spAutoFit/>
          </a:bodyPr>
          <a:lstStyle/>
          <a:p>
            <a:r>
              <a:rPr lang="zh-CN" altLang="en-US" dirty="0"/>
              <a:t>安装</a:t>
            </a:r>
            <a:r>
              <a:rPr lang="en-US" altLang="zh-CN" dirty="0">
                <a:latin typeface="Times New Roman" panose="02020603050405020304" pitchFamily="18" charset="0"/>
                <a:cs typeface="Times New Roman" panose="02020603050405020304" pitchFamily="18" charset="0"/>
              </a:rPr>
              <a:t>perf</a:t>
            </a:r>
            <a:r>
              <a:rPr lang="zh-CN" altLang="en-US" dirty="0"/>
              <a:t>依赖第三方库的</a:t>
            </a:r>
            <a:r>
              <a:rPr lang="en-US" altLang="zh-CN" dirty="0">
                <a:latin typeface="Times New Roman" panose="02020603050405020304" pitchFamily="18" charset="0"/>
                <a:cs typeface="Times New Roman" panose="02020603050405020304" pitchFamily="18" charset="0"/>
              </a:rPr>
              <a:t>shell</a:t>
            </a:r>
            <a:r>
              <a:rPr lang="zh-CN" altLang="en-US" dirty="0"/>
              <a:t>脚本</a:t>
            </a:r>
            <a:r>
              <a:rPr lang="en-US" altLang="zh-CN" dirty="0"/>
              <a:t>(</a:t>
            </a:r>
            <a:r>
              <a:rPr lang="en-US" altLang="zh-CN" dirty="0">
                <a:latin typeface="Times New Roman" panose="02020603050405020304" pitchFamily="18" charset="0"/>
                <a:cs typeface="Times New Roman" panose="02020603050405020304" pitchFamily="18" charset="0"/>
              </a:rPr>
              <a:t>apt</a:t>
            </a:r>
            <a:r>
              <a:rPr lang="zh-CN" altLang="en-US" dirty="0"/>
              <a:t>源</a:t>
            </a:r>
            <a:r>
              <a:rPr lang="en-US" altLang="zh-CN" dirty="0"/>
              <a:t>)</a:t>
            </a:r>
            <a:endParaRPr lang="zh-CN" altLang="en-US" dirty="0"/>
          </a:p>
        </p:txBody>
      </p:sp>
      <p:sp>
        <p:nvSpPr>
          <p:cNvPr id="11" name="文本框 10">
            <a:extLst>
              <a:ext uri="{FF2B5EF4-FFF2-40B4-BE49-F238E27FC236}">
                <a16:creationId xmlns:a16="http://schemas.microsoft.com/office/drawing/2014/main" id="{7E75235A-8D50-A521-C597-74C0252C9409}"/>
              </a:ext>
            </a:extLst>
          </p:cNvPr>
          <p:cNvSpPr txBox="1"/>
          <p:nvPr/>
        </p:nvSpPr>
        <p:spPr>
          <a:xfrm>
            <a:off x="133844" y="2400317"/>
            <a:ext cx="11234610" cy="923330"/>
          </a:xfrm>
          <a:prstGeom prst="rect">
            <a:avLst/>
          </a:prstGeom>
          <a:noFill/>
        </p:spPr>
        <p:txBody>
          <a:bodyPr wrap="square" rtlCol="0">
            <a:spAutoFit/>
          </a:bodyPr>
          <a:lstStyle/>
          <a:p>
            <a:r>
              <a:rPr lang="zh-CN" altLang="en-US" dirty="0"/>
              <a:t>下载</a:t>
            </a:r>
            <a:r>
              <a:rPr lang="en-US" altLang="zh-CN" dirty="0" err="1">
                <a:latin typeface="Times New Roman" panose="02020603050405020304" pitchFamily="18" charset="0"/>
                <a:cs typeface="Times New Roman" panose="02020603050405020304" pitchFamily="18" charset="0"/>
              </a:rPr>
              <a:t>linux</a:t>
            </a:r>
            <a:r>
              <a:rPr lang="zh-CN" altLang="en-US" dirty="0"/>
              <a:t>内核源码</a:t>
            </a:r>
            <a:r>
              <a:rPr lang="en-US" altLang="zh-CN" dirty="0"/>
              <a:t>(</a:t>
            </a:r>
            <a:r>
              <a:rPr lang="zh-CN" altLang="en-US" dirty="0"/>
              <a:t>编译</a:t>
            </a:r>
            <a:r>
              <a:rPr lang="en-US" altLang="zh-CN" dirty="0"/>
              <a:t>perf</a:t>
            </a:r>
            <a:r>
              <a:rPr lang="zh-CN" altLang="en-US" dirty="0"/>
              <a:t>的内核源码</a:t>
            </a:r>
            <a:r>
              <a:rPr lang="zh-CN" altLang="en-US" b="1" dirty="0">
                <a:solidFill>
                  <a:srgbClr val="FF0000"/>
                </a:solidFill>
              </a:rPr>
              <a:t>必须</a:t>
            </a:r>
            <a:r>
              <a:rPr lang="zh-CN" altLang="en-US" dirty="0"/>
              <a:t>与构建镜像的</a:t>
            </a:r>
            <a:r>
              <a:rPr lang="en-US" altLang="zh-CN" dirty="0" err="1">
                <a:latin typeface="Times New Roman" panose="02020603050405020304" pitchFamily="18" charset="0"/>
                <a:cs typeface="Times New Roman" panose="02020603050405020304" pitchFamily="18" charset="0"/>
              </a:rPr>
              <a:t>linux</a:t>
            </a:r>
            <a:r>
              <a:rPr lang="zh-CN" altLang="en-US" dirty="0"/>
              <a:t>内核保持一致，因为内核中</a:t>
            </a:r>
            <a:r>
              <a:rPr lang="en-US" altLang="zh-CN" dirty="0">
                <a:latin typeface="Times New Roman" panose="02020603050405020304" pitchFamily="18" charset="0"/>
                <a:cs typeface="Times New Roman" panose="02020603050405020304" pitchFamily="18" charset="0"/>
              </a:rPr>
              <a:t>perf</a:t>
            </a:r>
            <a:r>
              <a:rPr lang="zh-CN" altLang="en-US" dirty="0"/>
              <a:t>在持续迭代更新</a:t>
            </a:r>
            <a:r>
              <a:rPr lang="en-US" altLang="zh-CN" dirty="0"/>
              <a:t>)</a:t>
            </a:r>
          </a:p>
          <a:p>
            <a:r>
              <a:rPr lang="en-US" altLang="zh-CN" dirty="0"/>
              <a:t>Ref: </a:t>
            </a:r>
            <a:r>
              <a:rPr lang="en-US" altLang="zh-CN" dirty="0">
                <a:hlinkClick r:id="rId5"/>
              </a:rPr>
              <a:t>https://github.com/chainsx/armbian-riscv-build/blob/main/config/sources/families/thead.conf</a:t>
            </a:r>
            <a:endParaRPr lang="en-US" altLang="zh-CN" dirty="0"/>
          </a:p>
          <a:p>
            <a:endParaRPr lang="zh-CN" altLang="en-US" dirty="0"/>
          </a:p>
        </p:txBody>
      </p:sp>
      <p:pic>
        <p:nvPicPr>
          <p:cNvPr id="13" name="图片 12">
            <a:extLst>
              <a:ext uri="{FF2B5EF4-FFF2-40B4-BE49-F238E27FC236}">
                <a16:creationId xmlns:a16="http://schemas.microsoft.com/office/drawing/2014/main" id="{7D9D24A4-F409-4FBC-FC1D-ECB26D03A54A}"/>
              </a:ext>
            </a:extLst>
          </p:cNvPr>
          <p:cNvPicPr>
            <a:picLocks noChangeAspect="1"/>
          </p:cNvPicPr>
          <p:nvPr/>
        </p:nvPicPr>
        <p:blipFill rotWithShape="1">
          <a:blip r:embed="rId6"/>
          <a:srcRect b="21123"/>
          <a:stretch/>
        </p:blipFill>
        <p:spPr>
          <a:xfrm>
            <a:off x="204348" y="3154007"/>
            <a:ext cx="4752381" cy="1585047"/>
          </a:xfrm>
          <a:prstGeom prst="rect">
            <a:avLst/>
          </a:prstGeom>
        </p:spPr>
      </p:pic>
      <p:sp>
        <p:nvSpPr>
          <p:cNvPr id="14" name="文本框 13">
            <a:extLst>
              <a:ext uri="{FF2B5EF4-FFF2-40B4-BE49-F238E27FC236}">
                <a16:creationId xmlns:a16="http://schemas.microsoft.com/office/drawing/2014/main" id="{A5C9BD91-031B-4D4C-609B-7BC31801D38B}"/>
              </a:ext>
            </a:extLst>
          </p:cNvPr>
          <p:cNvSpPr txBox="1"/>
          <p:nvPr/>
        </p:nvSpPr>
        <p:spPr>
          <a:xfrm>
            <a:off x="190505" y="4965742"/>
            <a:ext cx="8874366" cy="1477328"/>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编译</a:t>
            </a:r>
            <a:r>
              <a:rPr lang="en-US" altLang="zh-CN" dirty="0">
                <a:latin typeface="Times New Roman" panose="02020603050405020304" pitchFamily="18" charset="0"/>
                <a:cs typeface="Times New Roman" panose="02020603050405020304" pitchFamily="18" charset="0"/>
              </a:rPr>
              <a:t>perf</a:t>
            </a:r>
            <a:r>
              <a:rPr lang="zh-CN" altLang="en-US" b="1" dirty="0">
                <a:latin typeface="宋体" panose="02010600030101010101" pitchFamily="2" charset="-122"/>
                <a:ea typeface="宋体" panose="02010600030101010101" pitchFamily="2" charset="-122"/>
              </a:rPr>
              <a:t>命令</a:t>
            </a:r>
            <a:r>
              <a:rPr lang="en-US" altLang="zh-CN" dirty="0"/>
              <a:t>(</a:t>
            </a:r>
            <a:r>
              <a:rPr lang="zh-CN" altLang="en-US" b="1" dirty="0">
                <a:latin typeface="宋体" panose="02010600030101010101" pitchFamily="2" charset="-122"/>
                <a:ea typeface="宋体" panose="02010600030101010101" pitchFamily="2" charset="-122"/>
              </a:rPr>
              <a:t>进入到内核源码</a:t>
            </a:r>
            <a:r>
              <a:rPr lang="en-US" altLang="zh-CN" b="1" dirty="0">
                <a:latin typeface="Times New Roman" panose="02020603050405020304" pitchFamily="18" charset="0"/>
                <a:cs typeface="Times New Roman" panose="02020603050405020304" pitchFamily="18" charset="0"/>
              </a:rPr>
              <a:t>tools/perf/</a:t>
            </a:r>
            <a:r>
              <a:rPr lang="zh-CN" altLang="en-US" b="1" dirty="0">
                <a:latin typeface="宋体" panose="02010600030101010101" pitchFamily="2" charset="-122"/>
                <a:ea typeface="宋体" panose="02010600030101010101" pitchFamily="2" charset="-122"/>
              </a:rPr>
              <a:t>目录下</a:t>
            </a:r>
            <a:r>
              <a:rPr lang="en-US" altLang="zh-CN" dirty="0"/>
              <a:t>)</a:t>
            </a:r>
          </a:p>
          <a:p>
            <a:r>
              <a:rPr lang="en-US" altLang="zh-CN" dirty="0" err="1">
                <a:latin typeface="Times New Roman" panose="02020603050405020304" pitchFamily="18" charset="0"/>
                <a:ea typeface="等线" panose="02010600030101010101" pitchFamily="2" charset="-122"/>
              </a:rPr>
              <a:t>r</a:t>
            </a:r>
            <a:r>
              <a:rPr lang="en-US" altLang="zh-CN" sz="1800" dirty="0" err="1">
                <a:effectLst/>
                <a:latin typeface="Times New Roman" panose="02020603050405020304" pitchFamily="18" charset="0"/>
                <a:ea typeface="等线" panose="02010600030101010101" pitchFamily="2" charset="-122"/>
              </a:rPr>
              <a:t>iscv</a:t>
            </a:r>
            <a:r>
              <a:rPr lang="zh-CN" altLang="en-US" sz="1800" dirty="0">
                <a:effectLst/>
                <a:latin typeface="Times New Roman" panose="02020603050405020304" pitchFamily="18" charset="0"/>
                <a:ea typeface="等线" panose="02010600030101010101" pitchFamily="2" charset="-122"/>
              </a:rPr>
              <a:t>架构</a:t>
            </a:r>
            <a:r>
              <a:rPr lang="en-US" altLang="zh-CN" sz="1800" dirty="0">
                <a:effectLst/>
                <a:latin typeface="Times New Roman" panose="02020603050405020304" pitchFamily="18" charset="0"/>
                <a:ea typeface="等线" panose="02010600030101010101" pitchFamily="2" charset="-122"/>
              </a:rPr>
              <a:t>: make ARCH=</a:t>
            </a:r>
            <a:r>
              <a:rPr lang="en-US" altLang="zh-CN" sz="1800" dirty="0" err="1">
                <a:effectLst/>
                <a:latin typeface="Times New Roman" panose="02020603050405020304" pitchFamily="18" charset="0"/>
                <a:ea typeface="等线" panose="02010600030101010101" pitchFamily="2" charset="-122"/>
              </a:rPr>
              <a:t>riscv</a:t>
            </a:r>
            <a:r>
              <a:rPr lang="en-US" altLang="zh-CN" sz="1800" dirty="0">
                <a:effectLst/>
                <a:latin typeface="Times New Roman" panose="02020603050405020304" pitchFamily="18" charset="0"/>
                <a:ea typeface="等线" panose="02010600030101010101" pitchFamily="2" charset="-122"/>
              </a:rPr>
              <a:t> WERROR=0 -j4</a:t>
            </a:r>
          </a:p>
          <a:p>
            <a:r>
              <a:rPr lang="zh-CN" altLang="en-US" dirty="0">
                <a:latin typeface="Times New Roman" panose="02020603050405020304" pitchFamily="18" charset="0"/>
                <a:ea typeface="等线" panose="02010600030101010101" pitchFamily="2" charset="-122"/>
              </a:rPr>
              <a:t>交叉编译</a:t>
            </a:r>
            <a:r>
              <a:rPr lang="en-US" altLang="zh-CN" dirty="0">
                <a:latin typeface="Times New Roman" panose="02020603050405020304" pitchFamily="18" charset="0"/>
                <a:ea typeface="等线" panose="02010600030101010101" pitchFamily="2" charset="-122"/>
              </a:rPr>
              <a:t>: make CROSS_COMPILE=riscv64-linux-gnu- ARCH=</a:t>
            </a:r>
            <a:r>
              <a:rPr lang="en-US" altLang="zh-CN" dirty="0" err="1">
                <a:latin typeface="Times New Roman" panose="02020603050405020304" pitchFamily="18" charset="0"/>
                <a:ea typeface="等线" panose="02010600030101010101" pitchFamily="2" charset="-122"/>
              </a:rPr>
              <a:t>riscv</a:t>
            </a:r>
            <a:r>
              <a:rPr lang="en-US" altLang="zh-CN" dirty="0">
                <a:latin typeface="Times New Roman" panose="02020603050405020304" pitchFamily="18" charset="0"/>
                <a:ea typeface="等线" panose="02010600030101010101" pitchFamily="2" charset="-122"/>
              </a:rPr>
              <a:t> WERROR=0 –j4</a:t>
            </a:r>
          </a:p>
          <a:p>
            <a:endParaRPr lang="en-US" altLang="zh-CN" dirty="0">
              <a:latin typeface="Times New Roman" panose="02020603050405020304" pitchFamily="18" charset="0"/>
              <a:ea typeface="等线" panose="02010600030101010101" pitchFamily="2" charset="-122"/>
            </a:endParaRPr>
          </a:p>
          <a:p>
            <a:r>
              <a:rPr lang="zh-CN" altLang="en-US" b="1" dirty="0">
                <a:latin typeface="宋体" panose="02010600030101010101" pitchFamily="2" charset="-122"/>
                <a:ea typeface="宋体" panose="02010600030101010101" pitchFamily="2" charset="-122"/>
              </a:rPr>
              <a:t>安装</a:t>
            </a:r>
            <a:r>
              <a:rPr lang="en-US" altLang="zh-CN" b="1" dirty="0">
                <a:latin typeface="Times New Roman" panose="02020603050405020304" pitchFamily="18" charset="0"/>
                <a:ea typeface="等线" panose="02010600030101010101" pitchFamily="2" charset="-122"/>
              </a:rPr>
              <a:t>perf</a:t>
            </a:r>
            <a:r>
              <a:rPr lang="en-US" altLang="zh-CN" dirty="0">
                <a:latin typeface="Times New Roman" panose="02020603050405020304" pitchFamily="18" charset="0"/>
                <a:ea typeface="等线" panose="02010600030101010101" pitchFamily="2" charset="-122"/>
              </a:rPr>
              <a:t>:    </a:t>
            </a:r>
            <a:r>
              <a:rPr lang="de-DE" altLang="zh-CN" dirty="0">
                <a:latin typeface="Times New Roman" panose="02020603050405020304" pitchFamily="18" charset="0"/>
                <a:ea typeface="等线" panose="02010600030101010101" pitchFamily="2" charset="-122"/>
              </a:rPr>
              <a:t>sudo cp ./perf /usr/bin/</a:t>
            </a:r>
            <a:endParaRPr lang="zh-CN" altLang="en-US" dirty="0">
              <a:latin typeface="Times New Roman" panose="02020603050405020304" pitchFamily="18" charset="0"/>
              <a:ea typeface="等线" panose="02010600030101010101" pitchFamily="2" charset="-122"/>
            </a:endParaRPr>
          </a:p>
        </p:txBody>
      </p:sp>
    </p:spTree>
    <p:extLst>
      <p:ext uri="{BB962C8B-B14F-4D97-AF65-F5344CB8AC3E}">
        <p14:creationId xmlns:p14="http://schemas.microsoft.com/office/powerpoint/2010/main" val="78872998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a:xfrm>
            <a:off x="0" y="634678"/>
            <a:ext cx="12192000"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依赖的第三方库</a:t>
            </a:r>
            <a:endParaRPr lang="zh-CN" altLang="en-US" dirty="0">
              <a:latin typeface="宋体" panose="02010600030101010101" pitchFamily="2" charset="-122"/>
              <a:ea typeface="宋体" panose="02010600030101010101" pitchFamily="2" charset="-122"/>
            </a:endParaRPr>
          </a:p>
        </p:txBody>
      </p:sp>
      <p:pic>
        <p:nvPicPr>
          <p:cNvPr id="1028" name="Picture 4">
            <a:extLst>
              <a:ext uri="{FF2B5EF4-FFF2-40B4-BE49-F238E27FC236}">
                <a16:creationId xmlns:a16="http://schemas.microsoft.com/office/drawing/2014/main" id="{49BDF107-4A99-E1A7-C283-6FBAF73A687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438" y="1685558"/>
            <a:ext cx="4276725" cy="3152775"/>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B3D4ECFE-667E-CDD9-5898-FA6AED791410}"/>
              </a:ext>
            </a:extLst>
          </p:cNvPr>
          <p:cNvSpPr txBox="1"/>
          <p:nvPr/>
        </p:nvSpPr>
        <p:spPr>
          <a:xfrm>
            <a:off x="70338" y="1252436"/>
            <a:ext cx="3244362" cy="369332"/>
          </a:xfrm>
          <a:prstGeom prst="rect">
            <a:avLst/>
          </a:prstGeom>
          <a:noFill/>
        </p:spPr>
        <p:txBody>
          <a:bodyPr wrap="square" rtlCol="0">
            <a:spAutoFit/>
          </a:bodyPr>
          <a:lstStyle/>
          <a:p>
            <a:r>
              <a:rPr lang="zh-CN" altLang="en-US" dirty="0"/>
              <a:t>源码编译</a:t>
            </a:r>
            <a:r>
              <a:rPr lang="en-US" altLang="zh-CN" dirty="0">
                <a:latin typeface="Times New Roman" panose="02020603050405020304" pitchFamily="18" charset="0"/>
                <a:cs typeface="Times New Roman" panose="02020603050405020304" pitchFamily="18" charset="0"/>
              </a:rPr>
              <a:t>perf</a:t>
            </a:r>
            <a:r>
              <a:rPr lang="zh-CN" altLang="en-US" dirty="0"/>
              <a:t>时检测到的特性</a:t>
            </a:r>
          </a:p>
        </p:txBody>
      </p:sp>
      <p:pic>
        <p:nvPicPr>
          <p:cNvPr id="1030" name="Picture 6">
            <a:extLst>
              <a:ext uri="{FF2B5EF4-FFF2-40B4-BE49-F238E27FC236}">
                <a16:creationId xmlns:a16="http://schemas.microsoft.com/office/drawing/2014/main" id="{51BDC4B4-5F2E-B9BE-886B-3C8E7CA875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8037" y="1685558"/>
            <a:ext cx="4872470" cy="3152775"/>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DFB57FD1-04A2-2CAC-0742-FAE2331948C5}"/>
              </a:ext>
            </a:extLst>
          </p:cNvPr>
          <p:cNvSpPr txBox="1"/>
          <p:nvPr/>
        </p:nvSpPr>
        <p:spPr>
          <a:xfrm>
            <a:off x="5709135" y="1296400"/>
            <a:ext cx="4872470" cy="369332"/>
          </a:xfrm>
          <a:prstGeom prst="rect">
            <a:avLst/>
          </a:prstGeom>
          <a:noFill/>
        </p:spPr>
        <p:txBody>
          <a:bodyPr wrap="square" rtlCol="0">
            <a:spAutoFit/>
          </a:bodyPr>
          <a:lstStyle/>
          <a:p>
            <a:r>
              <a:rPr lang="zh-CN" altLang="en-US" dirty="0"/>
              <a:t>查看最终生成的</a:t>
            </a:r>
            <a:r>
              <a:rPr lang="en-US" altLang="zh-CN" dirty="0">
                <a:latin typeface="Times New Roman" panose="02020603050405020304" pitchFamily="18" charset="0"/>
                <a:cs typeface="Times New Roman" panose="02020603050405020304" pitchFamily="18" charset="0"/>
              </a:rPr>
              <a:t>perf</a:t>
            </a:r>
            <a:r>
              <a:rPr lang="zh-CN" altLang="en-US" dirty="0"/>
              <a:t>生效的特性</a:t>
            </a:r>
            <a:r>
              <a:rPr lang="en-US" altLang="zh-CN" dirty="0">
                <a:latin typeface="Times New Roman" panose="02020603050405020304" pitchFamily="18" charset="0"/>
                <a:cs typeface="Times New Roman" panose="02020603050405020304" pitchFamily="18" charset="0"/>
              </a:rPr>
              <a:t>(./perf -</a:t>
            </a:r>
            <a:r>
              <a:rPr lang="en-US" altLang="zh-CN" dirty="0" err="1">
                <a:latin typeface="Times New Roman" panose="02020603050405020304" pitchFamily="18" charset="0"/>
                <a:cs typeface="Times New Roman" panose="02020603050405020304" pitchFamily="18" charset="0"/>
              </a:rPr>
              <a:t>vv</a:t>
            </a:r>
            <a:r>
              <a:rPr lang="en-US"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
        <p:nvSpPr>
          <p:cNvPr id="12" name="文本框 11">
            <a:extLst>
              <a:ext uri="{FF2B5EF4-FFF2-40B4-BE49-F238E27FC236}">
                <a16:creationId xmlns:a16="http://schemas.microsoft.com/office/drawing/2014/main" id="{B5FB81F0-0984-6CC1-3372-9C0DEAF27B00}"/>
              </a:ext>
            </a:extLst>
          </p:cNvPr>
          <p:cNvSpPr txBox="1"/>
          <p:nvPr/>
        </p:nvSpPr>
        <p:spPr>
          <a:xfrm>
            <a:off x="70339" y="5372100"/>
            <a:ext cx="12045462" cy="923330"/>
          </a:xfrm>
          <a:prstGeom prst="rect">
            <a:avLst/>
          </a:prstGeom>
          <a:noFill/>
        </p:spPr>
        <p:txBody>
          <a:bodyPr wrap="square" rtlCol="0">
            <a:spAutoFit/>
          </a:bodyPr>
          <a:lstStyle/>
          <a:p>
            <a:pPr marL="285750" indent="-285750">
              <a:buFont typeface="Wingdings" panose="05000000000000000000" pitchFamily="2" charset="2"/>
              <a:buChar char="Ø"/>
            </a:pPr>
            <a:r>
              <a:rPr lang="zh-CN" altLang="en-US" dirty="0"/>
              <a:t>必须安装的库：</a:t>
            </a:r>
            <a:r>
              <a:rPr lang="en-US" altLang="zh-CN" dirty="0">
                <a:latin typeface="Times New Roman" panose="02020603050405020304" pitchFamily="18" charset="0"/>
                <a:cs typeface="Times New Roman" panose="02020603050405020304" pitchFamily="18" charset="0"/>
              </a:rPr>
              <a:t>dwarf</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libelf</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libdw</a:t>
            </a:r>
            <a:r>
              <a:rPr lang="en-US" altLang="zh-CN" dirty="0">
                <a:latin typeface="Times New Roman" panose="02020603050405020304" pitchFamily="18" charset="0"/>
                <a:cs typeface="Times New Roman" panose="02020603050405020304" pitchFamily="18" charset="0"/>
              </a:rPr>
              <a:t>-dwarf-unwind</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libtraceevent</a:t>
            </a:r>
            <a:endParaRPr lang="en-US" altLang="zh-CN" dirty="0">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Ø"/>
            </a:pPr>
            <a:r>
              <a:rPr lang="zh-CN" altLang="en-US" dirty="0"/>
              <a:t>编译时与最终生成的</a:t>
            </a:r>
            <a:r>
              <a:rPr lang="en-US" altLang="zh-CN" dirty="0">
                <a:latin typeface="Times New Roman" panose="02020603050405020304" pitchFamily="18" charset="0"/>
                <a:cs typeface="Times New Roman" panose="02020603050405020304" pitchFamily="18" charset="0"/>
              </a:rPr>
              <a:t>perf</a:t>
            </a:r>
            <a:r>
              <a:rPr lang="zh-CN" altLang="en-US" dirty="0"/>
              <a:t>所能链接上的库不一致时，表明内核有</a:t>
            </a:r>
            <a:r>
              <a:rPr lang="en-US" altLang="zh-CN" dirty="0"/>
              <a:t>bug,</a:t>
            </a:r>
            <a:r>
              <a:rPr lang="zh-CN" altLang="en-US" dirty="0"/>
              <a:t>但只要必须安装的库被链接上，</a:t>
            </a:r>
            <a:r>
              <a:rPr lang="en-US" altLang="zh-CN" dirty="0"/>
              <a:t>perf</a:t>
            </a:r>
            <a:r>
              <a:rPr lang="zh-CN" altLang="en-US" dirty="0"/>
              <a:t>也是可以正常使用</a:t>
            </a:r>
          </a:p>
        </p:txBody>
      </p:sp>
    </p:spTree>
    <p:extLst>
      <p:ext uri="{BB962C8B-B14F-4D97-AF65-F5344CB8AC3E}">
        <p14:creationId xmlns:p14="http://schemas.microsoft.com/office/powerpoint/2010/main" val="1724229129"/>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a:xfrm>
            <a:off x="0" y="634678"/>
            <a:ext cx="12192000"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支持的命令</a:t>
            </a:r>
            <a:endParaRPr lang="zh-CN" altLang="en-US" dirty="0">
              <a:latin typeface="宋体" panose="02010600030101010101" pitchFamily="2" charset="-122"/>
              <a:ea typeface="宋体" panose="02010600030101010101" pitchFamily="2" charset="-122"/>
            </a:endParaRPr>
          </a:p>
        </p:txBody>
      </p:sp>
      <p:pic>
        <p:nvPicPr>
          <p:cNvPr id="6" name="图片 5">
            <a:extLst>
              <a:ext uri="{FF2B5EF4-FFF2-40B4-BE49-F238E27FC236}">
                <a16:creationId xmlns:a16="http://schemas.microsoft.com/office/drawing/2014/main" id="{FB63C958-D7A3-7FD2-2C6E-5DA64C067BBF}"/>
              </a:ext>
            </a:extLst>
          </p:cNvPr>
          <p:cNvPicPr>
            <a:picLocks noChangeAspect="1"/>
          </p:cNvPicPr>
          <p:nvPr/>
        </p:nvPicPr>
        <p:blipFill>
          <a:blip r:embed="rId3"/>
          <a:stretch>
            <a:fillRect/>
          </a:stretch>
        </p:blipFill>
        <p:spPr>
          <a:xfrm>
            <a:off x="4815487" y="1196752"/>
            <a:ext cx="7376513" cy="5244870"/>
          </a:xfrm>
          <a:prstGeom prst="rect">
            <a:avLst/>
          </a:prstGeom>
        </p:spPr>
      </p:pic>
      <p:sp>
        <p:nvSpPr>
          <p:cNvPr id="7" name="文本框 6">
            <a:extLst>
              <a:ext uri="{FF2B5EF4-FFF2-40B4-BE49-F238E27FC236}">
                <a16:creationId xmlns:a16="http://schemas.microsoft.com/office/drawing/2014/main" id="{6DE47F40-957E-F6FB-7932-D8A0C38DBC8C}"/>
              </a:ext>
            </a:extLst>
          </p:cNvPr>
          <p:cNvSpPr txBox="1"/>
          <p:nvPr/>
        </p:nvSpPr>
        <p:spPr>
          <a:xfrm>
            <a:off x="0" y="2076450"/>
            <a:ext cx="4714875" cy="3228975"/>
          </a:xfrm>
          <a:prstGeom prst="rect">
            <a:avLst/>
          </a:prstGeom>
          <a:noFill/>
        </p:spPr>
        <p:txBody>
          <a:bodyPr wrap="square" rtlCol="0">
            <a:spAutoFit/>
          </a:bodyPr>
          <a:lstStyle/>
          <a:p>
            <a:pPr marL="285750" indent="-285750" algn="just">
              <a:buFont typeface="Wingdings" panose="05000000000000000000" pitchFamily="2" charset="2"/>
              <a:buChar char="Ø"/>
            </a:pPr>
            <a:r>
              <a:rPr lang="en-US" altLang="zh-CN" dirty="0">
                <a:latin typeface="Times New Roman" panose="02020603050405020304" pitchFamily="18" charset="0"/>
                <a:ea typeface="宋体" panose="02010600030101010101" pitchFamily="2" charset="-122"/>
                <a:cs typeface="Times New Roman" panose="02020603050405020304" pitchFamily="18" charset="0"/>
              </a:rPr>
              <a:t>list</a:t>
            </a:r>
            <a:r>
              <a:rPr lang="zh-CN" altLang="en-US" dirty="0">
                <a:latin typeface="宋体" panose="02010600030101010101" pitchFamily="2" charset="-122"/>
                <a:ea typeface="宋体" panose="02010600030101010101" pitchFamily="2" charset="-122"/>
              </a:rPr>
              <a:t>：列出所有象征性的事件类型</a:t>
            </a:r>
            <a:endParaRPr lang="en-US" altLang="zh-CN" dirty="0">
              <a:latin typeface="宋体" panose="02010600030101010101" pitchFamily="2" charset="-122"/>
              <a:ea typeface="宋体" panose="02010600030101010101" pitchFamily="2" charset="-122"/>
            </a:endParaRPr>
          </a:p>
          <a:p>
            <a:pPr algn="just"/>
            <a:endParaRPr lang="en-US" altLang="zh-CN" sz="1600" dirty="0">
              <a:latin typeface="宋体" panose="02010600030101010101" pitchFamily="2" charset="-122"/>
              <a:ea typeface="宋体" panose="02010600030101010101" pitchFamily="2" charset="-122"/>
            </a:endParaRPr>
          </a:p>
          <a:p>
            <a:pPr marL="285750" indent="-285750" algn="just">
              <a:buFont typeface="Wingdings" panose="05000000000000000000" pitchFamily="2" charset="2"/>
              <a:buChar char="Ø"/>
            </a:pPr>
            <a:r>
              <a:rPr lang="en-US" altLang="zh-CN" dirty="0">
                <a:latin typeface="Times New Roman" panose="02020603050405020304" pitchFamily="18" charset="0"/>
                <a:ea typeface="宋体" panose="02010600030101010101" pitchFamily="2" charset="-122"/>
                <a:cs typeface="Times New Roman" panose="02020603050405020304" pitchFamily="18" charset="0"/>
              </a:rPr>
              <a:t>record</a:t>
            </a:r>
            <a:r>
              <a:rPr lang="zh-CN" altLang="en-US" dirty="0">
                <a:latin typeface="宋体" panose="02010600030101010101" pitchFamily="2" charset="-122"/>
                <a:ea typeface="宋体" panose="02010600030101010101" pitchFamily="2" charset="-122"/>
              </a:rPr>
              <a:t>：将所有的分析记录进</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perf.data</a:t>
            </a:r>
            <a:endParaRPr lang="en-US" altLang="zh-CN" dirty="0">
              <a:latin typeface="Times New Roman" panose="02020603050405020304" pitchFamily="18" charset="0"/>
              <a:ea typeface="宋体" panose="02010600030101010101" pitchFamily="2" charset="-122"/>
              <a:cs typeface="Times New Roman" panose="02020603050405020304" pitchFamily="18" charset="0"/>
            </a:endParaRPr>
          </a:p>
          <a:p>
            <a:pPr algn="just"/>
            <a:endParaRPr lang="en-US" altLang="zh-CN" dirty="0"/>
          </a:p>
          <a:p>
            <a:pPr marL="285750" indent="-285750" algn="just">
              <a:buFont typeface="Wingdings" panose="05000000000000000000" pitchFamily="2" charset="2"/>
              <a:buChar char="Ø"/>
            </a:pPr>
            <a:r>
              <a:rPr lang="en-US" altLang="zh-CN" dirty="0">
                <a:latin typeface="Times New Roman" panose="02020603050405020304" pitchFamily="18" charset="0"/>
                <a:ea typeface="宋体" panose="02010600030101010101" pitchFamily="2" charset="-122"/>
                <a:cs typeface="Times New Roman" panose="02020603050405020304" pitchFamily="18" charset="0"/>
              </a:rPr>
              <a:t>report</a:t>
            </a:r>
            <a:r>
              <a:rPr lang="zh-CN" altLang="en-US" dirty="0">
                <a:latin typeface="宋体" panose="02010600030101010101" pitchFamily="2" charset="-122"/>
                <a:ea typeface="宋体" panose="02010600030101010101" pitchFamily="2" charset="-122"/>
              </a:rPr>
              <a:t>：读取</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perf.data</a:t>
            </a:r>
            <a:r>
              <a:rPr lang="en-US" altLang="zh-CN" dirty="0">
                <a:latin typeface="宋体" panose="02010600030101010101" pitchFamily="2" charset="-122"/>
                <a:ea typeface="宋体" panose="02010600030101010101" pitchFamily="2" charset="-122"/>
                <a:cs typeface="Times New Roman" panose="02020603050405020304" pitchFamily="18" charset="0"/>
              </a:rPr>
              <a:t>(</a:t>
            </a:r>
            <a:r>
              <a:rPr lang="zh-CN" altLang="en-US" dirty="0">
                <a:latin typeface="宋体" panose="02010600030101010101" pitchFamily="2" charset="-122"/>
                <a:ea typeface="宋体" panose="02010600030101010101" pitchFamily="2" charset="-122"/>
              </a:rPr>
              <a:t>由</a:t>
            </a:r>
            <a:r>
              <a:rPr lang="en-US" altLang="zh-CN" dirty="0">
                <a:latin typeface="Times New Roman" panose="02020603050405020304" pitchFamily="18" charset="0"/>
                <a:ea typeface="宋体" panose="02010600030101010101" pitchFamily="2" charset="-122"/>
                <a:cs typeface="Times New Roman" panose="02020603050405020304" pitchFamily="18" charset="0"/>
              </a:rPr>
              <a:t>perf</a:t>
            </a:r>
            <a:r>
              <a:rPr lang="zh-CN" altLang="en-US" dirty="0">
                <a:latin typeface="宋体" panose="02010600030101010101" pitchFamily="2" charset="-122"/>
                <a:ea typeface="宋体" panose="02010600030101010101" pitchFamily="2" charset="-122"/>
                <a:cs typeface="Times New Roman" panose="02020603050405020304" pitchFamily="18" charset="0"/>
              </a:rPr>
              <a:t> </a:t>
            </a:r>
            <a:r>
              <a:rPr lang="en-US" altLang="zh-CN" dirty="0">
                <a:latin typeface="Times New Roman" panose="02020603050405020304" pitchFamily="18" charset="0"/>
                <a:ea typeface="宋体" panose="02010600030101010101" pitchFamily="2" charset="-122"/>
                <a:cs typeface="Times New Roman" panose="02020603050405020304" pitchFamily="18" charset="0"/>
              </a:rPr>
              <a:t>record</a:t>
            </a:r>
            <a:r>
              <a:rPr lang="zh-CN" altLang="en-US" dirty="0">
                <a:latin typeface="宋体" panose="02010600030101010101" pitchFamily="2" charset="-122"/>
                <a:ea typeface="宋体" panose="02010600030101010101" pitchFamily="2" charset="-122"/>
              </a:rPr>
              <a:t>创建</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并显示概况</a:t>
            </a:r>
            <a:endParaRPr lang="en-US" altLang="zh-CN" dirty="0">
              <a:latin typeface="宋体" panose="02010600030101010101" pitchFamily="2" charset="-122"/>
              <a:ea typeface="宋体" panose="02010600030101010101" pitchFamily="2" charset="-122"/>
            </a:endParaRPr>
          </a:p>
          <a:p>
            <a:pPr algn="just"/>
            <a:endParaRPr lang="en-US" altLang="zh-CN" dirty="0">
              <a:latin typeface="宋体" panose="02010600030101010101" pitchFamily="2" charset="-122"/>
              <a:ea typeface="宋体" panose="02010600030101010101" pitchFamily="2" charset="-122"/>
            </a:endParaRPr>
          </a:p>
          <a:p>
            <a:pPr marL="285750" indent="-285750" algn="just">
              <a:buFont typeface="Wingdings" panose="05000000000000000000" pitchFamily="2" charset="2"/>
              <a:buChar char="Ø"/>
            </a:pPr>
            <a:r>
              <a:rPr lang="en-US" altLang="zh-CN" dirty="0">
                <a:latin typeface="Times New Roman" panose="02020603050405020304" pitchFamily="18" charset="0"/>
                <a:ea typeface="宋体" panose="02010600030101010101" pitchFamily="2" charset="-122"/>
                <a:cs typeface="Times New Roman" panose="02020603050405020304" pitchFamily="18" charset="0"/>
              </a:rPr>
              <a:t>stat</a:t>
            </a:r>
            <a:r>
              <a:rPr lang="zh-CN" altLang="en-US" dirty="0">
                <a:latin typeface="宋体" panose="02010600030101010101" pitchFamily="2" charset="-122"/>
                <a:ea typeface="宋体" panose="02010600030101010101" pitchFamily="2" charset="-122"/>
              </a:rPr>
              <a:t>：运行一个命令并收集性能计数器的统计数据</a:t>
            </a:r>
            <a:endParaRPr lang="en-US" altLang="zh-CN" dirty="0">
              <a:latin typeface="宋体" panose="02010600030101010101" pitchFamily="2" charset="-122"/>
              <a:ea typeface="宋体" panose="02010600030101010101" pitchFamily="2" charset="-122"/>
            </a:endParaRPr>
          </a:p>
          <a:p>
            <a:pPr algn="just"/>
            <a:endParaRPr lang="en-US" altLang="zh-CN" dirty="0">
              <a:latin typeface="宋体" panose="02010600030101010101" pitchFamily="2" charset="-122"/>
              <a:ea typeface="宋体" panose="02010600030101010101" pitchFamily="2" charset="-122"/>
            </a:endParaRPr>
          </a:p>
          <a:p>
            <a:pPr marL="285750" indent="-285750" algn="just">
              <a:buFont typeface="Wingdings" panose="05000000000000000000" pitchFamily="2" charset="2"/>
              <a:buChar char="Ø"/>
            </a:pPr>
            <a:r>
              <a:rPr lang="en-US" altLang="zh-CN" dirty="0">
                <a:latin typeface="Times New Roman" panose="02020603050405020304" pitchFamily="18" charset="0"/>
                <a:ea typeface="宋体" panose="02010600030101010101" pitchFamily="2" charset="-122"/>
                <a:cs typeface="Times New Roman" panose="02020603050405020304" pitchFamily="18" charset="0"/>
              </a:rPr>
              <a:t>top</a:t>
            </a:r>
            <a:r>
              <a:rPr lang="zh-CN" altLang="en-US" dirty="0">
                <a:latin typeface="宋体" panose="02010600030101010101" pitchFamily="2" charset="-122"/>
                <a:ea typeface="宋体" panose="02010600030101010101" pitchFamily="2" charset="-122"/>
              </a:rPr>
              <a:t>：系统分析工具</a:t>
            </a:r>
          </a:p>
        </p:txBody>
      </p:sp>
    </p:spTree>
    <p:extLst>
      <p:ext uri="{BB962C8B-B14F-4D97-AF65-F5344CB8AC3E}">
        <p14:creationId xmlns:p14="http://schemas.microsoft.com/office/powerpoint/2010/main" val="1340410150"/>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 list</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查看事件类型</a:t>
            </a:r>
            <a:endParaRPr lang="zh-CN" altLang="en-US" dirty="0">
              <a:latin typeface="宋体" panose="02010600030101010101" pitchFamily="2" charset="-122"/>
              <a:ea typeface="宋体" panose="02010600030101010101" pitchFamily="2" charset="-122"/>
            </a:endParaRPr>
          </a:p>
        </p:txBody>
      </p:sp>
      <p:sp>
        <p:nvSpPr>
          <p:cNvPr id="3" name="文本框 2">
            <a:extLst>
              <a:ext uri="{FF2B5EF4-FFF2-40B4-BE49-F238E27FC236}">
                <a16:creationId xmlns:a16="http://schemas.microsoft.com/office/drawing/2014/main" id="{B3D4ECFE-667E-CDD9-5898-FA6AED791410}"/>
              </a:ext>
            </a:extLst>
          </p:cNvPr>
          <p:cNvSpPr txBox="1"/>
          <p:nvPr/>
        </p:nvSpPr>
        <p:spPr>
          <a:xfrm>
            <a:off x="70338" y="1281011"/>
            <a:ext cx="3244362"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硬件事件类型</a:t>
            </a:r>
          </a:p>
        </p:txBody>
      </p:sp>
      <p:pic>
        <p:nvPicPr>
          <p:cNvPr id="6" name="图片 5">
            <a:extLst>
              <a:ext uri="{FF2B5EF4-FFF2-40B4-BE49-F238E27FC236}">
                <a16:creationId xmlns:a16="http://schemas.microsoft.com/office/drawing/2014/main" id="{DE0C3DA9-764C-5F92-397A-AB68F5DFF503}"/>
              </a:ext>
            </a:extLst>
          </p:cNvPr>
          <p:cNvPicPr>
            <a:picLocks noChangeAspect="1"/>
          </p:cNvPicPr>
          <p:nvPr/>
        </p:nvPicPr>
        <p:blipFill>
          <a:blip r:embed="rId3"/>
          <a:stretch>
            <a:fillRect/>
          </a:stretch>
        </p:blipFill>
        <p:spPr>
          <a:xfrm>
            <a:off x="89388" y="1741113"/>
            <a:ext cx="4932484" cy="1473339"/>
          </a:xfrm>
          <a:prstGeom prst="rect">
            <a:avLst/>
          </a:prstGeom>
        </p:spPr>
      </p:pic>
      <p:pic>
        <p:nvPicPr>
          <p:cNvPr id="8" name="图片 7">
            <a:extLst>
              <a:ext uri="{FF2B5EF4-FFF2-40B4-BE49-F238E27FC236}">
                <a16:creationId xmlns:a16="http://schemas.microsoft.com/office/drawing/2014/main" id="{06284BAB-251E-CE4B-C86C-251C964A2B36}"/>
              </a:ext>
            </a:extLst>
          </p:cNvPr>
          <p:cNvPicPr>
            <a:picLocks noChangeAspect="1"/>
          </p:cNvPicPr>
          <p:nvPr/>
        </p:nvPicPr>
        <p:blipFill>
          <a:blip r:embed="rId4"/>
          <a:stretch>
            <a:fillRect/>
          </a:stretch>
        </p:blipFill>
        <p:spPr>
          <a:xfrm>
            <a:off x="5487250" y="1728016"/>
            <a:ext cx="6589986" cy="1473339"/>
          </a:xfrm>
          <a:prstGeom prst="rect">
            <a:avLst/>
          </a:prstGeom>
        </p:spPr>
      </p:pic>
      <p:sp>
        <p:nvSpPr>
          <p:cNvPr id="9" name="文本框 8">
            <a:extLst>
              <a:ext uri="{FF2B5EF4-FFF2-40B4-BE49-F238E27FC236}">
                <a16:creationId xmlns:a16="http://schemas.microsoft.com/office/drawing/2014/main" id="{E46E62DC-FB63-600C-CF06-10FFCC327863}"/>
              </a:ext>
            </a:extLst>
          </p:cNvPr>
          <p:cNvSpPr txBox="1"/>
          <p:nvPr/>
        </p:nvSpPr>
        <p:spPr>
          <a:xfrm>
            <a:off x="82064" y="3687906"/>
            <a:ext cx="3244362"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软件事件类型</a:t>
            </a:r>
          </a:p>
        </p:txBody>
      </p:sp>
      <p:pic>
        <p:nvPicPr>
          <p:cNvPr id="11" name="图片 10">
            <a:extLst>
              <a:ext uri="{FF2B5EF4-FFF2-40B4-BE49-F238E27FC236}">
                <a16:creationId xmlns:a16="http://schemas.microsoft.com/office/drawing/2014/main" id="{367EA544-B26C-44E0-DFD9-3DF1E84F0277}"/>
              </a:ext>
            </a:extLst>
          </p:cNvPr>
          <p:cNvPicPr>
            <a:picLocks noChangeAspect="1"/>
          </p:cNvPicPr>
          <p:nvPr/>
        </p:nvPicPr>
        <p:blipFill>
          <a:blip r:embed="rId5"/>
          <a:stretch>
            <a:fillRect/>
          </a:stretch>
        </p:blipFill>
        <p:spPr>
          <a:xfrm>
            <a:off x="64480" y="4109994"/>
            <a:ext cx="7276190" cy="2342857"/>
          </a:xfrm>
          <a:prstGeom prst="rect">
            <a:avLst/>
          </a:prstGeom>
        </p:spPr>
      </p:pic>
    </p:spTree>
    <p:extLst>
      <p:ext uri="{BB962C8B-B14F-4D97-AF65-F5344CB8AC3E}">
        <p14:creationId xmlns:p14="http://schemas.microsoft.com/office/powerpoint/2010/main" val="259096804"/>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p:txBody>
          <a:bodyPr/>
          <a:lstStyle/>
          <a:p>
            <a:r>
              <a:rPr lang="en-US" altLang="zh-CN" dirty="0" err="1">
                <a:solidFill>
                  <a:srgbClr val="10218B"/>
                </a:solidFill>
                <a:latin typeface="Times New Roman" panose="02020603050405020304" pitchFamily="18" charset="0"/>
                <a:cs typeface="+mn-ea"/>
                <a:sym typeface="Times New Roman" panose="02020603050405020304" pitchFamily="18" charset="0"/>
              </a:rPr>
              <a:t>hackbench</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测试集</a:t>
            </a:r>
            <a:endParaRPr lang="zh-CN" altLang="en-US"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9F3B2B3F-B514-55DB-3059-304ABD01C584}"/>
              </a:ext>
            </a:extLst>
          </p:cNvPr>
          <p:cNvSpPr txBox="1"/>
          <p:nvPr/>
        </p:nvSpPr>
        <p:spPr>
          <a:xfrm>
            <a:off x="212973" y="2217861"/>
            <a:ext cx="6073528" cy="923330"/>
          </a:xfrm>
          <a:prstGeom prst="rect">
            <a:avLst/>
          </a:prstGeom>
          <a:noFill/>
        </p:spPr>
        <p:txBody>
          <a:bodyPr wrap="square" rtlCol="0">
            <a:spAutoFit/>
          </a:bodyPr>
          <a:lstStyle/>
          <a:p>
            <a:pPr algn="just"/>
            <a:r>
              <a:rPr lang="en-US" altLang="zh-CN" sz="1800" kern="100" dirty="0" err="1">
                <a:effectLst/>
                <a:latin typeface="Times New Roman" panose="02020603050405020304" pitchFamily="18" charset="0"/>
                <a:ea typeface="宋体" panose="02010600030101010101" pitchFamily="2" charset="-122"/>
                <a:cs typeface="Times New Roman" panose="02020603050405020304" pitchFamily="18" charset="0"/>
              </a:rPr>
              <a:t>hackbench</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下载源码</a:t>
            </a:r>
            <a:r>
              <a:rPr lang="zh-CN"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u="sng" kern="100" dirty="0">
                <a:solidFill>
                  <a:srgbClr val="0563C1"/>
                </a:solidFill>
                <a:effectLst/>
                <a:latin typeface="Times New Roman" panose="02020603050405020304" pitchFamily="18" charset="0"/>
                <a:ea typeface="等线" panose="02010600030101010101" pitchFamily="2" charset="-122"/>
                <a:cs typeface="Times New Roman" panose="02020603050405020304" pitchFamily="18" charset="0"/>
                <a:hlinkClick r:id="rId3"/>
              </a:rPr>
              <a:t>https://github.com/FraSharp/hackbench</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algn="just"/>
            <a:r>
              <a:rPr lang="en-US" altLang="zh-CN" sz="1800" u="sng" kern="100" dirty="0">
                <a:solidFill>
                  <a:srgbClr val="0563C1"/>
                </a:solidFill>
                <a:effectLst/>
                <a:latin typeface="Times New Roman" panose="02020603050405020304" pitchFamily="18" charset="0"/>
                <a:ea typeface="等线" panose="02010600030101010101" pitchFamily="2" charset="-122"/>
                <a:cs typeface="Times New Roman" panose="02020603050405020304" pitchFamily="18" charset="0"/>
              </a:rPr>
              <a:t>git clone </a:t>
            </a:r>
            <a:r>
              <a:rPr lang="en-US" altLang="zh-CN" sz="1800" u="sng" kern="100" dirty="0">
                <a:solidFill>
                  <a:srgbClr val="0563C1"/>
                </a:solidFill>
                <a:effectLst/>
                <a:latin typeface="Times New Roman" panose="02020603050405020304" pitchFamily="18" charset="0"/>
                <a:ea typeface="等线" panose="02010600030101010101" pitchFamily="2" charset="-122"/>
                <a:cs typeface="Times New Roman" panose="02020603050405020304" pitchFamily="18" charset="0"/>
                <a:hlinkClick r:id="rId4"/>
              </a:rPr>
              <a:t>https://github.com/FraSharp/hackbench.git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8" name="文本框 7">
            <a:extLst>
              <a:ext uri="{FF2B5EF4-FFF2-40B4-BE49-F238E27FC236}">
                <a16:creationId xmlns:a16="http://schemas.microsoft.com/office/drawing/2014/main" id="{2F01DE00-77C9-B8F5-8D86-AC3635496ACB}"/>
              </a:ext>
            </a:extLst>
          </p:cNvPr>
          <p:cNvSpPr txBox="1"/>
          <p:nvPr/>
        </p:nvSpPr>
        <p:spPr>
          <a:xfrm>
            <a:off x="239348" y="3182820"/>
            <a:ext cx="9177213" cy="369332"/>
          </a:xfrm>
          <a:prstGeom prst="rect">
            <a:avLst/>
          </a:prstGeom>
          <a:noFill/>
        </p:spPr>
        <p:txBody>
          <a:bodyPr wrap="square" rtlCol="0">
            <a:spAutoFit/>
          </a:bodyPr>
          <a:lstStyle/>
          <a:p>
            <a:r>
              <a:rPr lang="en-US" altLang="zh-CN" sz="1800" dirty="0" err="1">
                <a:effectLst/>
                <a:latin typeface="Times New Roman" panose="02020603050405020304" pitchFamily="18" charset="0"/>
                <a:ea typeface="等线" panose="02010600030101010101" pitchFamily="2" charset="-122"/>
              </a:rPr>
              <a:t>hackbench</a:t>
            </a:r>
            <a:r>
              <a:rPr lang="zh-CN" altLang="zh-CN" sz="1800" dirty="0">
                <a:effectLst/>
                <a:latin typeface="Times New Roman" panose="02020603050405020304" pitchFamily="18" charset="0"/>
                <a:ea typeface="宋体" panose="02010600030101010101" pitchFamily="2" charset="-122"/>
                <a:cs typeface="Times New Roman" panose="02020603050405020304" pitchFamily="18" charset="0"/>
              </a:rPr>
              <a:t>编译</a:t>
            </a:r>
            <a:r>
              <a:rPr lang="zh-CN" altLang="zh-CN" sz="1800" dirty="0">
                <a:effectLst/>
                <a:latin typeface="Times New Roman" panose="02020603050405020304" pitchFamily="18" charset="0"/>
                <a:ea typeface="等线" panose="02010600030101010101" pitchFamily="2" charset="-122"/>
                <a:cs typeface="Times New Roman" panose="02020603050405020304" pitchFamily="18" charset="0"/>
              </a:rPr>
              <a:t>：</a:t>
            </a:r>
            <a:r>
              <a:rPr lang="zh-CN" altLang="zh-CN" sz="1800" dirty="0">
                <a:effectLst/>
                <a:ea typeface="Times New Roman" panose="02020603050405020304" pitchFamily="18" charset="0"/>
              </a:rPr>
              <a:t> </a:t>
            </a:r>
            <a:r>
              <a:rPr lang="en-US" altLang="zh-CN" sz="1800" dirty="0" err="1">
                <a:effectLst/>
                <a:latin typeface="Times New Roman" panose="02020603050405020304" pitchFamily="18" charset="0"/>
                <a:ea typeface="等线" panose="02010600030101010101" pitchFamily="2" charset="-122"/>
              </a:rPr>
              <a:t>gcc</a:t>
            </a:r>
            <a:r>
              <a:rPr lang="en-US" altLang="zh-CN" sz="1800" dirty="0">
                <a:effectLst/>
                <a:latin typeface="Times New Roman" panose="02020603050405020304" pitchFamily="18" charset="0"/>
                <a:ea typeface="等线" panose="02010600030101010101" pitchFamily="2" charset="-122"/>
              </a:rPr>
              <a:t> -static -O0 -g -</a:t>
            </a:r>
            <a:r>
              <a:rPr lang="en-US" altLang="zh-CN" sz="1800" dirty="0" err="1">
                <a:effectLst/>
                <a:latin typeface="Times New Roman" panose="02020603050405020304" pitchFamily="18" charset="0"/>
                <a:ea typeface="等线" panose="02010600030101010101" pitchFamily="2" charset="-122"/>
              </a:rPr>
              <a:t>fno</a:t>
            </a:r>
            <a:r>
              <a:rPr lang="en-US" altLang="zh-CN" sz="1800" dirty="0">
                <a:effectLst/>
                <a:latin typeface="Times New Roman" panose="02020603050405020304" pitchFamily="18" charset="0"/>
                <a:ea typeface="等线" panose="02010600030101010101" pitchFamily="2" charset="-122"/>
              </a:rPr>
              <a:t>-omit-frame-pointer </a:t>
            </a:r>
            <a:r>
              <a:rPr lang="en-US" altLang="zh-CN" sz="1800" dirty="0" err="1">
                <a:effectLst/>
                <a:latin typeface="Times New Roman" panose="02020603050405020304" pitchFamily="18" charset="0"/>
                <a:ea typeface="等线" panose="02010600030101010101" pitchFamily="2" charset="-122"/>
              </a:rPr>
              <a:t>hackbench.c</a:t>
            </a:r>
            <a:r>
              <a:rPr lang="en-US" altLang="zh-CN" sz="1800" dirty="0">
                <a:effectLst/>
                <a:latin typeface="Times New Roman" panose="02020603050405020304" pitchFamily="18" charset="0"/>
                <a:ea typeface="等线" panose="02010600030101010101" pitchFamily="2" charset="-122"/>
              </a:rPr>
              <a:t> -o </a:t>
            </a:r>
            <a:r>
              <a:rPr lang="en-US" altLang="zh-CN" sz="1800" dirty="0" err="1">
                <a:effectLst/>
                <a:latin typeface="Times New Roman" panose="02020603050405020304" pitchFamily="18" charset="0"/>
                <a:ea typeface="等线" panose="02010600030101010101" pitchFamily="2" charset="-122"/>
              </a:rPr>
              <a:t>hackbench</a:t>
            </a:r>
            <a:r>
              <a:rPr lang="en-US" altLang="zh-CN" sz="1800" dirty="0">
                <a:effectLst/>
                <a:latin typeface="Times New Roman" panose="02020603050405020304" pitchFamily="18" charset="0"/>
                <a:ea typeface="等线" panose="02010600030101010101" pitchFamily="2" charset="-122"/>
              </a:rPr>
              <a:t> -</a:t>
            </a:r>
            <a:r>
              <a:rPr lang="en-US" altLang="zh-CN" sz="1800" dirty="0" err="1">
                <a:effectLst/>
                <a:latin typeface="Times New Roman" panose="02020603050405020304" pitchFamily="18" charset="0"/>
                <a:ea typeface="等线" panose="02010600030101010101" pitchFamily="2" charset="-122"/>
              </a:rPr>
              <a:t>lpthread</a:t>
            </a:r>
            <a:endParaRPr lang="zh-CN" altLang="en-US" dirty="0"/>
          </a:p>
        </p:txBody>
      </p:sp>
      <p:sp>
        <p:nvSpPr>
          <p:cNvPr id="9" name="文本框 8">
            <a:extLst>
              <a:ext uri="{FF2B5EF4-FFF2-40B4-BE49-F238E27FC236}">
                <a16:creationId xmlns:a16="http://schemas.microsoft.com/office/drawing/2014/main" id="{6D32E227-F109-72FB-23B9-E01CF8EBF735}"/>
              </a:ext>
            </a:extLst>
          </p:cNvPr>
          <p:cNvSpPr txBox="1"/>
          <p:nvPr/>
        </p:nvSpPr>
        <p:spPr>
          <a:xfrm>
            <a:off x="211018" y="3795347"/>
            <a:ext cx="9680330" cy="1477328"/>
          </a:xfrm>
          <a:prstGeom prst="rect">
            <a:avLst/>
          </a:prstGeom>
          <a:noFill/>
        </p:spPr>
        <p:txBody>
          <a:bodyPr wrap="square" rtlCol="0">
            <a:spAutoFit/>
          </a:bodyPr>
          <a:lstStyle/>
          <a:p>
            <a:r>
              <a:rPr lang="en-US" altLang="zh-CN" b="1" dirty="0" err="1">
                <a:latin typeface="宋体" panose="02010600030101010101" pitchFamily="2" charset="-122"/>
                <a:ea typeface="宋体" panose="02010600030101010101" pitchFamily="2" charset="-122"/>
              </a:rPr>
              <a:t>gcc</a:t>
            </a:r>
            <a:r>
              <a:rPr lang="zh-CN" altLang="en-US" b="1" dirty="0">
                <a:latin typeface="宋体" panose="02010600030101010101" pitchFamily="2" charset="-122"/>
                <a:ea typeface="宋体" panose="02010600030101010101" pitchFamily="2" charset="-122"/>
              </a:rPr>
              <a:t>编译选项说明</a:t>
            </a:r>
            <a:endParaRPr lang="en-US" altLang="zh-CN" b="1" dirty="0">
              <a:latin typeface="宋体" panose="02010600030101010101" pitchFamily="2" charset="-122"/>
              <a:ea typeface="宋体" panose="02010600030101010101" pitchFamily="2" charset="-122"/>
            </a:endParaRPr>
          </a:p>
          <a:p>
            <a:r>
              <a:rPr lang="en-US" altLang="zh-CN" b="1" dirty="0">
                <a:latin typeface="宋体" panose="02010600030101010101" pitchFamily="2" charset="-122"/>
                <a:ea typeface="宋体" panose="02010600030101010101" pitchFamily="2" charset="-122"/>
              </a:rPr>
              <a:t>1</a:t>
            </a:r>
            <a:r>
              <a:rPr lang="zh-CN" altLang="en-US"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-static</a:t>
            </a:r>
            <a:r>
              <a:rPr lang="zh-CN" altLang="en-US" b="1" dirty="0">
                <a:latin typeface="宋体" panose="02010600030101010101" pitchFamily="2" charset="-122"/>
                <a:ea typeface="宋体" panose="02010600030101010101" pitchFamily="2" charset="-122"/>
              </a:rPr>
              <a:t>目的是生成静态链接可执行二进制文件</a:t>
            </a:r>
            <a:r>
              <a:rPr lang="en-US" altLang="zh-CN" b="1" dirty="0">
                <a:latin typeface="宋体" panose="02010600030101010101" pitchFamily="2" charset="-122"/>
                <a:ea typeface="宋体" panose="02010600030101010101" pitchFamily="2" charset="-122"/>
              </a:rPr>
              <a:t>(</a:t>
            </a:r>
            <a:r>
              <a:rPr lang="zh-CN" altLang="en-US" b="1" dirty="0">
                <a:latin typeface="宋体" panose="02010600030101010101" pitchFamily="2" charset="-122"/>
                <a:ea typeface="宋体" panose="02010600030101010101" pitchFamily="2" charset="-122"/>
              </a:rPr>
              <a:t>不是必须选</a:t>
            </a:r>
            <a:r>
              <a:rPr lang="en-US" altLang="zh-CN" b="1" dirty="0">
                <a:latin typeface="宋体" panose="02010600030101010101" pitchFamily="2" charset="-122"/>
                <a:ea typeface="宋体" panose="02010600030101010101" pitchFamily="2" charset="-122"/>
              </a:rPr>
              <a:t>)</a:t>
            </a:r>
          </a:p>
          <a:p>
            <a:r>
              <a:rPr lang="en-US" altLang="zh-CN" b="1" dirty="0">
                <a:latin typeface="宋体" panose="02010600030101010101" pitchFamily="2" charset="-122"/>
                <a:ea typeface="宋体" panose="02010600030101010101" pitchFamily="2" charset="-122"/>
              </a:rPr>
              <a:t>2</a:t>
            </a:r>
            <a:r>
              <a:rPr lang="zh-CN" altLang="en-US"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-O0</a:t>
            </a:r>
            <a:r>
              <a:rPr lang="zh-CN" altLang="en-US" b="1" dirty="0">
                <a:latin typeface="宋体" panose="02010600030101010101" pitchFamily="2" charset="-122"/>
                <a:ea typeface="宋体" panose="02010600030101010101" pitchFamily="2" charset="-122"/>
              </a:rPr>
              <a:t>目的是防止</a:t>
            </a:r>
            <a:r>
              <a:rPr lang="en-US" altLang="zh-CN" b="1" dirty="0" err="1">
                <a:latin typeface="宋体" panose="02010600030101010101" pitchFamily="2" charset="-122"/>
                <a:ea typeface="宋体" panose="02010600030101010101" pitchFamily="2" charset="-122"/>
                <a:cs typeface="Times New Roman" panose="02020603050405020304" pitchFamily="18" charset="0"/>
              </a:rPr>
              <a:t>gcc</a:t>
            </a:r>
            <a:r>
              <a:rPr lang="zh-CN" altLang="en-US" b="1" dirty="0">
                <a:latin typeface="宋体" panose="02010600030101010101" pitchFamily="2" charset="-122"/>
                <a:ea typeface="宋体" panose="02010600030101010101" pitchFamily="2" charset="-122"/>
              </a:rPr>
              <a:t>编译器优化</a:t>
            </a:r>
            <a:endParaRPr lang="en-US" altLang="zh-CN" b="1" dirty="0">
              <a:latin typeface="宋体" panose="02010600030101010101" pitchFamily="2" charset="-122"/>
              <a:ea typeface="宋体" panose="02010600030101010101" pitchFamily="2" charset="-122"/>
            </a:endParaRPr>
          </a:p>
          <a:p>
            <a:r>
              <a:rPr lang="en-US" altLang="zh-CN" b="1" dirty="0">
                <a:latin typeface="宋体" panose="02010600030101010101" pitchFamily="2" charset="-122"/>
                <a:ea typeface="宋体" panose="02010600030101010101" pitchFamily="2" charset="-122"/>
              </a:rPr>
              <a:t>3</a:t>
            </a:r>
            <a:r>
              <a:rPr lang="zh-CN" altLang="en-US" b="1" dirty="0">
                <a:latin typeface="宋体" panose="02010600030101010101" pitchFamily="2" charset="-122"/>
                <a:ea typeface="宋体" panose="02010600030101010101" pitchFamily="2" charset="-122"/>
              </a:rPr>
              <a:t>、</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-g</a:t>
            </a:r>
            <a:r>
              <a:rPr lang="zh-CN" altLang="en-US" b="1" dirty="0">
                <a:latin typeface="宋体" panose="02010600030101010101" pitchFamily="2" charset="-122"/>
                <a:ea typeface="宋体" panose="02010600030101010101" pitchFamily="2" charset="-122"/>
              </a:rPr>
              <a:t>目的是获取可执行二进制文件的符号</a:t>
            </a:r>
            <a:r>
              <a:rPr lang="zh-CN" altLang="en-US" b="1">
                <a:latin typeface="宋体" panose="02010600030101010101" pitchFamily="2" charset="-122"/>
                <a:ea typeface="宋体" panose="02010600030101010101" pitchFamily="2" charset="-122"/>
              </a:rPr>
              <a:t>表信息</a:t>
            </a:r>
            <a:endParaRPr lang="en-US" altLang="zh-CN" b="1" dirty="0">
              <a:latin typeface="宋体" panose="02010600030101010101" pitchFamily="2" charset="-122"/>
              <a:ea typeface="宋体" panose="02010600030101010101" pitchFamily="2" charset="-122"/>
            </a:endParaRPr>
          </a:p>
          <a:p>
            <a:r>
              <a:rPr lang="en-US" altLang="zh-CN" dirty="0"/>
              <a:t>4</a:t>
            </a:r>
            <a:r>
              <a:rPr lang="zh-CN" altLang="en-US" dirty="0"/>
              <a:t>、</a:t>
            </a:r>
            <a:r>
              <a:rPr lang="en-US" altLang="zh-CN" sz="1800" dirty="0">
                <a:effectLst/>
                <a:latin typeface="Times New Roman" panose="02020603050405020304" pitchFamily="18" charset="0"/>
                <a:ea typeface="等线" panose="02010600030101010101" pitchFamily="2" charset="-122"/>
              </a:rPr>
              <a:t> </a:t>
            </a:r>
            <a:r>
              <a:rPr lang="en-US" altLang="zh-CN" sz="1800" b="1" dirty="0">
                <a:effectLst/>
                <a:latin typeface="Times New Roman" panose="02020603050405020304" pitchFamily="18" charset="0"/>
                <a:ea typeface="等线" panose="02010600030101010101" pitchFamily="2" charset="-122"/>
              </a:rPr>
              <a:t>-</a:t>
            </a:r>
            <a:r>
              <a:rPr lang="en-US" altLang="zh-CN" sz="1800" b="1" dirty="0" err="1">
                <a:effectLst/>
                <a:latin typeface="Times New Roman" panose="02020603050405020304" pitchFamily="18" charset="0"/>
                <a:ea typeface="等线" panose="02010600030101010101" pitchFamily="2" charset="-122"/>
              </a:rPr>
              <a:t>fno</a:t>
            </a:r>
            <a:r>
              <a:rPr lang="en-US" altLang="zh-CN" sz="1800" b="1" dirty="0">
                <a:effectLst/>
                <a:latin typeface="Times New Roman" panose="02020603050405020304" pitchFamily="18" charset="0"/>
                <a:ea typeface="等线" panose="02010600030101010101" pitchFamily="2" charset="-122"/>
              </a:rPr>
              <a:t>-omit-frame-pointer </a:t>
            </a:r>
            <a:r>
              <a:rPr lang="zh-CN" altLang="en-US" sz="1800" b="1" dirty="0">
                <a:effectLst/>
                <a:latin typeface="宋体" panose="02010600030101010101" pitchFamily="2" charset="-122"/>
                <a:ea typeface="宋体" panose="02010600030101010101" pitchFamily="2" charset="-122"/>
              </a:rPr>
              <a:t>目的是</a:t>
            </a:r>
            <a:r>
              <a:rPr lang="zh-CN" altLang="en-US" sz="1800" b="1" dirty="0">
                <a:solidFill>
                  <a:srgbClr val="000000"/>
                </a:solidFill>
                <a:latin typeface="宋体" panose="02010600030101010101" pitchFamily="2" charset="-122"/>
                <a:ea typeface="宋体" panose="02010600030101010101" pitchFamily="2" charset="-122"/>
              </a:rPr>
              <a:t>存储</a:t>
            </a:r>
            <a:r>
              <a:rPr lang="zh-CN" altLang="en-US" b="1" i="0" dirty="0">
                <a:solidFill>
                  <a:srgbClr val="000000"/>
                </a:solidFill>
                <a:effectLst/>
                <a:latin typeface="宋体" panose="02010600030101010101" pitchFamily="2" charset="-122"/>
                <a:ea typeface="宋体" panose="02010600030101010101" pitchFamily="2" charset="-122"/>
              </a:rPr>
              <a:t>所有函数</a:t>
            </a:r>
            <a:r>
              <a:rPr lang="en-US" altLang="zh-CN" b="1" i="0" dirty="0">
                <a:solidFill>
                  <a:srgbClr val="000000"/>
                </a:solidFill>
                <a:effectLst/>
                <a:latin typeface="Times New Roman" panose="02020603050405020304" pitchFamily="18" charset="0"/>
                <a:cs typeface="Times New Roman" panose="02020603050405020304" pitchFamily="18" charset="0"/>
              </a:rPr>
              <a:t>SFP</a:t>
            </a:r>
            <a:r>
              <a:rPr lang="en-US" altLang="zh-CN" b="1" dirty="0">
                <a:solidFill>
                  <a:srgbClr val="000000"/>
                </a:solidFill>
                <a:latin typeface="Times New Roman" panose="02020603050405020304" pitchFamily="18" charset="0"/>
                <a:cs typeface="Times New Roman" panose="02020603050405020304" pitchFamily="18" charset="0"/>
              </a:rPr>
              <a:t>(</a:t>
            </a:r>
            <a:r>
              <a:rPr lang="en-US" altLang="zh-CN" b="1" i="0" dirty="0">
                <a:solidFill>
                  <a:srgbClr val="000000"/>
                </a:solidFill>
                <a:effectLst/>
                <a:latin typeface="Times New Roman" panose="02020603050405020304" pitchFamily="18" charset="0"/>
                <a:cs typeface="Times New Roman" panose="02020603050405020304" pitchFamily="18" charset="0"/>
              </a:rPr>
              <a:t>Stack Frame Pointer</a:t>
            </a:r>
            <a:r>
              <a:rPr lang="en-US" altLang="zh-CN" b="1" dirty="0">
                <a:solidFill>
                  <a:srgbClr val="000000"/>
                </a:solidFill>
                <a:latin typeface="Times New Roman" panose="02020603050405020304" pitchFamily="18" charset="0"/>
                <a:cs typeface="Times New Roman" panose="02020603050405020304" pitchFamily="18" charset="0"/>
              </a:rPr>
              <a:t>)</a:t>
            </a:r>
            <a:endParaRPr lang="zh-CN" altLang="en-US" b="1" dirty="0">
              <a:latin typeface="Times New Roman" panose="02020603050405020304" pitchFamily="18" charset="0"/>
              <a:cs typeface="Times New Roman" panose="02020603050405020304" pitchFamily="18" charset="0"/>
            </a:endParaRPr>
          </a:p>
        </p:txBody>
      </p:sp>
      <p:sp>
        <p:nvSpPr>
          <p:cNvPr id="3" name="文本框 2">
            <a:extLst>
              <a:ext uri="{FF2B5EF4-FFF2-40B4-BE49-F238E27FC236}">
                <a16:creationId xmlns:a16="http://schemas.microsoft.com/office/drawing/2014/main" id="{7D7811F8-7BEC-ADAB-3BAB-1E7E0647D112}"/>
              </a:ext>
            </a:extLst>
          </p:cNvPr>
          <p:cNvSpPr txBox="1"/>
          <p:nvPr/>
        </p:nvSpPr>
        <p:spPr>
          <a:xfrm>
            <a:off x="211018" y="1517436"/>
            <a:ext cx="11696236" cy="369332"/>
          </a:xfrm>
          <a:prstGeom prst="rect">
            <a:avLst/>
          </a:prstGeom>
          <a:noFill/>
        </p:spPr>
        <p:txBody>
          <a:bodyPr wrap="square" rtlCol="0">
            <a:spAutoFit/>
          </a:bodyPr>
          <a:lstStyle/>
          <a:p>
            <a:r>
              <a:rPr lang="en-US" altLang="zh-CN" b="0" i="0" dirty="0" err="1">
                <a:solidFill>
                  <a:srgbClr val="252933"/>
                </a:solidFill>
                <a:effectLst/>
                <a:latin typeface="Times New Roman" panose="02020603050405020304" pitchFamily="18" charset="0"/>
                <a:cs typeface="Times New Roman" panose="02020603050405020304" pitchFamily="18" charset="0"/>
              </a:rPr>
              <a:t>hackbench</a:t>
            </a:r>
            <a:r>
              <a:rPr lang="en-US" altLang="zh-CN" b="0" i="0" dirty="0">
                <a:solidFill>
                  <a:srgbClr val="252933"/>
                </a:solidFill>
                <a:effectLst/>
                <a:latin typeface="Times New Roman" panose="02020603050405020304" pitchFamily="18" charset="0"/>
                <a:cs typeface="Times New Roman" panose="02020603050405020304" pitchFamily="18" charset="0"/>
              </a:rPr>
              <a:t>:</a:t>
            </a:r>
            <a:r>
              <a:rPr lang="en-US" altLang="zh-CN" b="0" i="0" dirty="0">
                <a:solidFill>
                  <a:srgbClr val="252933"/>
                </a:solidFill>
                <a:effectLst/>
                <a:latin typeface="-apple-system"/>
              </a:rPr>
              <a:t> </a:t>
            </a:r>
            <a:r>
              <a:rPr lang="zh-CN" altLang="en-US" b="0" i="0" dirty="0">
                <a:solidFill>
                  <a:srgbClr val="252933"/>
                </a:solidFill>
                <a:effectLst/>
                <a:latin typeface="-apple-system"/>
              </a:rPr>
              <a:t>用于测试进程间通信</a:t>
            </a:r>
            <a:r>
              <a:rPr lang="en-US" altLang="zh-CN" b="0" i="0" dirty="0">
                <a:solidFill>
                  <a:srgbClr val="252933"/>
                </a:solidFill>
                <a:effectLst/>
                <a:latin typeface="Times New Roman" panose="02020603050405020304" pitchFamily="18" charset="0"/>
                <a:cs typeface="Times New Roman" panose="02020603050405020304" pitchFamily="18" charset="0"/>
              </a:rPr>
              <a:t>(IPC)</a:t>
            </a:r>
            <a:r>
              <a:rPr lang="zh-CN" altLang="en-US" b="0" i="0" dirty="0">
                <a:solidFill>
                  <a:srgbClr val="252933"/>
                </a:solidFill>
                <a:effectLst/>
                <a:latin typeface="-apple-system"/>
              </a:rPr>
              <a:t>的延迟和带宽，通常用于测试 </a:t>
            </a:r>
            <a:r>
              <a:rPr lang="en-US" altLang="zh-CN" b="0" i="0" dirty="0">
                <a:solidFill>
                  <a:srgbClr val="252933"/>
                </a:solidFill>
                <a:effectLst/>
                <a:latin typeface="Times New Roman" panose="02020603050405020304" pitchFamily="18" charset="0"/>
                <a:cs typeface="Times New Roman" panose="02020603050405020304" pitchFamily="18" charset="0"/>
              </a:rPr>
              <a:t>Linux</a:t>
            </a:r>
            <a:r>
              <a:rPr lang="en-US" altLang="zh-CN" b="0" i="0" dirty="0">
                <a:solidFill>
                  <a:srgbClr val="252933"/>
                </a:solidFill>
                <a:effectLst/>
                <a:latin typeface="-apple-system"/>
              </a:rPr>
              <a:t> </a:t>
            </a:r>
            <a:r>
              <a:rPr lang="zh-CN" altLang="en-US" b="0" i="0" dirty="0">
                <a:solidFill>
                  <a:srgbClr val="252933"/>
                </a:solidFill>
                <a:effectLst/>
                <a:latin typeface="-apple-system"/>
              </a:rPr>
              <a:t>内核对于实时任务的支持能力</a:t>
            </a:r>
          </a:p>
        </p:txBody>
      </p:sp>
      <p:sp>
        <p:nvSpPr>
          <p:cNvPr id="5" name="文本框 4">
            <a:extLst>
              <a:ext uri="{FF2B5EF4-FFF2-40B4-BE49-F238E27FC236}">
                <a16:creationId xmlns:a16="http://schemas.microsoft.com/office/drawing/2014/main" id="{19A196C3-3162-8F63-5035-02CB3F23F835}"/>
              </a:ext>
            </a:extLst>
          </p:cNvPr>
          <p:cNvSpPr txBox="1"/>
          <p:nvPr/>
        </p:nvSpPr>
        <p:spPr>
          <a:xfrm>
            <a:off x="211018" y="5539154"/>
            <a:ext cx="10014436" cy="369332"/>
          </a:xfrm>
          <a:prstGeom prst="rect">
            <a:avLst/>
          </a:prstGeom>
          <a:noFill/>
        </p:spPr>
        <p:txBody>
          <a:bodyPr wrap="square" rtlCol="0">
            <a:spAutoFit/>
          </a:bodyPr>
          <a:lstStyle/>
          <a:p>
            <a:r>
              <a:rPr lang="zh-CN" altLang="en-US" b="1" dirty="0">
                <a:latin typeface="宋体" panose="02010600030101010101" pitchFamily="2" charset="-122"/>
                <a:ea typeface="宋体" panose="02010600030101010101" pitchFamily="2" charset="-122"/>
              </a:rPr>
              <a:t>对于其他更为复杂的测试集，需要修改其编译的</a:t>
            </a:r>
            <a:r>
              <a:rPr lang="en-US" altLang="zh-CN" b="1" dirty="0" err="1">
                <a:latin typeface="Times New Roman" panose="02020603050405020304" pitchFamily="18" charset="0"/>
                <a:ea typeface="宋体" panose="02010600030101010101" pitchFamily="2" charset="-122"/>
                <a:cs typeface="Times New Roman" panose="02020603050405020304" pitchFamily="18" charset="0"/>
              </a:rPr>
              <a:t>Makefile</a:t>
            </a:r>
            <a:r>
              <a:rPr lang="zh-CN" altLang="en-US" b="1" dirty="0">
                <a:latin typeface="宋体" panose="02010600030101010101" pitchFamily="2" charset="-122"/>
                <a:ea typeface="宋体" panose="02010600030101010101" pitchFamily="2" charset="-122"/>
              </a:rPr>
              <a:t>或者</a:t>
            </a:r>
            <a:r>
              <a:rPr lang="en-US" altLang="zh-CN" b="1" dirty="0" err="1">
                <a:latin typeface="Times New Roman" panose="02020603050405020304" pitchFamily="18" charset="0"/>
                <a:ea typeface="宋体" panose="02010600030101010101" pitchFamily="2" charset="-122"/>
                <a:cs typeface="Times New Roman" panose="02020603050405020304" pitchFamily="18" charset="0"/>
              </a:rPr>
              <a:t>CMakeLists</a:t>
            </a:r>
            <a:r>
              <a:rPr lang="zh-CN" altLang="en-US" b="1" dirty="0">
                <a:latin typeface="宋体" panose="02010600030101010101" pitchFamily="2" charset="-122"/>
                <a:ea typeface="宋体" panose="02010600030101010101" pitchFamily="2" charset="-122"/>
              </a:rPr>
              <a:t>文件中编译选项</a:t>
            </a:r>
          </a:p>
        </p:txBody>
      </p:sp>
    </p:spTree>
    <p:extLst>
      <p:ext uri="{BB962C8B-B14F-4D97-AF65-F5344CB8AC3E}">
        <p14:creationId xmlns:p14="http://schemas.microsoft.com/office/powerpoint/2010/main" val="32899525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a:xfrm>
            <a:off x="29799" y="548953"/>
            <a:ext cx="11809312"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 stat</a:t>
            </a:r>
            <a:r>
              <a:rPr lang="zh-CN" altLang="en-US" dirty="0">
                <a:solidFill>
                  <a:srgbClr val="10218B"/>
                </a:solidFill>
                <a:latin typeface="Times New Roman" panose="02020603050405020304" pitchFamily="18" charset="0"/>
                <a:cs typeface="+mn-ea"/>
                <a:sym typeface="Times New Roman" panose="02020603050405020304" pitchFamily="18" charset="0"/>
              </a:rPr>
              <a:t>测试出</a:t>
            </a:r>
            <a:r>
              <a:rPr lang="en-US" altLang="zh-CN" dirty="0">
                <a:solidFill>
                  <a:srgbClr val="10218B"/>
                </a:solidFill>
                <a:latin typeface="Times New Roman" panose="02020603050405020304" pitchFamily="18" charset="0"/>
                <a:cs typeface="+mn-ea"/>
                <a:sym typeface="Times New Roman" panose="02020603050405020304" pitchFamily="18" charset="0"/>
              </a:rPr>
              <a:t>PMU</a:t>
            </a:r>
            <a:r>
              <a:rPr lang="zh-CN" altLang="en-US" dirty="0">
                <a:solidFill>
                  <a:srgbClr val="10218B"/>
                </a:solidFill>
                <a:latin typeface="Times New Roman" panose="02020603050405020304" pitchFamily="18" charset="0"/>
                <a:cs typeface="+mn-ea"/>
                <a:sym typeface="Times New Roman" panose="02020603050405020304" pitchFamily="18" charset="0"/>
              </a:rPr>
              <a:t>性能数据</a:t>
            </a:r>
            <a:br>
              <a:rPr lang="en-US" altLang="zh-CN" dirty="0">
                <a:solidFill>
                  <a:srgbClr val="10218B"/>
                </a:solidFill>
                <a:latin typeface="Times New Roman" panose="02020603050405020304" pitchFamily="18" charset="0"/>
                <a:cs typeface="+mn-ea"/>
                <a:sym typeface="Times New Roman" panose="02020603050405020304" pitchFamily="18" charset="0"/>
              </a:rPr>
            </a:br>
            <a:br>
              <a:rPr lang="en-US" altLang="zh-CN" dirty="0">
                <a:solidFill>
                  <a:srgbClr val="10218B"/>
                </a:solidFill>
                <a:latin typeface="Times New Roman" panose="02020603050405020304" pitchFamily="18" charset="0"/>
                <a:cs typeface="+mn-ea"/>
                <a:sym typeface="Times New Roman" panose="02020603050405020304" pitchFamily="18" charset="0"/>
              </a:rPr>
            </a:br>
            <a:endParaRPr lang="zh-CN" altLang="en-US" dirty="0"/>
          </a:p>
        </p:txBody>
      </p:sp>
      <p:sp>
        <p:nvSpPr>
          <p:cNvPr id="3" name="文本框 2">
            <a:extLst>
              <a:ext uri="{FF2B5EF4-FFF2-40B4-BE49-F238E27FC236}">
                <a16:creationId xmlns:a16="http://schemas.microsoft.com/office/drawing/2014/main" id="{B3D4ECFE-667E-CDD9-5898-FA6AED791410}"/>
              </a:ext>
            </a:extLst>
          </p:cNvPr>
          <p:cNvSpPr txBox="1"/>
          <p:nvPr/>
        </p:nvSpPr>
        <p:spPr>
          <a:xfrm>
            <a:off x="25643" y="2572335"/>
            <a:ext cx="6708531" cy="369332"/>
          </a:xfrm>
          <a:prstGeom prst="rect">
            <a:avLst/>
          </a:prstGeom>
          <a:noFill/>
        </p:spPr>
        <p:txBody>
          <a:bodyPr wrap="square" rtlCol="0">
            <a:spAutoFit/>
          </a:bodyPr>
          <a:lstStyle/>
          <a:p>
            <a:r>
              <a:rPr lang="zh-CN" altLang="en-US" dirty="0"/>
              <a:t>以</a:t>
            </a:r>
            <a:r>
              <a:rPr lang="fr-FR" altLang="zh-CN" dirty="0">
                <a:latin typeface="Times New Roman" panose="02020603050405020304" pitchFamily="18" charset="0"/>
                <a:cs typeface="Times New Roman" panose="02020603050405020304" pitchFamily="18" charset="0"/>
              </a:rPr>
              <a:t>instructions</a:t>
            </a:r>
            <a:r>
              <a:rPr lang="zh-CN" altLang="en-US" dirty="0">
                <a:latin typeface="Times New Roman" panose="02020603050405020304" pitchFamily="18" charset="0"/>
                <a:cs typeface="Times New Roman" panose="02020603050405020304" pitchFamily="18" charset="0"/>
              </a:rPr>
              <a:t>、</a:t>
            </a:r>
            <a:r>
              <a:rPr lang="fr-FR" altLang="zh-CN" dirty="0">
                <a:latin typeface="Times New Roman" panose="02020603050405020304" pitchFamily="18" charset="0"/>
                <a:cs typeface="Times New Roman" panose="02020603050405020304" pitchFamily="18" charset="0"/>
              </a:rPr>
              <a:t>cpu-cycles</a:t>
            </a:r>
            <a:r>
              <a:rPr lang="zh-CN" altLang="en-US" dirty="0">
                <a:latin typeface="Times New Roman" panose="02020603050405020304" pitchFamily="18" charset="0"/>
                <a:cs typeface="Times New Roman" panose="02020603050405020304" pitchFamily="18" charset="0"/>
              </a:rPr>
              <a:t>、</a:t>
            </a:r>
            <a:r>
              <a:rPr lang="fr-FR" altLang="zh-CN" dirty="0">
                <a:latin typeface="Times New Roman" panose="02020603050405020304" pitchFamily="18" charset="0"/>
                <a:cs typeface="Times New Roman" panose="02020603050405020304" pitchFamily="18" charset="0"/>
              </a:rPr>
              <a:t>cpu-clock</a:t>
            </a:r>
            <a:r>
              <a:rPr lang="zh-CN" altLang="en-US" dirty="0"/>
              <a:t>三个事件为例</a:t>
            </a:r>
          </a:p>
        </p:txBody>
      </p:sp>
      <p:pic>
        <p:nvPicPr>
          <p:cNvPr id="5" name="图片 4">
            <a:extLst>
              <a:ext uri="{FF2B5EF4-FFF2-40B4-BE49-F238E27FC236}">
                <a16:creationId xmlns:a16="http://schemas.microsoft.com/office/drawing/2014/main" id="{930F3510-4E60-53BF-51F3-FD0029A5AA53}"/>
              </a:ext>
            </a:extLst>
          </p:cNvPr>
          <p:cNvPicPr>
            <a:picLocks noChangeAspect="1"/>
          </p:cNvPicPr>
          <p:nvPr/>
        </p:nvPicPr>
        <p:blipFill>
          <a:blip r:embed="rId3"/>
          <a:stretch>
            <a:fillRect/>
          </a:stretch>
        </p:blipFill>
        <p:spPr>
          <a:xfrm>
            <a:off x="51288" y="1513329"/>
            <a:ext cx="8971428" cy="838095"/>
          </a:xfrm>
          <a:prstGeom prst="rect">
            <a:avLst/>
          </a:prstGeom>
        </p:spPr>
      </p:pic>
      <p:sp>
        <p:nvSpPr>
          <p:cNvPr id="13" name="文本框 12">
            <a:extLst>
              <a:ext uri="{FF2B5EF4-FFF2-40B4-BE49-F238E27FC236}">
                <a16:creationId xmlns:a16="http://schemas.microsoft.com/office/drawing/2014/main" id="{E6B1303D-3AE3-A051-08CA-2952FC908325}"/>
              </a:ext>
            </a:extLst>
          </p:cNvPr>
          <p:cNvSpPr txBox="1"/>
          <p:nvPr/>
        </p:nvSpPr>
        <p:spPr>
          <a:xfrm>
            <a:off x="0" y="1135525"/>
            <a:ext cx="3244362" cy="369332"/>
          </a:xfrm>
          <a:prstGeom prst="rect">
            <a:avLst/>
          </a:prstGeom>
          <a:noFill/>
        </p:spPr>
        <p:txBody>
          <a:bodyPr wrap="square" rtlCol="0">
            <a:spAutoFit/>
          </a:bodyPr>
          <a:lstStyle/>
          <a:p>
            <a:r>
              <a:rPr lang="zh-CN" altLang="en-US" dirty="0"/>
              <a:t>正常测试</a:t>
            </a:r>
            <a:r>
              <a:rPr lang="en-US" altLang="zh-CN" dirty="0" err="1">
                <a:latin typeface="Times New Roman" panose="02020603050405020304" pitchFamily="18" charset="0"/>
                <a:cs typeface="Times New Roman" panose="02020603050405020304" pitchFamily="18" charset="0"/>
              </a:rPr>
              <a:t>hackbench</a:t>
            </a:r>
            <a:endParaRPr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7476DA1A-E1F1-66E1-3131-7B465888E417}"/>
              </a:ext>
            </a:extLst>
          </p:cNvPr>
          <p:cNvPicPr>
            <a:picLocks noChangeAspect="1"/>
          </p:cNvPicPr>
          <p:nvPr/>
        </p:nvPicPr>
        <p:blipFill>
          <a:blip r:embed="rId4"/>
          <a:stretch>
            <a:fillRect/>
          </a:stretch>
        </p:blipFill>
        <p:spPr>
          <a:xfrm>
            <a:off x="51288" y="2941667"/>
            <a:ext cx="11000000" cy="3142857"/>
          </a:xfrm>
          <a:prstGeom prst="rect">
            <a:avLst/>
          </a:prstGeom>
        </p:spPr>
      </p:pic>
    </p:spTree>
    <p:extLst>
      <p:ext uri="{BB962C8B-B14F-4D97-AF65-F5344CB8AC3E}">
        <p14:creationId xmlns:p14="http://schemas.microsoft.com/office/powerpoint/2010/main" val="1874026145"/>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a:xfrm>
            <a:off x="29799" y="548953"/>
            <a:ext cx="11809312"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 record</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栈回溯方式</a:t>
            </a:r>
            <a:br>
              <a:rPr lang="en-US" altLang="zh-CN" dirty="0">
                <a:solidFill>
                  <a:srgbClr val="10218B"/>
                </a:solidFill>
                <a:latin typeface="Times New Roman" panose="02020603050405020304" pitchFamily="18" charset="0"/>
                <a:cs typeface="+mn-ea"/>
                <a:sym typeface="Times New Roman" panose="02020603050405020304" pitchFamily="18" charset="0"/>
              </a:rPr>
            </a:br>
            <a:br>
              <a:rPr lang="en-US" altLang="zh-CN" dirty="0">
                <a:solidFill>
                  <a:srgbClr val="10218B"/>
                </a:solidFill>
                <a:latin typeface="Times New Roman" panose="02020603050405020304" pitchFamily="18" charset="0"/>
                <a:cs typeface="+mn-ea"/>
                <a:sym typeface="Times New Roman" panose="02020603050405020304" pitchFamily="18" charset="0"/>
              </a:rPr>
            </a:br>
            <a:endParaRPr lang="zh-CN" altLang="en-US" dirty="0"/>
          </a:p>
        </p:txBody>
      </p:sp>
      <p:pic>
        <p:nvPicPr>
          <p:cNvPr id="5" name="图片 4">
            <a:extLst>
              <a:ext uri="{FF2B5EF4-FFF2-40B4-BE49-F238E27FC236}">
                <a16:creationId xmlns:a16="http://schemas.microsoft.com/office/drawing/2014/main" id="{618F200A-26D2-ABD7-4982-84F30CE9D1F3}"/>
              </a:ext>
            </a:extLst>
          </p:cNvPr>
          <p:cNvPicPr>
            <a:picLocks noChangeAspect="1"/>
          </p:cNvPicPr>
          <p:nvPr/>
        </p:nvPicPr>
        <p:blipFill>
          <a:blip r:embed="rId3"/>
          <a:stretch>
            <a:fillRect/>
          </a:stretch>
        </p:blipFill>
        <p:spPr>
          <a:xfrm>
            <a:off x="29799" y="1744577"/>
            <a:ext cx="4191006" cy="4473030"/>
          </a:xfrm>
          <a:prstGeom prst="rect">
            <a:avLst/>
          </a:prstGeom>
        </p:spPr>
      </p:pic>
      <p:graphicFrame>
        <p:nvGraphicFramePr>
          <p:cNvPr id="3" name="表格 2">
            <a:extLst>
              <a:ext uri="{FF2B5EF4-FFF2-40B4-BE49-F238E27FC236}">
                <a16:creationId xmlns:a16="http://schemas.microsoft.com/office/drawing/2014/main" id="{DCC8B666-1001-E193-C0B2-05D2F48DCD55}"/>
              </a:ext>
            </a:extLst>
          </p:cNvPr>
          <p:cNvGraphicFramePr>
            <a:graphicFrameLocks noGrp="1"/>
          </p:cNvGraphicFramePr>
          <p:nvPr>
            <p:extLst>
              <p:ext uri="{D42A27DB-BD31-4B8C-83A1-F6EECF244321}">
                <p14:modId xmlns:p14="http://schemas.microsoft.com/office/powerpoint/2010/main" val="2739137688"/>
              </p:ext>
            </p:extLst>
          </p:nvPr>
        </p:nvGraphicFramePr>
        <p:xfrm>
          <a:off x="4429125" y="3053291"/>
          <a:ext cx="7733076" cy="2286000"/>
        </p:xfrm>
        <a:graphic>
          <a:graphicData uri="http://schemas.openxmlformats.org/drawingml/2006/table">
            <a:tbl>
              <a:tblPr firstRow="1" bandRow="1">
                <a:tableStyleId>{5C22544A-7EE6-4342-B048-85BDC9FD1C3A}</a:tableStyleId>
              </a:tblPr>
              <a:tblGrid>
                <a:gridCol w="1381125">
                  <a:extLst>
                    <a:ext uri="{9D8B030D-6E8A-4147-A177-3AD203B41FA5}">
                      <a16:colId xmlns:a16="http://schemas.microsoft.com/office/drawing/2014/main" val="1357268778"/>
                    </a:ext>
                  </a:extLst>
                </a:gridCol>
                <a:gridCol w="1495425">
                  <a:extLst>
                    <a:ext uri="{9D8B030D-6E8A-4147-A177-3AD203B41FA5}">
                      <a16:colId xmlns:a16="http://schemas.microsoft.com/office/drawing/2014/main" val="2349863194"/>
                    </a:ext>
                  </a:extLst>
                </a:gridCol>
                <a:gridCol w="4856526">
                  <a:extLst>
                    <a:ext uri="{9D8B030D-6E8A-4147-A177-3AD203B41FA5}">
                      <a16:colId xmlns:a16="http://schemas.microsoft.com/office/drawing/2014/main" val="3325904164"/>
                    </a:ext>
                  </a:extLst>
                </a:gridCol>
              </a:tblGrid>
              <a:tr h="346340">
                <a:tc>
                  <a:txBody>
                    <a:bodyPr/>
                    <a:lstStyle/>
                    <a:p>
                      <a:pPr algn="ctr"/>
                      <a:r>
                        <a:rPr lang="zh-CN" altLang="en-US" dirty="0">
                          <a:latin typeface="宋体" panose="02010600030101010101" pitchFamily="2" charset="-122"/>
                          <a:ea typeface="宋体" panose="02010600030101010101" pitchFamily="2" charset="-122"/>
                        </a:rPr>
                        <a:t>栈回溯方式</a:t>
                      </a:r>
                    </a:p>
                  </a:txBody>
                  <a:tcPr anchor="ctr"/>
                </a:tc>
                <a:tc>
                  <a:txBody>
                    <a:bodyPr/>
                    <a:lstStyle/>
                    <a:p>
                      <a:pPr algn="ctr"/>
                      <a:r>
                        <a:rPr lang="zh-CN" altLang="en-US" dirty="0">
                          <a:latin typeface="宋体" panose="02010600030101010101" pitchFamily="2" charset="-122"/>
                          <a:ea typeface="宋体" panose="02010600030101010101" pitchFamily="2" charset="-122"/>
                        </a:rPr>
                        <a:t>优点</a:t>
                      </a:r>
                    </a:p>
                  </a:txBody>
                  <a:tcPr anchor="ctr"/>
                </a:tc>
                <a:tc>
                  <a:txBody>
                    <a:bodyPr/>
                    <a:lstStyle/>
                    <a:p>
                      <a:pPr algn="ctr"/>
                      <a:r>
                        <a:rPr lang="zh-CN" altLang="en-US" dirty="0">
                          <a:latin typeface="宋体" panose="02010600030101010101" pitchFamily="2" charset="-122"/>
                          <a:ea typeface="宋体" panose="02010600030101010101" pitchFamily="2" charset="-122"/>
                        </a:rPr>
                        <a:t>缺点</a:t>
                      </a:r>
                    </a:p>
                  </a:txBody>
                  <a:tcPr anchor="ctr"/>
                </a:tc>
                <a:extLst>
                  <a:ext uri="{0D108BD9-81ED-4DB2-BD59-A6C34878D82A}">
                    <a16:rowId xmlns:a16="http://schemas.microsoft.com/office/drawing/2014/main" val="2432216593"/>
                  </a:ext>
                </a:extLst>
              </a:tr>
              <a:tr h="346340">
                <a:tc>
                  <a:txBody>
                    <a:bodyPr/>
                    <a:lstStyle/>
                    <a:p>
                      <a:pPr algn="ctr"/>
                      <a:r>
                        <a:rPr lang="en-US" altLang="zh-CN" dirty="0" err="1">
                          <a:latin typeface="Times New Roman" panose="02020603050405020304" pitchFamily="18" charset="0"/>
                          <a:cs typeface="Times New Roman" panose="02020603050405020304" pitchFamily="18" charset="0"/>
                        </a:rPr>
                        <a:t>fp</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b="1" dirty="0">
                          <a:latin typeface="宋体" panose="02010600030101010101" pitchFamily="2" charset="-122"/>
                          <a:ea typeface="宋体" panose="02010600030101010101" pitchFamily="2" charset="-122"/>
                        </a:rPr>
                        <a:t>性能影响小</a:t>
                      </a:r>
                    </a:p>
                  </a:txBody>
                  <a:tcPr anchor="ctr"/>
                </a:tc>
                <a:tc>
                  <a:txBody>
                    <a:bodyPr/>
                    <a:lstStyle/>
                    <a:p>
                      <a:pPr algn="l"/>
                      <a:r>
                        <a:rPr lang="zh-CN" altLang="en-US" sz="1800" b="1" i="0" kern="1200" dirty="0">
                          <a:solidFill>
                            <a:schemeClr val="dk1"/>
                          </a:solidFill>
                          <a:effectLst/>
                          <a:latin typeface="宋体" panose="02010600030101010101" pitchFamily="2" charset="-122"/>
                          <a:ea typeface="宋体" panose="02010600030101010101" pitchFamily="2" charset="-122"/>
                          <a:cs typeface="+mn-cs"/>
                        </a:rPr>
                        <a:t>默认</a:t>
                      </a:r>
                      <a:r>
                        <a:rPr lang="en-US" altLang="zh-CN" sz="1800" b="1" i="0" kern="12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frame pointer</a:t>
                      </a:r>
                      <a:r>
                        <a:rPr lang="zh-CN" altLang="en-US" sz="1800" b="1" i="0" kern="1200" dirty="0">
                          <a:solidFill>
                            <a:schemeClr val="dk1"/>
                          </a:solidFill>
                          <a:effectLst/>
                          <a:latin typeface="宋体" panose="02010600030101010101" pitchFamily="2" charset="-122"/>
                          <a:ea typeface="宋体" panose="02010600030101010101" pitchFamily="2" charset="-122"/>
                          <a:cs typeface="+mn-cs"/>
                        </a:rPr>
                        <a:t>被优化掉了，修改编译选项</a:t>
                      </a:r>
                      <a:endParaRPr lang="zh-CN" altLang="en-US" b="1" dirty="0">
                        <a:latin typeface="宋体" panose="02010600030101010101" pitchFamily="2" charset="-122"/>
                        <a:ea typeface="宋体" panose="02010600030101010101" pitchFamily="2" charset="-122"/>
                      </a:endParaRPr>
                    </a:p>
                  </a:txBody>
                  <a:tcPr anchor="ctr"/>
                </a:tc>
                <a:extLst>
                  <a:ext uri="{0D108BD9-81ED-4DB2-BD59-A6C34878D82A}">
                    <a16:rowId xmlns:a16="http://schemas.microsoft.com/office/drawing/2014/main" val="3348983550"/>
                  </a:ext>
                </a:extLst>
              </a:tr>
              <a:tr h="346340">
                <a:tc>
                  <a:txBody>
                    <a:bodyPr/>
                    <a:lstStyle/>
                    <a:p>
                      <a:pPr algn="ctr"/>
                      <a:r>
                        <a:rPr lang="en-US" altLang="zh-CN" dirty="0" err="1">
                          <a:latin typeface="Times New Roman" panose="02020603050405020304" pitchFamily="18" charset="0"/>
                          <a:cs typeface="Times New Roman" panose="02020603050405020304" pitchFamily="18" charset="0"/>
                        </a:rPr>
                        <a:t>lbr</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b="1" dirty="0">
                          <a:latin typeface="宋体" panose="02010600030101010101" pitchFamily="2" charset="-122"/>
                          <a:ea typeface="宋体" panose="02010600030101010101" pitchFamily="2" charset="-122"/>
                        </a:rPr>
                        <a:t>高效准确</a:t>
                      </a:r>
                    </a:p>
                  </a:txBody>
                  <a:tcPr anchor="ctr"/>
                </a:tc>
                <a:tc>
                  <a:txBody>
                    <a:bodyPr/>
                    <a:lstStyle/>
                    <a:p>
                      <a:pPr marL="342900" indent="-342900" algn="l">
                        <a:buAutoNum type="arabicPeriod"/>
                      </a:pPr>
                      <a:r>
                        <a:rPr lang="zh-CN" altLang="en-US" sz="1800" b="1" i="0" kern="1200" dirty="0">
                          <a:solidFill>
                            <a:schemeClr val="dk1"/>
                          </a:solidFill>
                          <a:effectLst/>
                          <a:latin typeface="宋体" panose="02010600030101010101" pitchFamily="2" charset="-122"/>
                          <a:ea typeface="宋体" panose="02010600030101010101" pitchFamily="2" charset="-122"/>
                          <a:cs typeface="+mn-cs"/>
                        </a:rPr>
                        <a:t>需要较新的 </a:t>
                      </a:r>
                      <a:r>
                        <a:rPr lang="en-US" altLang="zh-CN" sz="1800" b="1" i="0" kern="1200" dirty="0">
                          <a:solidFill>
                            <a:schemeClr val="dk1"/>
                          </a:solidFill>
                          <a:effectLst/>
                          <a:latin typeface="Times New Roman" panose="02020603050405020304" pitchFamily="18" charset="0"/>
                          <a:ea typeface="宋体" panose="02010600030101010101" pitchFamily="2" charset="-122"/>
                          <a:cs typeface="Times New Roman" panose="02020603050405020304" pitchFamily="18" charset="0"/>
                        </a:rPr>
                        <a:t>Intel CPU </a:t>
                      </a:r>
                      <a:r>
                        <a:rPr lang="zh-CN" altLang="en-US" sz="1800" b="1" i="0" kern="1200" dirty="0">
                          <a:solidFill>
                            <a:schemeClr val="dk1"/>
                          </a:solidFill>
                          <a:effectLst/>
                          <a:latin typeface="宋体" panose="02010600030101010101" pitchFamily="2" charset="-122"/>
                          <a:ea typeface="宋体" panose="02010600030101010101" pitchFamily="2" charset="-122"/>
                          <a:cs typeface="+mn-cs"/>
                        </a:rPr>
                        <a:t>才有此功能</a:t>
                      </a:r>
                      <a:endParaRPr lang="en-US" altLang="zh-CN" sz="1800" b="1" i="0" kern="1200" dirty="0">
                        <a:solidFill>
                          <a:schemeClr val="dk1"/>
                        </a:solidFill>
                        <a:effectLst/>
                        <a:latin typeface="宋体" panose="02010600030101010101" pitchFamily="2" charset="-122"/>
                        <a:ea typeface="宋体" panose="02010600030101010101" pitchFamily="2" charset="-122"/>
                        <a:cs typeface="+mn-cs"/>
                      </a:endParaRPr>
                    </a:p>
                    <a:p>
                      <a:pPr marL="342900" indent="-342900" algn="l">
                        <a:buAutoNum type="arabicPeriod"/>
                      </a:pPr>
                      <a:r>
                        <a:rPr lang="zh-CN" altLang="en-US" sz="1800" b="1" i="0" kern="1200" dirty="0">
                          <a:solidFill>
                            <a:schemeClr val="dk1"/>
                          </a:solidFill>
                          <a:effectLst/>
                          <a:latin typeface="宋体" panose="02010600030101010101" pitchFamily="2" charset="-122"/>
                          <a:ea typeface="宋体" panose="02010600030101010101" pitchFamily="2" charset="-122"/>
                          <a:cs typeface="+mn-cs"/>
                        </a:rPr>
                        <a:t>能记录的调用栈深度有限</a:t>
                      </a:r>
                      <a:endParaRPr lang="en-US" altLang="zh-CN" sz="1800" b="1" i="0" kern="1200" dirty="0">
                        <a:solidFill>
                          <a:schemeClr val="dk1"/>
                        </a:solidFill>
                        <a:effectLst/>
                        <a:latin typeface="宋体" panose="02010600030101010101" pitchFamily="2" charset="-122"/>
                        <a:ea typeface="宋体" panose="02010600030101010101" pitchFamily="2" charset="-122"/>
                        <a:cs typeface="+mn-cs"/>
                      </a:endParaRPr>
                    </a:p>
                    <a:p>
                      <a:pPr marL="342900" indent="-342900" algn="l">
                        <a:buAutoNum type="arabicPeriod"/>
                      </a:pPr>
                      <a:r>
                        <a:rPr lang="en-US" altLang="zh-CN" b="1" dirty="0" err="1">
                          <a:latin typeface="宋体" panose="02010600030101010101" pitchFamily="2" charset="-122"/>
                          <a:ea typeface="宋体" panose="02010600030101010101" pitchFamily="2" charset="-122"/>
                        </a:rPr>
                        <a:t>lbr</a:t>
                      </a:r>
                      <a:r>
                        <a:rPr lang="zh-CN" altLang="en-US" b="1" dirty="0">
                          <a:latin typeface="宋体" panose="02010600030101010101" pitchFamily="2" charset="-122"/>
                          <a:ea typeface="宋体" panose="02010600030101010101" pitchFamily="2" charset="-122"/>
                        </a:rPr>
                        <a:t>也仅限于用户空间功能</a:t>
                      </a:r>
                    </a:p>
                  </a:txBody>
                  <a:tcPr anchor="ctr"/>
                </a:tc>
                <a:extLst>
                  <a:ext uri="{0D108BD9-81ED-4DB2-BD59-A6C34878D82A}">
                    <a16:rowId xmlns:a16="http://schemas.microsoft.com/office/drawing/2014/main" val="132718760"/>
                  </a:ext>
                </a:extLst>
              </a:tr>
              <a:tr h="346340">
                <a:tc>
                  <a:txBody>
                    <a:bodyPr/>
                    <a:lstStyle/>
                    <a:p>
                      <a:pPr algn="ctr"/>
                      <a:r>
                        <a:rPr lang="en-US" altLang="zh-CN" dirty="0">
                          <a:latin typeface="Times New Roman" panose="02020603050405020304" pitchFamily="18" charset="0"/>
                          <a:cs typeface="Times New Roman" panose="02020603050405020304" pitchFamily="18" charset="0"/>
                        </a:rPr>
                        <a:t>dwarf</a:t>
                      </a:r>
                      <a:endParaRPr lang="zh-CN" altLang="en-US" dirty="0">
                        <a:latin typeface="Times New Roman" panose="02020603050405020304" pitchFamily="18" charset="0"/>
                        <a:cs typeface="Times New Roman" panose="02020603050405020304" pitchFamily="18" charset="0"/>
                      </a:endParaRPr>
                    </a:p>
                  </a:txBody>
                  <a:tcPr anchor="ctr"/>
                </a:tc>
                <a:tc>
                  <a:txBody>
                    <a:bodyPr/>
                    <a:lstStyle/>
                    <a:p>
                      <a:pPr algn="ctr"/>
                      <a:r>
                        <a:rPr lang="zh-CN" altLang="en-US" b="1" dirty="0">
                          <a:latin typeface="宋体" panose="02010600030101010101" pitchFamily="2" charset="-122"/>
                          <a:ea typeface="宋体" panose="02010600030101010101" pitchFamily="2" charset="-122"/>
                        </a:rPr>
                        <a:t>准确</a:t>
                      </a:r>
                    </a:p>
                  </a:txBody>
                  <a:tcPr anchor="ctr"/>
                </a:tc>
                <a:tc>
                  <a:txBody>
                    <a:bodyPr/>
                    <a:lstStyle/>
                    <a:p>
                      <a:pPr marL="342900" indent="-342900" algn="l">
                        <a:buAutoNum type="arabicPeriod"/>
                      </a:pPr>
                      <a:r>
                        <a:rPr lang="zh-CN" altLang="en-US" sz="1800" b="1" i="0" kern="1200" dirty="0">
                          <a:solidFill>
                            <a:schemeClr val="dk1"/>
                          </a:solidFill>
                          <a:effectLst/>
                          <a:latin typeface="宋体" panose="02010600030101010101" pitchFamily="2" charset="-122"/>
                          <a:ea typeface="宋体" panose="02010600030101010101" pitchFamily="2" charset="-122"/>
                          <a:cs typeface="+mn-cs"/>
                        </a:rPr>
                        <a:t>开销相对较大，性能影响大</a:t>
                      </a:r>
                      <a:endParaRPr lang="en-US" altLang="zh-CN" sz="1800" b="1" i="0" kern="1200" dirty="0">
                        <a:solidFill>
                          <a:schemeClr val="dk1"/>
                        </a:solidFill>
                        <a:effectLst/>
                        <a:latin typeface="宋体" panose="02010600030101010101" pitchFamily="2" charset="-122"/>
                        <a:ea typeface="宋体" panose="02010600030101010101" pitchFamily="2" charset="-122"/>
                        <a:cs typeface="+mn-cs"/>
                      </a:endParaRPr>
                    </a:p>
                    <a:p>
                      <a:pPr marL="342900" indent="-342900" algn="l">
                        <a:buAutoNum type="arabicPeriod"/>
                      </a:pPr>
                      <a:r>
                        <a:rPr lang="zh-CN" altLang="en-US" sz="1800" b="1" i="0" kern="1200" dirty="0">
                          <a:solidFill>
                            <a:schemeClr val="dk1"/>
                          </a:solidFill>
                          <a:effectLst/>
                          <a:latin typeface="宋体" panose="02010600030101010101" pitchFamily="2" charset="-122"/>
                          <a:ea typeface="宋体" panose="02010600030101010101" pitchFamily="2" charset="-122"/>
                          <a:cs typeface="+mn-cs"/>
                        </a:rPr>
                        <a:t>需要编译时附加了调试信息</a:t>
                      </a:r>
                      <a:endParaRPr lang="zh-CN" altLang="en-US" b="1" dirty="0">
                        <a:latin typeface="宋体" panose="02010600030101010101" pitchFamily="2" charset="-122"/>
                        <a:ea typeface="宋体" panose="02010600030101010101" pitchFamily="2" charset="-122"/>
                      </a:endParaRPr>
                    </a:p>
                  </a:txBody>
                  <a:tcPr anchor="ctr"/>
                </a:tc>
                <a:extLst>
                  <a:ext uri="{0D108BD9-81ED-4DB2-BD59-A6C34878D82A}">
                    <a16:rowId xmlns:a16="http://schemas.microsoft.com/office/drawing/2014/main" val="2121433733"/>
                  </a:ext>
                </a:extLst>
              </a:tr>
            </a:tbl>
          </a:graphicData>
        </a:graphic>
      </p:graphicFrame>
    </p:spTree>
    <p:extLst>
      <p:ext uri="{BB962C8B-B14F-4D97-AF65-F5344CB8AC3E}">
        <p14:creationId xmlns:p14="http://schemas.microsoft.com/office/powerpoint/2010/main" val="2288537047"/>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a:xfrm>
            <a:off x="29799" y="548953"/>
            <a:ext cx="11809312"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 </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函数调用栈的生成</a:t>
            </a:r>
            <a:br>
              <a:rPr lang="en-US" altLang="zh-CN" dirty="0">
                <a:solidFill>
                  <a:srgbClr val="10218B"/>
                </a:solidFill>
                <a:latin typeface="Times New Roman" panose="02020603050405020304" pitchFamily="18" charset="0"/>
                <a:cs typeface="+mn-ea"/>
                <a:sym typeface="Times New Roman" panose="02020603050405020304" pitchFamily="18" charset="0"/>
              </a:rPr>
            </a:br>
            <a:br>
              <a:rPr lang="en-US" altLang="zh-CN" dirty="0">
                <a:solidFill>
                  <a:srgbClr val="10218B"/>
                </a:solidFill>
                <a:latin typeface="Times New Roman" panose="02020603050405020304" pitchFamily="18" charset="0"/>
                <a:cs typeface="+mn-ea"/>
                <a:sym typeface="Times New Roman" panose="02020603050405020304" pitchFamily="18" charset="0"/>
              </a:rPr>
            </a:br>
            <a:endParaRPr lang="zh-CN" altLang="en-US" dirty="0"/>
          </a:p>
        </p:txBody>
      </p:sp>
      <p:sp>
        <p:nvSpPr>
          <p:cNvPr id="3" name="文本框 2">
            <a:extLst>
              <a:ext uri="{FF2B5EF4-FFF2-40B4-BE49-F238E27FC236}">
                <a16:creationId xmlns:a16="http://schemas.microsoft.com/office/drawing/2014/main" id="{B3D4ECFE-667E-CDD9-5898-FA6AED791410}"/>
              </a:ext>
            </a:extLst>
          </p:cNvPr>
          <p:cNvSpPr txBox="1"/>
          <p:nvPr/>
        </p:nvSpPr>
        <p:spPr>
          <a:xfrm>
            <a:off x="25643" y="5553660"/>
            <a:ext cx="6708531" cy="1200329"/>
          </a:xfrm>
          <a:prstGeom prst="rect">
            <a:avLst/>
          </a:prstGeom>
          <a:noFill/>
        </p:spPr>
        <p:txBody>
          <a:bodyPr wrap="square" rtlCol="0">
            <a:spAutoFit/>
          </a:bodyPr>
          <a:lstStyle/>
          <a:p>
            <a:r>
              <a:rPr lang="en-US" altLang="zh-CN" dirty="0"/>
              <a:t>perf</a:t>
            </a:r>
            <a:r>
              <a:rPr lang="zh-CN" altLang="en-US" dirty="0"/>
              <a:t> </a:t>
            </a:r>
            <a:r>
              <a:rPr lang="en-US" altLang="zh-CN" dirty="0"/>
              <a:t>record</a:t>
            </a:r>
            <a:r>
              <a:rPr lang="zh-CN" altLang="en-US" dirty="0"/>
              <a:t>与</a:t>
            </a:r>
            <a:r>
              <a:rPr lang="en-US" altLang="zh-CN" dirty="0"/>
              <a:t>perf report</a:t>
            </a:r>
            <a:r>
              <a:rPr lang="zh-CN" altLang="en-US" dirty="0"/>
              <a:t>参数含义参考如下</a:t>
            </a:r>
            <a:endParaRPr lang="en-US" altLang="zh-CN" dirty="0"/>
          </a:p>
          <a:p>
            <a:r>
              <a:rPr lang="en-US" altLang="zh-CN" dirty="0">
                <a:hlinkClick r:id="rId3"/>
              </a:rPr>
              <a:t>https://man7.org/linux/man-pages/man1/perf-record.1.html</a:t>
            </a:r>
            <a:endParaRPr lang="en-US" altLang="zh-CN" dirty="0"/>
          </a:p>
          <a:p>
            <a:r>
              <a:rPr lang="en-US" altLang="zh-CN" dirty="0">
                <a:hlinkClick r:id="rId4"/>
              </a:rPr>
              <a:t>https://man7.org/linux/man-pages/man1/perf-report.1.html</a:t>
            </a:r>
            <a:endParaRPr lang="en-US" altLang="zh-CN" dirty="0"/>
          </a:p>
          <a:p>
            <a:endParaRPr lang="zh-CN" altLang="en-US" dirty="0"/>
          </a:p>
        </p:txBody>
      </p:sp>
      <p:sp>
        <p:nvSpPr>
          <p:cNvPr id="13" name="文本框 12">
            <a:extLst>
              <a:ext uri="{FF2B5EF4-FFF2-40B4-BE49-F238E27FC236}">
                <a16:creationId xmlns:a16="http://schemas.microsoft.com/office/drawing/2014/main" id="{E6B1303D-3AE3-A051-08CA-2952FC908325}"/>
              </a:ext>
            </a:extLst>
          </p:cNvPr>
          <p:cNvSpPr txBox="1"/>
          <p:nvPr/>
        </p:nvSpPr>
        <p:spPr>
          <a:xfrm>
            <a:off x="0" y="1135525"/>
            <a:ext cx="6096000" cy="369332"/>
          </a:xfrm>
          <a:prstGeom prst="rect">
            <a:avLst/>
          </a:prstGeom>
          <a:noFill/>
        </p:spPr>
        <p:txBody>
          <a:bodyPr wrap="square" rtlCol="0">
            <a:spAutoFit/>
          </a:bodyPr>
          <a:lstStyle/>
          <a:p>
            <a:r>
              <a:rPr lang="pt-BR" altLang="zh-CN" dirty="0">
                <a:latin typeface="Times New Roman" panose="02020603050405020304" pitchFamily="18" charset="0"/>
                <a:cs typeface="Times New Roman" panose="02020603050405020304" pitchFamily="18" charset="0"/>
              </a:rPr>
              <a:t>perf record</a:t>
            </a:r>
            <a:r>
              <a:rPr lang="zh-CN" altLang="en-US" dirty="0">
                <a:latin typeface="宋体" panose="02010600030101010101" pitchFamily="2" charset="-122"/>
                <a:ea typeface="宋体" panose="02010600030101010101" pitchFamily="2" charset="-122"/>
                <a:cs typeface="Times New Roman" panose="02020603050405020304" pitchFamily="18" charset="0"/>
              </a:rPr>
              <a:t>生成</a:t>
            </a:r>
            <a:r>
              <a:rPr lang="en-US" altLang="zh-CN" dirty="0" err="1">
                <a:latin typeface="Times New Roman" panose="02020603050405020304" pitchFamily="18" charset="0"/>
                <a:cs typeface="Times New Roman" panose="02020603050405020304" pitchFamily="18" charset="0"/>
              </a:rPr>
              <a:t>perf.data</a:t>
            </a:r>
            <a:endParaRPr lang="zh-CN" altLang="en-US" dirty="0">
              <a:latin typeface="Times New Roman" panose="02020603050405020304" pitchFamily="18" charset="0"/>
              <a:cs typeface="Times New Roman" panose="02020603050405020304" pitchFamily="18" charset="0"/>
            </a:endParaRPr>
          </a:p>
        </p:txBody>
      </p:sp>
      <p:pic>
        <p:nvPicPr>
          <p:cNvPr id="6" name="图片 5">
            <a:extLst>
              <a:ext uri="{FF2B5EF4-FFF2-40B4-BE49-F238E27FC236}">
                <a16:creationId xmlns:a16="http://schemas.microsoft.com/office/drawing/2014/main" id="{506737ED-0DE3-6A65-D3A1-FEC1AB3878DD}"/>
              </a:ext>
            </a:extLst>
          </p:cNvPr>
          <p:cNvPicPr>
            <a:picLocks noChangeAspect="1"/>
          </p:cNvPicPr>
          <p:nvPr/>
        </p:nvPicPr>
        <p:blipFill>
          <a:blip r:embed="rId5"/>
          <a:stretch>
            <a:fillRect/>
          </a:stretch>
        </p:blipFill>
        <p:spPr>
          <a:xfrm>
            <a:off x="25643" y="1548405"/>
            <a:ext cx="8971428" cy="1333333"/>
          </a:xfrm>
          <a:prstGeom prst="rect">
            <a:avLst/>
          </a:prstGeom>
        </p:spPr>
      </p:pic>
      <p:pic>
        <p:nvPicPr>
          <p:cNvPr id="8" name="图片 7">
            <a:extLst>
              <a:ext uri="{FF2B5EF4-FFF2-40B4-BE49-F238E27FC236}">
                <a16:creationId xmlns:a16="http://schemas.microsoft.com/office/drawing/2014/main" id="{D500C636-4CFF-6C43-7E4E-B69230632F77}"/>
              </a:ext>
            </a:extLst>
          </p:cNvPr>
          <p:cNvPicPr>
            <a:picLocks noChangeAspect="1"/>
          </p:cNvPicPr>
          <p:nvPr/>
        </p:nvPicPr>
        <p:blipFill>
          <a:blip r:embed="rId6"/>
          <a:stretch>
            <a:fillRect/>
          </a:stretch>
        </p:blipFill>
        <p:spPr>
          <a:xfrm>
            <a:off x="25643" y="3600714"/>
            <a:ext cx="10028571" cy="485714"/>
          </a:xfrm>
          <a:prstGeom prst="rect">
            <a:avLst/>
          </a:prstGeom>
        </p:spPr>
      </p:pic>
      <p:sp>
        <p:nvSpPr>
          <p:cNvPr id="9" name="文本框 8">
            <a:extLst>
              <a:ext uri="{FF2B5EF4-FFF2-40B4-BE49-F238E27FC236}">
                <a16:creationId xmlns:a16="http://schemas.microsoft.com/office/drawing/2014/main" id="{5D0A6D50-43A2-2474-C360-FF77A6A569A6}"/>
              </a:ext>
            </a:extLst>
          </p:cNvPr>
          <p:cNvSpPr txBox="1"/>
          <p:nvPr/>
        </p:nvSpPr>
        <p:spPr>
          <a:xfrm>
            <a:off x="0" y="3210911"/>
            <a:ext cx="6096000" cy="369332"/>
          </a:xfrm>
          <a:prstGeom prst="rect">
            <a:avLst/>
          </a:prstGeom>
          <a:noFill/>
        </p:spPr>
        <p:txBody>
          <a:bodyPr wrap="square" rtlCol="0">
            <a:spAutoFit/>
          </a:bodyPr>
          <a:lstStyle/>
          <a:p>
            <a:r>
              <a:rPr lang="pt-BR" altLang="zh-CN" dirty="0">
                <a:latin typeface="Times New Roman" panose="02020603050405020304" pitchFamily="18" charset="0"/>
                <a:cs typeface="Times New Roman" panose="02020603050405020304" pitchFamily="18" charset="0"/>
              </a:rPr>
              <a:t>perf report</a:t>
            </a:r>
            <a:r>
              <a:rPr lang="zh-CN" altLang="en-US" dirty="0">
                <a:latin typeface="宋体" panose="02010600030101010101" pitchFamily="2" charset="-122"/>
                <a:ea typeface="宋体" panose="02010600030101010101" pitchFamily="2" charset="-122"/>
                <a:cs typeface="Times New Roman" panose="02020603050405020304" pitchFamily="18" charset="0"/>
              </a:rPr>
              <a:t>解析</a:t>
            </a:r>
            <a:r>
              <a:rPr lang="en-US" altLang="zh-CN" dirty="0" err="1">
                <a:latin typeface="Times New Roman" panose="02020603050405020304" pitchFamily="18" charset="0"/>
                <a:cs typeface="Times New Roman" panose="02020603050405020304" pitchFamily="18" charset="0"/>
              </a:rPr>
              <a:t>perf.data</a:t>
            </a:r>
            <a:endParaRPr lang="zh-CN" altLang="en-US" dirty="0">
              <a:latin typeface="Times New Roman" panose="02020603050405020304" pitchFamily="18" charset="0"/>
              <a:cs typeface="Times New Roman" panose="02020603050405020304" pitchFamily="18" charset="0"/>
            </a:endParaRPr>
          </a:p>
        </p:txBody>
      </p:sp>
      <p:graphicFrame>
        <p:nvGraphicFramePr>
          <p:cNvPr id="10" name="对象 9">
            <a:extLst>
              <a:ext uri="{FF2B5EF4-FFF2-40B4-BE49-F238E27FC236}">
                <a16:creationId xmlns:a16="http://schemas.microsoft.com/office/drawing/2014/main" id="{06EC90A3-B62F-B9A7-021D-B40F51ECB683}"/>
              </a:ext>
            </a:extLst>
          </p:cNvPr>
          <p:cNvGraphicFramePr>
            <a:graphicFrameLocks noChangeAspect="1"/>
          </p:cNvGraphicFramePr>
          <p:nvPr>
            <p:extLst>
              <p:ext uri="{D42A27DB-BD31-4B8C-83A1-F6EECF244321}">
                <p14:modId xmlns:p14="http://schemas.microsoft.com/office/powerpoint/2010/main" val="2562789151"/>
              </p:ext>
            </p:extLst>
          </p:nvPr>
        </p:nvGraphicFramePr>
        <p:xfrm>
          <a:off x="130175" y="4941888"/>
          <a:ext cx="1166813" cy="361950"/>
        </p:xfrm>
        <a:graphic>
          <a:graphicData uri="http://schemas.openxmlformats.org/presentationml/2006/ole">
            <mc:AlternateContent xmlns:mc="http://schemas.openxmlformats.org/markup-compatibility/2006">
              <mc:Choice xmlns:v="urn:schemas-microsoft-com:vml" Requires="v">
                <p:oleObj name="包装程序外壳对象" showAsIcon="1" r:id="rId7" imgW="1167480" imgH="362160" progId="Package">
                  <p:embed/>
                </p:oleObj>
              </mc:Choice>
              <mc:Fallback>
                <p:oleObj name="包装程序外壳对象" showAsIcon="1" r:id="rId7" imgW="1167480" imgH="362160" progId="Package">
                  <p:embed/>
                  <p:pic>
                    <p:nvPicPr>
                      <p:cNvPr id="0" name=""/>
                      <p:cNvPicPr/>
                      <p:nvPr/>
                    </p:nvPicPr>
                    <p:blipFill>
                      <a:blip r:embed="rId8"/>
                      <a:stretch>
                        <a:fillRect/>
                      </a:stretch>
                    </p:blipFill>
                    <p:spPr>
                      <a:xfrm>
                        <a:off x="130175" y="4941888"/>
                        <a:ext cx="1166813" cy="361950"/>
                      </a:xfrm>
                      <a:prstGeom prst="rect">
                        <a:avLst/>
                      </a:prstGeom>
                    </p:spPr>
                  </p:pic>
                </p:oleObj>
              </mc:Fallback>
            </mc:AlternateContent>
          </a:graphicData>
        </a:graphic>
      </p:graphicFrame>
      <p:sp>
        <p:nvSpPr>
          <p:cNvPr id="11" name="文本框 10">
            <a:extLst>
              <a:ext uri="{FF2B5EF4-FFF2-40B4-BE49-F238E27FC236}">
                <a16:creationId xmlns:a16="http://schemas.microsoft.com/office/drawing/2014/main" id="{5742B159-A36F-1D7E-3269-7AE0BBA50CEF}"/>
              </a:ext>
            </a:extLst>
          </p:cNvPr>
          <p:cNvSpPr txBox="1"/>
          <p:nvPr/>
        </p:nvSpPr>
        <p:spPr>
          <a:xfrm>
            <a:off x="26376" y="4459591"/>
            <a:ext cx="6096000"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p</a:t>
            </a:r>
            <a:r>
              <a:rPr lang="pt-BR" altLang="zh-CN" dirty="0">
                <a:latin typeface="Times New Roman" panose="02020603050405020304" pitchFamily="18" charset="0"/>
                <a:cs typeface="Times New Roman" panose="02020603050405020304" pitchFamily="18" charset="0"/>
              </a:rPr>
              <a:t>erf report</a:t>
            </a:r>
            <a:r>
              <a:rPr lang="zh-CN" altLang="en-US" dirty="0">
                <a:latin typeface="宋体" panose="02010600030101010101" pitchFamily="2" charset="-122"/>
                <a:ea typeface="宋体" panose="02010600030101010101" pitchFamily="2" charset="-122"/>
                <a:cs typeface="Times New Roman" panose="02020603050405020304" pitchFamily="18" charset="0"/>
              </a:rPr>
              <a:t>解析结果，生成性能报告</a:t>
            </a:r>
          </a:p>
        </p:txBody>
      </p:sp>
    </p:spTree>
    <p:extLst>
      <p:ext uri="{BB962C8B-B14F-4D97-AF65-F5344CB8AC3E}">
        <p14:creationId xmlns:p14="http://schemas.microsoft.com/office/powerpoint/2010/main" val="195417867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CA7FE50D-8A81-B89C-3A91-FE1EA7364BE7}"/>
              </a:ext>
            </a:extLst>
          </p:cNvPr>
          <p:cNvPicPr>
            <a:picLocks noChangeAspect="1"/>
          </p:cNvPicPr>
          <p:nvPr/>
        </p:nvPicPr>
        <p:blipFill>
          <a:blip r:embed="rId3"/>
          <a:stretch>
            <a:fillRect/>
          </a:stretch>
        </p:blipFill>
        <p:spPr>
          <a:xfrm>
            <a:off x="29799" y="1265511"/>
            <a:ext cx="4708461" cy="5152221"/>
          </a:xfrm>
          <a:prstGeom prst="rect">
            <a:avLst/>
          </a:prstGeom>
        </p:spPr>
      </p:pic>
      <p:sp>
        <p:nvSpPr>
          <p:cNvPr id="14" name="文本框 13">
            <a:extLst>
              <a:ext uri="{FF2B5EF4-FFF2-40B4-BE49-F238E27FC236}">
                <a16:creationId xmlns:a16="http://schemas.microsoft.com/office/drawing/2014/main" id="{2E7A50EC-9510-3DAA-C229-3B4D8C94C9C3}"/>
              </a:ext>
            </a:extLst>
          </p:cNvPr>
          <p:cNvSpPr txBox="1"/>
          <p:nvPr/>
        </p:nvSpPr>
        <p:spPr>
          <a:xfrm>
            <a:off x="17909" y="725774"/>
            <a:ext cx="4720351"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p</a:t>
            </a:r>
            <a:r>
              <a:rPr lang="pt-BR" altLang="zh-CN" dirty="0">
                <a:latin typeface="Times New Roman" panose="02020603050405020304" pitchFamily="18" charset="0"/>
                <a:cs typeface="Times New Roman" panose="02020603050405020304" pitchFamily="18" charset="0"/>
              </a:rPr>
              <a:t>erf report</a:t>
            </a:r>
            <a:r>
              <a:rPr lang="zh-CN" altLang="en-US" dirty="0">
                <a:latin typeface="宋体" panose="02010600030101010101" pitchFamily="2" charset="-122"/>
                <a:ea typeface="宋体" panose="02010600030101010101" pitchFamily="2" charset="-122"/>
                <a:cs typeface="Times New Roman" panose="02020603050405020304" pitchFamily="18" charset="0"/>
              </a:rPr>
              <a:t>解析结果部分截图</a:t>
            </a:r>
          </a:p>
        </p:txBody>
      </p:sp>
      <p:sp>
        <p:nvSpPr>
          <p:cNvPr id="15" name="文本框 14">
            <a:extLst>
              <a:ext uri="{FF2B5EF4-FFF2-40B4-BE49-F238E27FC236}">
                <a16:creationId xmlns:a16="http://schemas.microsoft.com/office/drawing/2014/main" id="{44F987FD-8420-858C-A479-F7AC3FCE2AB1}"/>
              </a:ext>
            </a:extLst>
          </p:cNvPr>
          <p:cNvSpPr txBox="1"/>
          <p:nvPr/>
        </p:nvSpPr>
        <p:spPr>
          <a:xfrm>
            <a:off x="5588994" y="734241"/>
            <a:ext cx="6603006" cy="369332"/>
          </a:xfrm>
          <a:prstGeom prst="rect">
            <a:avLst/>
          </a:prstGeom>
          <a:noFill/>
        </p:spPr>
        <p:txBody>
          <a:bodyPr wrap="square" rtlCol="0">
            <a:spAutoFit/>
          </a:bodyPr>
          <a:lstStyle/>
          <a:p>
            <a:r>
              <a:rPr lang="en-US" altLang="zh-CN" dirty="0">
                <a:latin typeface="Times New Roman" panose="02020603050405020304" pitchFamily="18" charset="0"/>
                <a:cs typeface="Times New Roman" panose="02020603050405020304" pitchFamily="18" charset="0"/>
              </a:rPr>
              <a:t>p</a:t>
            </a:r>
            <a:r>
              <a:rPr lang="pt-BR" altLang="zh-CN" dirty="0">
                <a:latin typeface="Times New Roman" panose="02020603050405020304" pitchFamily="18" charset="0"/>
                <a:cs typeface="Times New Roman" panose="02020603050405020304" pitchFamily="18" charset="0"/>
              </a:rPr>
              <a:t>erf report</a:t>
            </a:r>
            <a:r>
              <a:rPr lang="zh-CN" altLang="en-US" dirty="0">
                <a:latin typeface="宋体" panose="02010600030101010101" pitchFamily="2" charset="-122"/>
                <a:ea typeface="宋体" panose="02010600030101010101" pitchFamily="2" charset="-122"/>
                <a:cs typeface="Times New Roman" panose="02020603050405020304" pitchFamily="18" charset="0"/>
              </a:rPr>
              <a:t>参数</a:t>
            </a:r>
            <a:r>
              <a:rPr lang="en-US" altLang="zh-CN" dirty="0">
                <a:latin typeface="宋体" panose="02010600030101010101" pitchFamily="2" charset="-122"/>
                <a:ea typeface="宋体" panose="02010600030101010101" pitchFamily="2" charset="-122"/>
                <a:cs typeface="Times New Roman" panose="02020603050405020304" pitchFamily="18" charset="0"/>
              </a:rPr>
              <a:t> --no-children</a:t>
            </a:r>
            <a:endParaRPr lang="zh-CN" altLang="en-US" dirty="0">
              <a:latin typeface="宋体" panose="02010600030101010101" pitchFamily="2" charset="-122"/>
              <a:ea typeface="宋体" panose="02010600030101010101" pitchFamily="2" charset="-122"/>
              <a:cs typeface="Times New Roman" panose="02020603050405020304" pitchFamily="18" charset="0"/>
            </a:endParaRPr>
          </a:p>
        </p:txBody>
      </p:sp>
      <p:pic>
        <p:nvPicPr>
          <p:cNvPr id="17" name="图片 16">
            <a:extLst>
              <a:ext uri="{FF2B5EF4-FFF2-40B4-BE49-F238E27FC236}">
                <a16:creationId xmlns:a16="http://schemas.microsoft.com/office/drawing/2014/main" id="{6C0AE244-274C-DD3F-8F34-9C5C253FAE0A}"/>
              </a:ext>
            </a:extLst>
          </p:cNvPr>
          <p:cNvPicPr>
            <a:picLocks noChangeAspect="1"/>
          </p:cNvPicPr>
          <p:nvPr/>
        </p:nvPicPr>
        <p:blipFill>
          <a:blip r:embed="rId4"/>
          <a:stretch>
            <a:fillRect/>
          </a:stretch>
        </p:blipFill>
        <p:spPr>
          <a:xfrm>
            <a:off x="5588994" y="1265512"/>
            <a:ext cx="3893673" cy="2511568"/>
          </a:xfrm>
          <a:prstGeom prst="rect">
            <a:avLst/>
          </a:prstGeom>
        </p:spPr>
      </p:pic>
      <p:pic>
        <p:nvPicPr>
          <p:cNvPr id="19" name="图片 18">
            <a:extLst>
              <a:ext uri="{FF2B5EF4-FFF2-40B4-BE49-F238E27FC236}">
                <a16:creationId xmlns:a16="http://schemas.microsoft.com/office/drawing/2014/main" id="{0FC6547A-B62C-64BE-0CE5-8170B4F499A4}"/>
              </a:ext>
            </a:extLst>
          </p:cNvPr>
          <p:cNvPicPr>
            <a:picLocks noChangeAspect="1"/>
          </p:cNvPicPr>
          <p:nvPr/>
        </p:nvPicPr>
        <p:blipFill>
          <a:blip r:embed="rId5"/>
          <a:stretch>
            <a:fillRect/>
          </a:stretch>
        </p:blipFill>
        <p:spPr>
          <a:xfrm>
            <a:off x="5588994" y="3939019"/>
            <a:ext cx="2809524" cy="2828571"/>
          </a:xfrm>
          <a:prstGeom prst="rect">
            <a:avLst/>
          </a:prstGeom>
        </p:spPr>
      </p:pic>
      <p:sp>
        <p:nvSpPr>
          <p:cNvPr id="20" name="文本框 19">
            <a:extLst>
              <a:ext uri="{FF2B5EF4-FFF2-40B4-BE49-F238E27FC236}">
                <a16:creationId xmlns:a16="http://schemas.microsoft.com/office/drawing/2014/main" id="{57388D08-18F7-C582-A9E2-BA9E521FD38C}"/>
              </a:ext>
            </a:extLst>
          </p:cNvPr>
          <p:cNvSpPr txBox="1"/>
          <p:nvPr/>
        </p:nvSpPr>
        <p:spPr>
          <a:xfrm>
            <a:off x="8889999" y="4377267"/>
            <a:ext cx="3272201" cy="646331"/>
          </a:xfrm>
          <a:prstGeom prst="rect">
            <a:avLst/>
          </a:prstGeom>
          <a:noFill/>
        </p:spPr>
        <p:txBody>
          <a:bodyPr wrap="square" rtlCol="0">
            <a:spAutoFit/>
          </a:bodyPr>
          <a:lstStyle/>
          <a:p>
            <a:pPr marL="171450" indent="-171450" algn="just">
              <a:buFont typeface="Wingdings" panose="05000000000000000000" pitchFamily="2" charset="2"/>
              <a:buChar char="Ø"/>
            </a:pPr>
            <a:r>
              <a:rPr lang="zh-CN" altLang="en-US" sz="1200" dirty="0">
                <a:latin typeface="宋体" panose="02010600030101010101" pitchFamily="2" charset="-122"/>
                <a:ea typeface="宋体" panose="02010600030101010101" pitchFamily="2" charset="-122"/>
              </a:rPr>
              <a:t>加上</a:t>
            </a:r>
            <a:r>
              <a:rPr lang="en-US" altLang="zh-CN" sz="1200" dirty="0">
                <a:latin typeface="宋体" panose="02010600030101010101" pitchFamily="2" charset="-122"/>
                <a:ea typeface="宋体" panose="02010600030101010101" pitchFamily="2" charset="-122"/>
              </a:rPr>
              <a:t>–no- children </a:t>
            </a:r>
            <a:r>
              <a:rPr lang="zh-CN" altLang="en-US" sz="1200" dirty="0">
                <a:latin typeface="宋体" panose="02010600030101010101" pitchFamily="2" charset="-122"/>
                <a:ea typeface="宋体" panose="02010600030101010101" pitchFamily="2" charset="-122"/>
              </a:rPr>
              <a:t>后，被调用的函数运行时间不会被算在调用函数的身上</a:t>
            </a:r>
            <a:endParaRPr lang="en-US" altLang="zh-CN" sz="1200" dirty="0">
              <a:latin typeface="宋体" panose="02010600030101010101" pitchFamily="2" charset="-122"/>
              <a:ea typeface="宋体" panose="02010600030101010101" pitchFamily="2" charset="-122"/>
            </a:endParaRPr>
          </a:p>
          <a:p>
            <a:pPr marL="171450" indent="-171450" algn="just">
              <a:buFont typeface="Wingdings" panose="05000000000000000000" pitchFamily="2" charset="2"/>
              <a:buChar char="Ø"/>
            </a:pPr>
            <a:r>
              <a:rPr lang="en-US" altLang="zh-CN" sz="1200" dirty="0">
                <a:solidFill>
                  <a:srgbClr val="333333"/>
                </a:solidFill>
                <a:latin typeface="Times New Roman" panose="02020603050405020304" pitchFamily="18" charset="0"/>
                <a:cs typeface="Times New Roman" panose="02020603050405020304" pitchFamily="18" charset="0"/>
              </a:rPr>
              <a:t>O</a:t>
            </a:r>
            <a:r>
              <a:rPr lang="en-US" altLang="zh-CN" sz="1200" b="0" i="0" dirty="0">
                <a:solidFill>
                  <a:srgbClr val="333333"/>
                </a:solidFill>
                <a:effectLst/>
                <a:latin typeface="Times New Roman" panose="02020603050405020304" pitchFamily="18" charset="0"/>
                <a:cs typeface="Times New Roman" panose="02020603050405020304" pitchFamily="18" charset="0"/>
              </a:rPr>
              <a:t>verhead</a:t>
            </a:r>
            <a:r>
              <a:rPr lang="zh-CN" altLang="en-US" sz="1200" b="0" i="0" dirty="0">
                <a:solidFill>
                  <a:srgbClr val="333333"/>
                </a:solidFill>
                <a:effectLst/>
                <a:latin typeface="宋体" panose="02010600030101010101" pitchFamily="2" charset="-122"/>
                <a:ea typeface="宋体" panose="02010600030101010101" pitchFamily="2" charset="-122"/>
              </a:rPr>
              <a:t>的加总为</a:t>
            </a:r>
            <a:r>
              <a:rPr lang="en-US" altLang="zh-CN" sz="1200" b="0" i="0" dirty="0">
                <a:solidFill>
                  <a:srgbClr val="333333"/>
                </a:solidFill>
                <a:effectLst/>
                <a:latin typeface="Times New Roman" panose="02020603050405020304" pitchFamily="18" charset="0"/>
                <a:cs typeface="Times New Roman" panose="02020603050405020304" pitchFamily="18" charset="0"/>
              </a:rPr>
              <a:t>100%</a:t>
            </a:r>
            <a:endParaRPr lang="zh-CN" altLang="en-US" sz="1200" dirty="0">
              <a:latin typeface="Times New Roman" panose="02020603050405020304" pitchFamily="18"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407894893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p:txBody>
          <a:bodyPr/>
          <a:lstStyle/>
          <a:p>
            <a:r>
              <a:rPr lang="en-US" altLang="zh-CN" dirty="0" err="1">
                <a:solidFill>
                  <a:srgbClr val="10218B"/>
                </a:solidFill>
                <a:latin typeface="Times New Roman" panose="02020603050405020304" pitchFamily="18" charset="0"/>
                <a:cs typeface="+mn-ea"/>
                <a:sym typeface="Times New Roman" panose="02020603050405020304" pitchFamily="18" charset="0"/>
              </a:rPr>
              <a:t>FlameGraph</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火焰图分析热点函数</a:t>
            </a:r>
            <a:endParaRPr lang="zh-CN" altLang="en-US" dirty="0">
              <a:latin typeface="宋体" panose="02010600030101010101" pitchFamily="2" charset="-122"/>
              <a:ea typeface="宋体" panose="02010600030101010101" pitchFamily="2" charset="-122"/>
            </a:endParaRPr>
          </a:p>
        </p:txBody>
      </p:sp>
      <p:sp>
        <p:nvSpPr>
          <p:cNvPr id="4" name="文本框 3">
            <a:extLst>
              <a:ext uri="{FF2B5EF4-FFF2-40B4-BE49-F238E27FC236}">
                <a16:creationId xmlns:a16="http://schemas.microsoft.com/office/drawing/2014/main" id="{9F3B2B3F-B514-55DB-3059-304ABD01C584}"/>
              </a:ext>
            </a:extLst>
          </p:cNvPr>
          <p:cNvSpPr txBox="1"/>
          <p:nvPr/>
        </p:nvSpPr>
        <p:spPr>
          <a:xfrm>
            <a:off x="212972" y="1293936"/>
            <a:ext cx="9483477" cy="646331"/>
          </a:xfrm>
          <a:prstGeom prst="rect">
            <a:avLst/>
          </a:prstGeom>
          <a:noFill/>
        </p:spPr>
        <p:txBody>
          <a:bodyPr wrap="square" rtlCol="0">
            <a:spAutoFit/>
          </a:bodyPr>
          <a:lstStyle/>
          <a:p>
            <a:pPr algn="just"/>
            <a:r>
              <a:rPr lang="en-US" altLang="zh-CN" kern="100" dirty="0" err="1">
                <a:latin typeface="Times New Roman" panose="02020603050405020304" pitchFamily="18" charset="0"/>
                <a:ea typeface="宋体" panose="02010600030101010101" pitchFamily="2" charset="-122"/>
                <a:cs typeface="Times New Roman" panose="02020603050405020304" pitchFamily="18" charset="0"/>
              </a:rPr>
              <a:t>FlameGraph</a:t>
            </a:r>
            <a:r>
              <a:rPr lang="zh-CN" altLang="zh-CN" sz="1800" kern="100" dirty="0">
                <a:effectLst/>
                <a:latin typeface="等线" panose="02010600030101010101" pitchFamily="2" charset="-122"/>
                <a:ea typeface="宋体" panose="02010600030101010101" pitchFamily="2" charset="-122"/>
                <a:cs typeface="Times New Roman" panose="02020603050405020304" pitchFamily="18" charset="0"/>
              </a:rPr>
              <a:t>下载源码</a:t>
            </a:r>
            <a:r>
              <a:rPr lang="zh-CN"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hlinkClick r:id="rId3"/>
              </a:rPr>
              <a:t>https://github.com/brendangregg/FlameGraph</a:t>
            </a:r>
            <a:endPar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a:p>
            <a:pPr algn="just"/>
            <a:r>
              <a:rPr lang="en-US" altLang="zh-CN" kern="100" dirty="0">
                <a:latin typeface="Times New Roman" panose="02020603050405020304" pitchFamily="18" charset="0"/>
                <a:ea typeface="等线" panose="02010600030101010101" pitchFamily="2" charset="-122"/>
                <a:cs typeface="Times New Roman" panose="02020603050405020304" pitchFamily="18" charset="0"/>
              </a:rPr>
              <a:t>g</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rPr>
              <a:t>it clone </a:t>
            </a:r>
            <a:r>
              <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hlinkClick r:id="rId4"/>
              </a:rPr>
              <a:t>https://github.com/brendangregg/FlameGraph.git</a:t>
            </a:r>
            <a:endParaRPr lang="en-US" altLang="zh-CN" sz="1800" kern="100" dirty="0">
              <a:effectLst/>
              <a:latin typeface="Times New Roman" panose="02020603050405020304" pitchFamily="18" charset="0"/>
              <a:ea typeface="等线" panose="02010600030101010101" pitchFamily="2" charset="-122"/>
              <a:cs typeface="Times New Roman" panose="02020603050405020304" pitchFamily="18" charset="0"/>
            </a:endParaRPr>
          </a:p>
        </p:txBody>
      </p:sp>
      <p:sp>
        <p:nvSpPr>
          <p:cNvPr id="9" name="文本框 8">
            <a:extLst>
              <a:ext uri="{FF2B5EF4-FFF2-40B4-BE49-F238E27FC236}">
                <a16:creationId xmlns:a16="http://schemas.microsoft.com/office/drawing/2014/main" id="{6D32E227-F109-72FB-23B9-E01CF8EBF735}"/>
              </a:ext>
            </a:extLst>
          </p:cNvPr>
          <p:cNvSpPr txBox="1"/>
          <p:nvPr/>
        </p:nvSpPr>
        <p:spPr>
          <a:xfrm>
            <a:off x="172918" y="2176097"/>
            <a:ext cx="6589832" cy="1754326"/>
          </a:xfrm>
          <a:prstGeom prst="rect">
            <a:avLst/>
          </a:prstGeom>
          <a:noFill/>
        </p:spPr>
        <p:txBody>
          <a:bodyPr wrap="square" rtlCol="0">
            <a:spAutoFit/>
          </a:bodyPr>
          <a:lstStyle/>
          <a:p>
            <a:r>
              <a:rPr lang="en-US" altLang="zh-CN" dirty="0" err="1">
                <a:latin typeface="Times New Roman" panose="02020603050405020304" pitchFamily="18" charset="0"/>
                <a:cs typeface="Times New Roman" panose="02020603050405020304" pitchFamily="18" charset="0"/>
              </a:rPr>
              <a:t>FlameGraph</a:t>
            </a:r>
            <a:r>
              <a:rPr lang="zh-CN" altLang="en-US" dirty="0">
                <a:latin typeface="宋体" panose="02010600030101010101" pitchFamily="2" charset="-122"/>
                <a:ea typeface="宋体" panose="02010600030101010101" pitchFamily="2" charset="-122"/>
              </a:rPr>
              <a:t>工具使用步骤</a:t>
            </a:r>
            <a:endParaRPr lang="en-US" altLang="zh-CN" dirty="0">
              <a:latin typeface="宋体" panose="02010600030101010101" pitchFamily="2" charset="-122"/>
              <a:ea typeface="宋体" panose="02010600030101010101" pitchFamily="2" charset="-122"/>
            </a:endParaRPr>
          </a:p>
          <a:p>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r>
              <a:rPr lang="pt-BR" altLang="zh-CN" dirty="0">
                <a:latin typeface="Times New Roman" panose="02020603050405020304" pitchFamily="18" charset="0"/>
                <a:cs typeface="Times New Roman" panose="02020603050405020304" pitchFamily="18" charset="0"/>
              </a:rPr>
              <a:t>sudo perf record -e </a:t>
            </a:r>
            <a:r>
              <a:rPr lang="pt-BR" altLang="zh-CN" dirty="0">
                <a:solidFill>
                  <a:srgbClr val="FF0000"/>
                </a:solidFill>
                <a:latin typeface="Times New Roman" panose="02020603050405020304" pitchFamily="18" charset="0"/>
                <a:cs typeface="Times New Roman" panose="02020603050405020304" pitchFamily="18" charset="0"/>
              </a:rPr>
              <a:t>cpu-cycles</a:t>
            </a:r>
            <a:r>
              <a:rPr lang="pt-BR" altLang="zh-CN" dirty="0">
                <a:latin typeface="Times New Roman" panose="02020603050405020304" pitchFamily="18" charset="0"/>
                <a:cs typeface="Times New Roman" panose="02020603050405020304" pitchFamily="18" charset="0"/>
              </a:rPr>
              <a:t> -g ./hackbench </a:t>
            </a:r>
          </a:p>
          <a:p>
            <a:r>
              <a:rPr lang="en-US" altLang="zh-CN" dirty="0">
                <a:latin typeface="Times New Roman" panose="02020603050405020304" pitchFamily="18" charset="0"/>
                <a:cs typeface="Times New Roman" panose="02020603050405020304" pitchFamily="18" charset="0"/>
              </a:rPr>
              <a:t>2</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sudo</a:t>
            </a:r>
            <a:r>
              <a:rPr lang="en-US" altLang="zh-CN" dirty="0">
                <a:latin typeface="Times New Roman" panose="02020603050405020304" pitchFamily="18" charset="0"/>
                <a:cs typeface="Times New Roman" panose="02020603050405020304" pitchFamily="18" charset="0"/>
              </a:rPr>
              <a:t> perf script &gt; </a:t>
            </a:r>
            <a:r>
              <a:rPr lang="en-US" altLang="zh-CN" dirty="0" err="1">
                <a:latin typeface="Times New Roman" panose="02020603050405020304" pitchFamily="18" charset="0"/>
                <a:cs typeface="Times New Roman" panose="02020603050405020304" pitchFamily="18" charset="0"/>
              </a:rPr>
              <a:t>out.perf</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3</a:t>
            </a:r>
            <a:r>
              <a:rPr lang="zh-CN" altLang="en-US" dirty="0">
                <a:latin typeface="Times New Roman" panose="02020603050405020304" pitchFamily="18" charset="0"/>
                <a:cs typeface="Times New Roman" panose="02020603050405020304" pitchFamily="18" charset="0"/>
              </a:rPr>
              <a:t>、</a:t>
            </a:r>
            <a:r>
              <a:rPr lang="en-US" altLang="zh-CN" dirty="0" err="1">
                <a:latin typeface="Times New Roman" panose="02020603050405020304" pitchFamily="18" charset="0"/>
                <a:cs typeface="Times New Roman" panose="02020603050405020304" pitchFamily="18" charset="0"/>
              </a:rPr>
              <a:t>sudo</a:t>
            </a:r>
            <a:r>
              <a:rPr lang="en-US" altLang="zh-CN" dirty="0">
                <a:latin typeface="Times New Roman" panose="02020603050405020304" pitchFamily="18" charset="0"/>
                <a:cs typeface="Times New Roman" panose="02020603050405020304" pitchFamily="18" charset="0"/>
              </a:rPr>
              <a:t> ../FlameGraph/stackcollapse-perf.pl </a:t>
            </a:r>
            <a:r>
              <a:rPr lang="en-US" altLang="zh-CN" dirty="0" err="1">
                <a:latin typeface="Times New Roman" panose="02020603050405020304" pitchFamily="18" charset="0"/>
                <a:cs typeface="Times New Roman" panose="02020603050405020304" pitchFamily="18" charset="0"/>
              </a:rPr>
              <a:t>out.perf</a:t>
            </a:r>
            <a:r>
              <a:rPr lang="en-US" altLang="zh-CN" dirty="0">
                <a:latin typeface="Times New Roman" panose="02020603050405020304" pitchFamily="18" charset="0"/>
                <a:cs typeface="Times New Roman" panose="02020603050405020304" pitchFamily="18" charset="0"/>
              </a:rPr>
              <a:t> &gt; </a:t>
            </a:r>
            <a:r>
              <a:rPr lang="en-US" altLang="zh-CN" dirty="0" err="1">
                <a:latin typeface="Times New Roman" panose="02020603050405020304" pitchFamily="18" charset="0"/>
                <a:cs typeface="Times New Roman" panose="02020603050405020304" pitchFamily="18" charset="0"/>
              </a:rPr>
              <a:t>out.folded</a:t>
            </a:r>
            <a:endParaRPr lang="en-US" altLang="zh-CN" dirty="0">
              <a:latin typeface="Times New Roman" panose="02020603050405020304" pitchFamily="18" charset="0"/>
              <a:cs typeface="Times New Roman" panose="02020603050405020304" pitchFamily="18" charset="0"/>
            </a:endParaRPr>
          </a:p>
          <a:p>
            <a:r>
              <a:rPr lang="en-US" altLang="zh-CN" dirty="0">
                <a:latin typeface="Times New Roman" panose="02020603050405020304" pitchFamily="18" charset="0"/>
                <a:cs typeface="Times New Roman" panose="02020603050405020304" pitchFamily="18" charset="0"/>
              </a:rPr>
              <a:t>4</a:t>
            </a:r>
            <a:r>
              <a:rPr lang="zh-CN" altLang="en-US" dirty="0">
                <a:latin typeface="Times New Roman" panose="02020603050405020304" pitchFamily="18" charset="0"/>
                <a:cs typeface="Times New Roman" panose="02020603050405020304" pitchFamily="18" charset="0"/>
              </a:rPr>
              <a:t>、</a:t>
            </a:r>
            <a:r>
              <a:rPr lang="en-US" altLang="zh-CN" sz="1800" dirty="0" err="1">
                <a:effectLst/>
                <a:latin typeface="Times New Roman" panose="02020603050405020304" pitchFamily="18" charset="0"/>
                <a:ea typeface="等线" panose="02010600030101010101" pitchFamily="2" charset="-122"/>
                <a:cs typeface="Times New Roman" panose="02020603050405020304" pitchFamily="18" charset="0"/>
              </a:rPr>
              <a:t>sudo</a:t>
            </a:r>
            <a:r>
              <a:rPr lang="en-US" altLang="zh-CN" dirty="0">
                <a:latin typeface="Times New Roman" panose="02020603050405020304" pitchFamily="18" charset="0"/>
                <a:ea typeface="等线" panose="02010600030101010101" pitchFamily="2" charset="-122"/>
                <a:cs typeface="Times New Roman" panose="02020603050405020304" pitchFamily="18" charset="0"/>
              </a:rPr>
              <a:t> </a:t>
            </a:r>
            <a:r>
              <a:rPr lang="en-US" altLang="zh-CN" sz="1800" dirty="0">
                <a:effectLst/>
                <a:latin typeface="Times New Roman" panose="02020603050405020304" pitchFamily="18" charset="0"/>
                <a:ea typeface="等线" panose="02010600030101010101" pitchFamily="2" charset="-122"/>
                <a:cs typeface="Times New Roman" panose="02020603050405020304" pitchFamily="18" charset="0"/>
              </a:rPr>
              <a:t>../FlameGraph/flamegraph.pl </a:t>
            </a:r>
            <a:r>
              <a:rPr lang="en-US" altLang="zh-CN" sz="1800" dirty="0" err="1">
                <a:effectLst/>
                <a:latin typeface="Times New Roman" panose="02020603050405020304" pitchFamily="18" charset="0"/>
                <a:ea typeface="等线" panose="02010600030101010101" pitchFamily="2" charset="-122"/>
                <a:cs typeface="Times New Roman" panose="02020603050405020304" pitchFamily="18" charset="0"/>
              </a:rPr>
              <a:t>out.folded</a:t>
            </a:r>
            <a:r>
              <a:rPr lang="en-US" altLang="zh-CN" sz="1800" dirty="0">
                <a:effectLst/>
                <a:latin typeface="Times New Roman" panose="02020603050405020304" pitchFamily="18" charset="0"/>
                <a:ea typeface="等线" panose="02010600030101010101" pitchFamily="2" charset="-122"/>
                <a:cs typeface="Times New Roman" panose="02020603050405020304" pitchFamily="18" charset="0"/>
              </a:rPr>
              <a:t> &gt; </a:t>
            </a:r>
            <a:r>
              <a:rPr lang="en-US" altLang="zh-CN" sz="1800" dirty="0" err="1">
                <a:effectLst/>
                <a:latin typeface="Times New Roman" panose="02020603050405020304" pitchFamily="18" charset="0"/>
                <a:ea typeface="等线" panose="02010600030101010101" pitchFamily="2" charset="-122"/>
                <a:cs typeface="Times New Roman" panose="02020603050405020304" pitchFamily="18" charset="0"/>
              </a:rPr>
              <a:t>perf.svg</a:t>
            </a:r>
            <a:endParaRPr lang="en-US" altLang="zh-CN" sz="1800" dirty="0">
              <a:effectLst/>
              <a:latin typeface="Times New Roman" panose="02020603050405020304" pitchFamily="18" charset="0"/>
              <a:ea typeface="等线" panose="02010600030101010101" pitchFamily="2" charset="-122"/>
              <a:cs typeface="Times New Roman" panose="02020603050405020304" pitchFamily="18" charset="0"/>
            </a:endParaRPr>
          </a:p>
          <a:p>
            <a:r>
              <a:rPr lang="en-US" altLang="zh-CN" dirty="0">
                <a:latin typeface="Times New Roman" panose="02020603050405020304" pitchFamily="18" charset="0"/>
                <a:ea typeface="等线" panose="02010600030101010101" pitchFamily="2" charset="-122"/>
                <a:cs typeface="Times New Roman" panose="02020603050405020304" pitchFamily="18" charset="0"/>
              </a:rPr>
              <a:t>5</a:t>
            </a:r>
            <a:r>
              <a:rPr lang="zh-CN" altLang="en-US" dirty="0">
                <a:latin typeface="Times New Roman" panose="02020603050405020304" pitchFamily="18" charset="0"/>
                <a:ea typeface="等线" panose="02010600030101010101" pitchFamily="2" charset="-122"/>
                <a:cs typeface="Times New Roman" panose="02020603050405020304" pitchFamily="18" charset="0"/>
              </a:rPr>
              <a:t>、</a:t>
            </a:r>
            <a:r>
              <a:rPr lang="zh-CN" altLang="en-US" dirty="0">
                <a:latin typeface="宋体" panose="02010600030101010101" pitchFamily="2" charset="-122"/>
                <a:ea typeface="宋体" panose="02010600030101010101" pitchFamily="2" charset="-122"/>
                <a:cs typeface="Times New Roman" panose="02020603050405020304" pitchFamily="18" charset="0"/>
              </a:rPr>
              <a:t>使用浏览器打开</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svg</a:t>
            </a:r>
            <a:r>
              <a:rPr lang="zh-CN" altLang="en-US" dirty="0">
                <a:latin typeface="宋体" panose="02010600030101010101" pitchFamily="2" charset="-122"/>
                <a:ea typeface="宋体" panose="02010600030101010101" pitchFamily="2" charset="-122"/>
                <a:cs typeface="Times New Roman" panose="02020603050405020304" pitchFamily="18" charset="0"/>
              </a:rPr>
              <a:t>文件</a:t>
            </a:r>
          </a:p>
        </p:txBody>
      </p:sp>
      <p:pic>
        <p:nvPicPr>
          <p:cNvPr id="7" name="图片 6">
            <a:extLst>
              <a:ext uri="{FF2B5EF4-FFF2-40B4-BE49-F238E27FC236}">
                <a16:creationId xmlns:a16="http://schemas.microsoft.com/office/drawing/2014/main" id="{3396B75C-BF73-92A7-B5FB-49241B3E6A4B}"/>
              </a:ext>
            </a:extLst>
          </p:cNvPr>
          <p:cNvPicPr>
            <a:picLocks noChangeAspect="1"/>
          </p:cNvPicPr>
          <p:nvPr/>
        </p:nvPicPr>
        <p:blipFill>
          <a:blip r:embed="rId5"/>
          <a:stretch>
            <a:fillRect/>
          </a:stretch>
        </p:blipFill>
        <p:spPr>
          <a:xfrm>
            <a:off x="5240180" y="3749040"/>
            <a:ext cx="6951820" cy="3108960"/>
          </a:xfrm>
          <a:prstGeom prst="rect">
            <a:avLst/>
          </a:prstGeom>
        </p:spPr>
      </p:pic>
      <p:sp>
        <p:nvSpPr>
          <p:cNvPr id="12" name="文本框 11">
            <a:extLst>
              <a:ext uri="{FF2B5EF4-FFF2-40B4-BE49-F238E27FC236}">
                <a16:creationId xmlns:a16="http://schemas.microsoft.com/office/drawing/2014/main" id="{CC44152C-620F-11C3-7CCC-55BE9CE1C562}"/>
              </a:ext>
            </a:extLst>
          </p:cNvPr>
          <p:cNvSpPr txBox="1"/>
          <p:nvPr/>
        </p:nvSpPr>
        <p:spPr>
          <a:xfrm>
            <a:off x="172919" y="4438650"/>
            <a:ext cx="5067262" cy="1631216"/>
          </a:xfrm>
          <a:prstGeom prst="rect">
            <a:avLst/>
          </a:prstGeom>
          <a:noFill/>
        </p:spPr>
        <p:txBody>
          <a:bodyPr wrap="square" rtlCol="0">
            <a:spAutoFit/>
          </a:bodyPr>
          <a:lstStyle/>
          <a:p>
            <a:pPr marL="285750" indent="-285750" algn="just">
              <a:buFont typeface="Wingdings" panose="05000000000000000000" pitchFamily="2" charset="2"/>
              <a:buChar char="Ø"/>
            </a:pPr>
            <a:r>
              <a:rPr lang="zh-CN" altLang="en-US" sz="1600" dirty="0">
                <a:latin typeface="宋体" panose="02010600030101010101" pitchFamily="2" charset="-122"/>
                <a:ea typeface="宋体" panose="02010600030101010101" pitchFamily="2" charset="-122"/>
              </a:rPr>
              <a:t>火焰图是基于</a:t>
            </a:r>
            <a:r>
              <a:rPr lang="en-US" altLang="zh-CN" sz="1600" dirty="0">
                <a:latin typeface="宋体" panose="02010600030101010101" pitchFamily="2" charset="-122"/>
                <a:ea typeface="宋体" panose="02010600030101010101" pitchFamily="2" charset="-122"/>
                <a:cs typeface="Times New Roman" panose="02020603050405020304" pitchFamily="18" charset="0"/>
              </a:rPr>
              <a:t>stack</a:t>
            </a:r>
            <a:r>
              <a:rPr lang="zh-CN" altLang="en-US" sz="1600" dirty="0">
                <a:latin typeface="宋体" panose="02010600030101010101" pitchFamily="2" charset="-122"/>
                <a:ea typeface="宋体" panose="02010600030101010101" pitchFamily="2" charset="-122"/>
              </a:rPr>
              <a:t>信息生成的</a:t>
            </a:r>
            <a:r>
              <a:rPr lang="en-US" altLang="zh-CN" sz="1600" dirty="0" err="1">
                <a:latin typeface="宋体" panose="02010600030101010101" pitchFamily="2" charset="-122"/>
                <a:ea typeface="宋体" panose="02010600030101010101" pitchFamily="2" charset="-122"/>
                <a:cs typeface="Times New Roman" panose="02020603050405020304" pitchFamily="18" charset="0"/>
              </a:rPr>
              <a:t>svg</a:t>
            </a:r>
            <a:r>
              <a:rPr lang="zh-CN" altLang="en-US" sz="1600" dirty="0">
                <a:latin typeface="宋体" panose="02010600030101010101" pitchFamily="2" charset="-122"/>
                <a:ea typeface="宋体" panose="02010600030101010101" pitchFamily="2" charset="-122"/>
              </a:rPr>
              <a:t>图片，用来展示</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CPU</a:t>
            </a:r>
            <a:r>
              <a:rPr lang="zh-CN" altLang="en-US" sz="1600" dirty="0">
                <a:latin typeface="宋体" panose="02010600030101010101" pitchFamily="2" charset="-122"/>
                <a:ea typeface="宋体" panose="02010600030101010101" pitchFamily="2" charset="-122"/>
              </a:rPr>
              <a:t>的调用栈</a:t>
            </a:r>
            <a:endParaRPr lang="en-US" altLang="zh-CN" sz="1600" dirty="0">
              <a:latin typeface="宋体" panose="02010600030101010101" pitchFamily="2" charset="-122"/>
              <a:ea typeface="宋体" panose="02010600030101010101" pitchFamily="2" charset="-122"/>
            </a:endParaRPr>
          </a:p>
          <a:p>
            <a:pPr marL="285750" indent="-285750" algn="just">
              <a:buFont typeface="Wingdings" panose="05000000000000000000" pitchFamily="2" charset="2"/>
              <a:buChar char="Ø"/>
            </a:pPr>
            <a:r>
              <a:rPr lang="zh-CN" altLang="en-US" sz="1600" dirty="0">
                <a:latin typeface="宋体" panose="02010600030101010101" pitchFamily="2" charset="-122"/>
                <a:ea typeface="宋体" panose="02010600030101010101" pitchFamily="2" charset="-122"/>
              </a:rPr>
              <a:t>火焰图就是看</a:t>
            </a:r>
            <a:r>
              <a:rPr lang="zh-CN" altLang="en-US" sz="1600" dirty="0">
                <a:solidFill>
                  <a:srgbClr val="FF0000"/>
                </a:solidFill>
                <a:latin typeface="宋体" panose="02010600030101010101" pitchFamily="2" charset="-122"/>
                <a:ea typeface="宋体" panose="02010600030101010101" pitchFamily="2" charset="-122"/>
              </a:rPr>
              <a:t>顶层</a:t>
            </a:r>
            <a:r>
              <a:rPr lang="zh-CN" altLang="en-US" sz="1600" dirty="0">
                <a:latin typeface="宋体" panose="02010600030101010101" pitchFamily="2" charset="-122"/>
                <a:ea typeface="宋体" panose="02010600030101010101" pitchFamily="2" charset="-122"/>
              </a:rPr>
              <a:t>的哪个函数占据的</a:t>
            </a:r>
            <a:r>
              <a:rPr lang="zh-CN" altLang="en-US" sz="1600" dirty="0">
                <a:solidFill>
                  <a:srgbClr val="FF0000"/>
                </a:solidFill>
                <a:latin typeface="宋体" panose="02010600030101010101" pitchFamily="2" charset="-122"/>
                <a:ea typeface="宋体" panose="02010600030101010101" pitchFamily="2" charset="-122"/>
              </a:rPr>
              <a:t>宽度最大</a:t>
            </a:r>
            <a:r>
              <a:rPr lang="zh-CN" altLang="en-US" sz="1600" dirty="0">
                <a:latin typeface="宋体" panose="02010600030101010101" pitchFamily="2" charset="-122"/>
                <a:ea typeface="宋体" panose="02010600030101010101" pitchFamily="2" charset="-122"/>
              </a:rPr>
              <a:t>，只要有“平顶”</a:t>
            </a:r>
            <a:r>
              <a:rPr lang="en-US" altLang="zh-CN" sz="1600" dirty="0">
                <a:latin typeface="Times New Roman" panose="02020603050405020304" pitchFamily="18" charset="0"/>
                <a:ea typeface="宋体" panose="02010600030101010101" pitchFamily="2" charset="-122"/>
                <a:cs typeface="Times New Roman" panose="02020603050405020304" pitchFamily="18" charset="0"/>
              </a:rPr>
              <a:t>(plateaus)</a:t>
            </a:r>
            <a:r>
              <a:rPr lang="zh-CN" altLang="en-US" sz="1600" dirty="0">
                <a:latin typeface="宋体" panose="02010600030101010101" pitchFamily="2" charset="-122"/>
                <a:ea typeface="宋体" panose="02010600030101010101" pitchFamily="2" charset="-122"/>
              </a:rPr>
              <a:t>就表示该函数可能存在性能问题</a:t>
            </a:r>
            <a:endParaRPr lang="en-US" altLang="zh-CN" dirty="0"/>
          </a:p>
          <a:p>
            <a:pPr marL="285750" indent="-285750" algn="just">
              <a:buFont typeface="Wingdings" panose="05000000000000000000" pitchFamily="2" charset="2"/>
              <a:buChar char="Ø"/>
            </a:pPr>
            <a:r>
              <a:rPr lang="zh-CN" altLang="en-US" dirty="0">
                <a:latin typeface="宋体" panose="02010600030101010101" pitchFamily="2" charset="-122"/>
                <a:ea typeface="宋体" panose="02010600030101010101" pitchFamily="2" charset="-122"/>
              </a:rPr>
              <a:t>完整的火焰图依赖于合理的编译选项</a:t>
            </a:r>
          </a:p>
        </p:txBody>
      </p:sp>
    </p:spTree>
    <p:extLst>
      <p:ext uri="{BB962C8B-B14F-4D97-AF65-F5344CB8AC3E}">
        <p14:creationId xmlns:p14="http://schemas.microsoft.com/office/powerpoint/2010/main" val="528515567"/>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a:xfrm>
            <a:off x="29799" y="587053"/>
            <a:ext cx="11809312"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perf top</a:t>
            </a:r>
            <a:r>
              <a:rPr lang="zh-CN" altLang="en-US" dirty="0">
                <a:solidFill>
                  <a:srgbClr val="10218B"/>
                </a:solidFill>
                <a:latin typeface="宋体" panose="02010600030101010101" pitchFamily="2" charset="-122"/>
                <a:ea typeface="宋体" panose="02010600030101010101" pitchFamily="2" charset="-122"/>
                <a:cs typeface="+mn-ea"/>
                <a:sym typeface="Times New Roman" panose="02020603050405020304" pitchFamily="18" charset="0"/>
              </a:rPr>
              <a:t>定位热点函数</a:t>
            </a:r>
            <a:br>
              <a:rPr lang="en-US" altLang="zh-CN" dirty="0">
                <a:solidFill>
                  <a:srgbClr val="10218B"/>
                </a:solidFill>
                <a:latin typeface="Times New Roman" panose="02020603050405020304" pitchFamily="18" charset="0"/>
                <a:cs typeface="+mn-ea"/>
                <a:sym typeface="Times New Roman" panose="02020603050405020304" pitchFamily="18" charset="0"/>
              </a:rPr>
            </a:br>
            <a:br>
              <a:rPr lang="en-US" altLang="zh-CN" dirty="0">
                <a:solidFill>
                  <a:srgbClr val="10218B"/>
                </a:solidFill>
                <a:latin typeface="Times New Roman" panose="02020603050405020304" pitchFamily="18" charset="0"/>
                <a:cs typeface="+mn-ea"/>
                <a:sym typeface="Times New Roman" panose="02020603050405020304" pitchFamily="18" charset="0"/>
              </a:rPr>
            </a:br>
            <a:endParaRPr lang="zh-CN" altLang="en-US" dirty="0"/>
          </a:p>
        </p:txBody>
      </p:sp>
      <p:sp>
        <p:nvSpPr>
          <p:cNvPr id="13" name="文本框 12">
            <a:extLst>
              <a:ext uri="{FF2B5EF4-FFF2-40B4-BE49-F238E27FC236}">
                <a16:creationId xmlns:a16="http://schemas.microsoft.com/office/drawing/2014/main" id="{E6B1303D-3AE3-A051-08CA-2952FC908325}"/>
              </a:ext>
            </a:extLst>
          </p:cNvPr>
          <p:cNvSpPr txBox="1"/>
          <p:nvPr/>
        </p:nvSpPr>
        <p:spPr>
          <a:xfrm>
            <a:off x="-1" y="1373650"/>
            <a:ext cx="12125326" cy="646331"/>
          </a:xfrm>
          <a:prstGeom prst="rect">
            <a:avLst/>
          </a:prstGeom>
          <a:noFill/>
        </p:spPr>
        <p:txBody>
          <a:bodyPr wrap="square" rtlCol="0">
            <a:spAutoFit/>
          </a:bodyPr>
          <a:lstStyle/>
          <a:p>
            <a:pPr algn="just"/>
            <a:r>
              <a:rPr lang="en-US" altLang="zh-CN" b="1" dirty="0">
                <a:latin typeface="Times New Roman" panose="02020603050405020304" pitchFamily="18" charset="0"/>
                <a:ea typeface="宋体" panose="02010600030101010101" pitchFamily="2" charset="-122"/>
                <a:cs typeface="Times New Roman" panose="02020603050405020304" pitchFamily="18" charset="0"/>
              </a:rPr>
              <a:t>perf top</a:t>
            </a:r>
            <a:r>
              <a:rPr lang="zh-CN" altLang="en-US" dirty="0">
                <a:latin typeface="宋体" panose="02010600030101010101" pitchFamily="2" charset="-122"/>
                <a:ea typeface="宋体" panose="02010600030101010101" pitchFamily="2" charset="-122"/>
              </a:rPr>
              <a:t>主要用于</a:t>
            </a:r>
            <a:r>
              <a:rPr lang="zh-CN" altLang="en-US" dirty="0">
                <a:solidFill>
                  <a:srgbClr val="FF0000"/>
                </a:solidFill>
                <a:latin typeface="宋体" panose="02010600030101010101" pitchFamily="2" charset="-122"/>
                <a:ea typeface="宋体" panose="02010600030101010101" pitchFamily="2" charset="-122"/>
              </a:rPr>
              <a:t>实时分析</a:t>
            </a:r>
            <a:r>
              <a:rPr lang="zh-CN" altLang="en-US" dirty="0">
                <a:latin typeface="宋体" panose="02010600030101010101" pitchFamily="2" charset="-122"/>
                <a:ea typeface="宋体" panose="02010600030101010101" pitchFamily="2" charset="-122"/>
              </a:rPr>
              <a:t>各个函数在某个性能事件上的热度，能够快速的定位热点函数，包括应用程序函数、模块函数与内核函数，甚至能够定位到热点指令</a:t>
            </a:r>
          </a:p>
        </p:txBody>
      </p:sp>
      <p:sp>
        <p:nvSpPr>
          <p:cNvPr id="4" name="文本框 3">
            <a:extLst>
              <a:ext uri="{FF2B5EF4-FFF2-40B4-BE49-F238E27FC236}">
                <a16:creationId xmlns:a16="http://schemas.microsoft.com/office/drawing/2014/main" id="{204A7119-8B7A-B3DE-34A7-AD5CDF5537DB}"/>
              </a:ext>
            </a:extLst>
          </p:cNvPr>
          <p:cNvSpPr txBox="1"/>
          <p:nvPr/>
        </p:nvSpPr>
        <p:spPr>
          <a:xfrm>
            <a:off x="114301" y="2172295"/>
            <a:ext cx="3924300" cy="1200329"/>
          </a:xfrm>
          <a:prstGeom prst="rect">
            <a:avLst/>
          </a:prstGeom>
          <a:noFill/>
        </p:spPr>
        <p:txBody>
          <a:bodyPr wrap="square" rtlCol="0">
            <a:spAutoFit/>
          </a:bodyPr>
          <a:lstStyle/>
          <a:p>
            <a:r>
              <a:rPr lang="en-US" altLang="zh-CN" dirty="0">
                <a:latin typeface="Times New Roman" panose="02020603050405020304" pitchFamily="18" charset="0"/>
              </a:rPr>
              <a:t>perf top</a:t>
            </a:r>
            <a:r>
              <a:rPr lang="zh-CN" altLang="en-US" b="1" dirty="0">
                <a:latin typeface="宋体" panose="02010600030101010101" pitchFamily="2" charset="-122"/>
                <a:ea typeface="宋体" panose="02010600030101010101" pitchFamily="2" charset="-122"/>
                <a:cs typeface="Times New Roman" panose="02020603050405020304" pitchFamily="18" charset="0"/>
              </a:rPr>
              <a:t>常见用法</a:t>
            </a:r>
            <a:endParaRPr lang="en-US" altLang="zh-CN" b="1" dirty="0">
              <a:latin typeface="宋体" panose="02010600030101010101" pitchFamily="2" charset="-122"/>
              <a:ea typeface="宋体" panose="02010600030101010101" pitchFamily="2" charset="-122"/>
              <a:cs typeface="Times New Roman" panose="02020603050405020304" pitchFamily="18" charset="0"/>
            </a:endParaRPr>
          </a:p>
          <a:p>
            <a:r>
              <a:rPr lang="en-US" altLang="zh-CN" dirty="0" err="1">
                <a:latin typeface="Times New Roman" panose="02020603050405020304" pitchFamily="18" charset="0"/>
              </a:rPr>
              <a:t>s</a:t>
            </a:r>
            <a:r>
              <a:rPr lang="en-US" altLang="zh-CN" sz="1800" dirty="0" err="1">
                <a:effectLst/>
                <a:latin typeface="Times New Roman" panose="02020603050405020304" pitchFamily="18" charset="0"/>
              </a:rPr>
              <a:t>udo</a:t>
            </a:r>
            <a:r>
              <a:rPr lang="en-US" altLang="zh-CN" sz="1800" dirty="0">
                <a:effectLst/>
                <a:latin typeface="Times New Roman" panose="02020603050405020304" pitchFamily="18" charset="0"/>
              </a:rPr>
              <a:t> perf top -g -e </a:t>
            </a:r>
            <a:r>
              <a:rPr lang="en-US" altLang="zh-CN" sz="1800" dirty="0" err="1">
                <a:effectLst/>
                <a:latin typeface="Times New Roman" panose="02020603050405020304" pitchFamily="18" charset="0"/>
              </a:rPr>
              <a:t>cpu</a:t>
            </a:r>
            <a:r>
              <a:rPr lang="en-US" altLang="zh-CN" sz="1800" dirty="0">
                <a:effectLst/>
                <a:latin typeface="Times New Roman" panose="02020603050405020304" pitchFamily="18" charset="0"/>
              </a:rPr>
              <a:t>-clock -p</a:t>
            </a:r>
            <a:r>
              <a:rPr lang="en-US" altLang="zh-CN" sz="1800" dirty="0">
                <a:effectLst/>
              </a:rPr>
              <a:t> </a:t>
            </a:r>
            <a:r>
              <a:rPr lang="zh-CN" altLang="en-US" sz="1800" b="1" dirty="0">
                <a:effectLst/>
                <a:latin typeface="宋体" panose="02010600030101010101" pitchFamily="2" charset="-122"/>
                <a:ea typeface="宋体" panose="02010600030101010101" pitchFamily="2" charset="-122"/>
              </a:rPr>
              <a:t>进程号</a:t>
            </a:r>
            <a:r>
              <a:rPr lang="zh-CN" altLang="en-US" sz="1800" dirty="0">
                <a:effectLst/>
                <a:latin typeface="Times New Roman" panose="02020603050405020304" pitchFamily="18" charset="0"/>
              </a:rPr>
              <a:t> </a:t>
            </a:r>
            <a:endParaRPr lang="zh-CN" altLang="en-US" dirty="0">
              <a:effectLst/>
            </a:endParaRPr>
          </a:p>
          <a:p>
            <a:r>
              <a:rPr lang="en-US" altLang="zh-CN" dirty="0" err="1">
                <a:latin typeface="Times New Roman" panose="02020603050405020304" pitchFamily="18" charset="0"/>
              </a:rPr>
              <a:t>s</a:t>
            </a:r>
            <a:r>
              <a:rPr lang="en-US" altLang="zh-CN" sz="1800" dirty="0" err="1">
                <a:effectLst/>
                <a:latin typeface="Times New Roman" panose="02020603050405020304" pitchFamily="18" charset="0"/>
              </a:rPr>
              <a:t>udo</a:t>
            </a:r>
            <a:r>
              <a:rPr lang="en-US" altLang="zh-CN" sz="1800" dirty="0">
                <a:effectLst/>
                <a:latin typeface="Times New Roman" panose="02020603050405020304" pitchFamily="18" charset="0"/>
              </a:rPr>
              <a:t> perf top -g -e </a:t>
            </a:r>
            <a:r>
              <a:rPr lang="en-US" altLang="zh-CN" sz="1800" dirty="0" err="1">
                <a:effectLst/>
                <a:latin typeface="Times New Roman" panose="02020603050405020304" pitchFamily="18" charset="0"/>
              </a:rPr>
              <a:t>cpu</a:t>
            </a:r>
            <a:r>
              <a:rPr lang="en-US" altLang="zh-CN" sz="1800" dirty="0">
                <a:effectLst/>
                <a:latin typeface="Times New Roman" panose="02020603050405020304" pitchFamily="18" charset="0"/>
              </a:rPr>
              <a:t>-clock -t</a:t>
            </a:r>
            <a:r>
              <a:rPr lang="en-US" altLang="zh-CN" dirty="0">
                <a:effectLst/>
              </a:rPr>
              <a:t>  </a:t>
            </a:r>
            <a:r>
              <a:rPr lang="zh-CN" altLang="en-US" sz="1800" b="1" dirty="0">
                <a:effectLst/>
                <a:latin typeface="宋体" panose="02010600030101010101" pitchFamily="2" charset="-122"/>
                <a:ea typeface="宋体" panose="02010600030101010101" pitchFamily="2" charset="-122"/>
              </a:rPr>
              <a:t>线程号</a:t>
            </a:r>
            <a:endParaRPr lang="en-US" altLang="zh-CN" sz="1800" b="1" dirty="0">
              <a:effectLst/>
              <a:latin typeface="宋体" panose="02010600030101010101" pitchFamily="2" charset="-122"/>
              <a:ea typeface="宋体" panose="02010600030101010101" pitchFamily="2" charset="-122"/>
            </a:endParaRPr>
          </a:p>
          <a:p>
            <a:r>
              <a:rPr lang="en-US" altLang="zh-CN" dirty="0" err="1">
                <a:latin typeface="Times New Roman" panose="02020603050405020304" pitchFamily="18" charset="0"/>
                <a:ea typeface="宋体" panose="02010600030101010101" pitchFamily="2" charset="-122"/>
                <a:cs typeface="Times New Roman" panose="02020603050405020304" pitchFamily="18" charset="0"/>
              </a:rPr>
              <a:t>sudo</a:t>
            </a:r>
            <a:r>
              <a:rPr lang="en-US" altLang="zh-CN" dirty="0">
                <a:latin typeface="Times New Roman" panose="02020603050405020304" pitchFamily="18" charset="0"/>
                <a:ea typeface="宋体" panose="02010600030101010101" pitchFamily="2" charset="-122"/>
                <a:cs typeface="Times New Roman" panose="02020603050405020304" pitchFamily="18" charset="0"/>
              </a:rPr>
              <a:t> perf top –e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cpu</a:t>
            </a:r>
            <a:r>
              <a:rPr lang="en-US" altLang="zh-CN" dirty="0">
                <a:latin typeface="Times New Roman" panose="02020603050405020304" pitchFamily="18" charset="0"/>
                <a:ea typeface="宋体" panose="02010600030101010101" pitchFamily="2" charset="-122"/>
                <a:cs typeface="Times New Roman" panose="02020603050405020304" pitchFamily="18" charset="0"/>
              </a:rPr>
              <a:t>-cycles</a:t>
            </a:r>
            <a:endParaRPr lang="zh-CN" altLang="en-US" dirty="0">
              <a:latin typeface="Times New Roman" panose="02020603050405020304" pitchFamily="18" charset="0"/>
              <a:cs typeface="Times New Roman" panose="02020603050405020304" pitchFamily="18" charset="0"/>
            </a:endParaRPr>
          </a:p>
        </p:txBody>
      </p:sp>
      <p:pic>
        <p:nvPicPr>
          <p:cNvPr id="7" name="图片 6">
            <a:extLst>
              <a:ext uri="{FF2B5EF4-FFF2-40B4-BE49-F238E27FC236}">
                <a16:creationId xmlns:a16="http://schemas.microsoft.com/office/drawing/2014/main" id="{4AF11FAB-85B2-C8F9-98BE-AE80C6451211}"/>
              </a:ext>
            </a:extLst>
          </p:cNvPr>
          <p:cNvPicPr>
            <a:picLocks noChangeAspect="1"/>
          </p:cNvPicPr>
          <p:nvPr/>
        </p:nvPicPr>
        <p:blipFill>
          <a:blip r:embed="rId3"/>
          <a:stretch>
            <a:fillRect/>
          </a:stretch>
        </p:blipFill>
        <p:spPr>
          <a:xfrm>
            <a:off x="4067175" y="2095989"/>
            <a:ext cx="8124825" cy="3761886"/>
          </a:xfrm>
          <a:prstGeom prst="rect">
            <a:avLst/>
          </a:prstGeom>
        </p:spPr>
      </p:pic>
      <p:sp>
        <p:nvSpPr>
          <p:cNvPr id="9" name="文本框 8">
            <a:extLst>
              <a:ext uri="{FF2B5EF4-FFF2-40B4-BE49-F238E27FC236}">
                <a16:creationId xmlns:a16="http://schemas.microsoft.com/office/drawing/2014/main" id="{378F147B-0E80-609C-4110-DAC4ADF014C6}"/>
              </a:ext>
            </a:extLst>
          </p:cNvPr>
          <p:cNvSpPr txBox="1"/>
          <p:nvPr/>
        </p:nvSpPr>
        <p:spPr>
          <a:xfrm>
            <a:off x="6172201" y="5991225"/>
            <a:ext cx="3886200" cy="369332"/>
          </a:xfrm>
          <a:prstGeom prst="rect">
            <a:avLst/>
          </a:prstGeom>
          <a:noFill/>
        </p:spPr>
        <p:txBody>
          <a:bodyPr wrap="square" rtlCol="0">
            <a:spAutoFit/>
          </a:bodyPr>
          <a:lstStyle/>
          <a:p>
            <a:r>
              <a:rPr lang="en-US" altLang="zh-CN" dirty="0" err="1">
                <a:latin typeface="Times New Roman" panose="02020603050405020304" pitchFamily="18" charset="0"/>
                <a:ea typeface="宋体" panose="02010600030101010101" pitchFamily="2" charset="-122"/>
                <a:cs typeface="Times New Roman" panose="02020603050405020304" pitchFamily="18" charset="0"/>
              </a:rPr>
              <a:t>sudo</a:t>
            </a:r>
            <a:r>
              <a:rPr lang="en-US" altLang="zh-CN" dirty="0">
                <a:latin typeface="Times New Roman" panose="02020603050405020304" pitchFamily="18" charset="0"/>
                <a:ea typeface="宋体" panose="02010600030101010101" pitchFamily="2" charset="-122"/>
                <a:cs typeface="Times New Roman" panose="02020603050405020304" pitchFamily="18" charset="0"/>
              </a:rPr>
              <a:t> perf top –e </a:t>
            </a:r>
            <a:r>
              <a:rPr lang="en-US" altLang="zh-CN" dirty="0" err="1">
                <a:latin typeface="Times New Roman" panose="02020603050405020304" pitchFamily="18" charset="0"/>
                <a:ea typeface="宋体" panose="02010600030101010101" pitchFamily="2" charset="-122"/>
                <a:cs typeface="Times New Roman" panose="02020603050405020304" pitchFamily="18" charset="0"/>
              </a:rPr>
              <a:t>cpu</a:t>
            </a:r>
            <a:r>
              <a:rPr lang="en-US" altLang="zh-CN" dirty="0">
                <a:latin typeface="Times New Roman" panose="02020603050405020304" pitchFamily="18" charset="0"/>
                <a:ea typeface="宋体" panose="02010600030101010101" pitchFamily="2" charset="-122"/>
                <a:cs typeface="Times New Roman" panose="02020603050405020304" pitchFamily="18" charset="0"/>
              </a:rPr>
              <a:t>-cycles</a:t>
            </a:r>
            <a:r>
              <a:rPr lang="zh-CN" altLang="en-US" dirty="0">
                <a:latin typeface="Times New Roman" panose="02020603050405020304" pitchFamily="18" charset="0"/>
                <a:ea typeface="宋体" panose="02010600030101010101" pitchFamily="2" charset="-122"/>
                <a:cs typeface="Times New Roman" panose="02020603050405020304" pitchFamily="18" charset="0"/>
              </a:rPr>
              <a:t>结果展示图</a:t>
            </a:r>
            <a:endParaRPr lang="zh-CN" altLang="en-US" dirty="0">
              <a:latin typeface="Times New Roman" panose="02020603050405020304" pitchFamily="18" charset="0"/>
              <a:cs typeface="Times New Roman" panose="02020603050405020304" pitchFamily="18" charset="0"/>
            </a:endParaRPr>
          </a:p>
        </p:txBody>
      </p:sp>
      <p:sp>
        <p:nvSpPr>
          <p:cNvPr id="10" name="文本框 9">
            <a:extLst>
              <a:ext uri="{FF2B5EF4-FFF2-40B4-BE49-F238E27FC236}">
                <a16:creationId xmlns:a16="http://schemas.microsoft.com/office/drawing/2014/main" id="{EF16EF10-7231-6345-BF4D-DDDCD22E677E}"/>
              </a:ext>
            </a:extLst>
          </p:cNvPr>
          <p:cNvSpPr txBox="1"/>
          <p:nvPr/>
        </p:nvSpPr>
        <p:spPr>
          <a:xfrm>
            <a:off x="190500" y="4371975"/>
            <a:ext cx="3533775" cy="369332"/>
          </a:xfrm>
          <a:prstGeom prst="rect">
            <a:avLst/>
          </a:prstGeom>
          <a:noFill/>
        </p:spPr>
        <p:txBody>
          <a:bodyPr wrap="square" rtlCol="0">
            <a:spAutoFit/>
          </a:bodyPr>
          <a:lstStyle/>
          <a:p>
            <a:pPr marL="285750" indent="-285750">
              <a:buFont typeface="Wingdings" panose="05000000000000000000" pitchFamily="2" charset="2"/>
              <a:buChar char="Ø"/>
            </a:pPr>
            <a:r>
              <a:rPr lang="zh-CN" altLang="en-US" b="1" dirty="0">
                <a:latin typeface="宋体" panose="02010600030101010101" pitchFamily="2" charset="-122"/>
                <a:ea typeface="宋体" panose="02010600030101010101" pitchFamily="2" charset="-122"/>
              </a:rPr>
              <a:t>不适合用运行时太短的测试集</a:t>
            </a:r>
            <a:endParaRPr lang="en-US" altLang="zh-CN"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30530070"/>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E942435-E453-42D9-41FA-F9313E21EB1A}"/>
              </a:ext>
            </a:extLst>
          </p:cNvPr>
          <p:cNvSpPr>
            <a:spLocks noGrp="1"/>
          </p:cNvSpPr>
          <p:nvPr>
            <p:ph type="title"/>
          </p:nvPr>
        </p:nvSpPr>
        <p:spPr>
          <a:xfrm>
            <a:off x="29799" y="548953"/>
            <a:ext cx="11809312" cy="562074"/>
          </a:xfrm>
        </p:spPr>
        <p:txBody>
          <a:bodyPr/>
          <a:lstStyle/>
          <a:p>
            <a:r>
              <a:rPr lang="en-US" altLang="zh-CN" dirty="0">
                <a:solidFill>
                  <a:srgbClr val="10218B"/>
                </a:solidFill>
                <a:latin typeface="Times New Roman" panose="02020603050405020304" pitchFamily="18" charset="0"/>
                <a:cs typeface="+mn-ea"/>
                <a:sym typeface="Times New Roman" panose="02020603050405020304" pitchFamily="18" charset="0"/>
              </a:rPr>
              <a:t>RISC-V perf tips</a:t>
            </a:r>
            <a:br>
              <a:rPr lang="en-US" altLang="zh-CN" dirty="0">
                <a:solidFill>
                  <a:srgbClr val="10218B"/>
                </a:solidFill>
                <a:latin typeface="Times New Roman" panose="02020603050405020304" pitchFamily="18" charset="0"/>
                <a:cs typeface="+mn-ea"/>
                <a:sym typeface="Times New Roman" panose="02020603050405020304" pitchFamily="18" charset="0"/>
              </a:rPr>
            </a:br>
            <a:br>
              <a:rPr lang="en-US" altLang="zh-CN" dirty="0">
                <a:solidFill>
                  <a:srgbClr val="10218B"/>
                </a:solidFill>
                <a:latin typeface="Times New Roman" panose="02020603050405020304" pitchFamily="18" charset="0"/>
                <a:cs typeface="+mn-ea"/>
                <a:sym typeface="Times New Roman" panose="02020603050405020304" pitchFamily="18" charset="0"/>
              </a:rPr>
            </a:br>
            <a:endParaRPr lang="zh-CN" altLang="en-US" dirty="0"/>
          </a:p>
        </p:txBody>
      </p:sp>
      <p:sp>
        <p:nvSpPr>
          <p:cNvPr id="4" name="文本框 3">
            <a:extLst>
              <a:ext uri="{FF2B5EF4-FFF2-40B4-BE49-F238E27FC236}">
                <a16:creationId xmlns:a16="http://schemas.microsoft.com/office/drawing/2014/main" id="{764A6911-7B6F-BE11-D06D-B5B76D74631C}"/>
              </a:ext>
            </a:extLst>
          </p:cNvPr>
          <p:cNvSpPr txBox="1"/>
          <p:nvPr/>
        </p:nvSpPr>
        <p:spPr>
          <a:xfrm>
            <a:off x="29798" y="1590675"/>
            <a:ext cx="12162201" cy="4247317"/>
          </a:xfrm>
          <a:prstGeom prst="rect">
            <a:avLst/>
          </a:prstGeom>
          <a:noFill/>
        </p:spPr>
        <p:txBody>
          <a:bodyPr wrap="square" rtlCol="0">
            <a:spAutoFit/>
          </a:bodyPr>
          <a:lstStyle/>
          <a:p>
            <a:r>
              <a:rPr lang="en-US" altLang="zh-CN" b="1" dirty="0">
                <a:latin typeface="Times New Roman" panose="02020603050405020304" pitchFamily="18" charset="0"/>
                <a:ea typeface="宋体" panose="02010600030101010101" pitchFamily="2" charset="-122"/>
                <a:cs typeface="Times New Roman" panose="02020603050405020304" pitchFamily="18" charset="0"/>
              </a:rPr>
              <a:t>RISC-V</a:t>
            </a:r>
            <a:r>
              <a:rPr lang="zh-CN" altLang="en-US" b="1" dirty="0">
                <a:latin typeface="宋体" panose="02010600030101010101" pitchFamily="2" charset="-122"/>
                <a:ea typeface="宋体" panose="02010600030101010101" pitchFamily="2" charset="-122"/>
              </a:rPr>
              <a:t>上使用</a:t>
            </a:r>
            <a:r>
              <a:rPr lang="en-US" altLang="zh-CN" b="1" dirty="0">
                <a:latin typeface="Times New Roman" panose="02020603050405020304" pitchFamily="18" charset="0"/>
                <a:ea typeface="宋体" panose="02010600030101010101" pitchFamily="2" charset="-122"/>
                <a:cs typeface="Times New Roman" panose="02020603050405020304" pitchFamily="18" charset="0"/>
              </a:rPr>
              <a:t>perf</a:t>
            </a:r>
            <a:r>
              <a:rPr lang="zh-CN" altLang="en-US" b="1" dirty="0">
                <a:latin typeface="宋体" panose="02010600030101010101" pitchFamily="2" charset="-122"/>
                <a:ea typeface="宋体" panose="02010600030101010101" pitchFamily="2" charset="-122"/>
              </a:rPr>
              <a:t>的几点建议</a:t>
            </a:r>
            <a:endParaRPr lang="en-US" altLang="zh-CN" b="1" dirty="0">
              <a:latin typeface="宋体" panose="02010600030101010101" pitchFamily="2" charset="-122"/>
              <a:ea typeface="宋体" panose="02010600030101010101" pitchFamily="2" charset="-122"/>
            </a:endParaRPr>
          </a:p>
          <a:p>
            <a:pPr marL="285750" indent="-285750">
              <a:buFont typeface="Wingdings" panose="05000000000000000000" pitchFamily="2" charset="2"/>
              <a:buChar char="Ø"/>
            </a:pPr>
            <a:r>
              <a:rPr lang="zh-CN" altLang="en-US" dirty="0"/>
              <a:t>如果遇到内核函数调用栈异常问题</a:t>
            </a:r>
            <a:r>
              <a:rPr lang="en-US" altLang="zh-CN" dirty="0"/>
              <a:t>(</a:t>
            </a:r>
            <a:r>
              <a:rPr lang="zh-CN" altLang="en-US" dirty="0"/>
              <a:t>缺失、残缺</a:t>
            </a:r>
            <a:r>
              <a:rPr lang="en-US" altLang="zh-CN" dirty="0"/>
              <a:t>)</a:t>
            </a:r>
            <a:r>
              <a:rPr lang="zh-CN" altLang="en-US" dirty="0"/>
              <a:t>，去内核官方仓库</a:t>
            </a:r>
            <a:r>
              <a:rPr lang="en-US" altLang="zh-CN" dirty="0">
                <a:hlinkClick r:id="rId3"/>
              </a:rPr>
              <a:t>https://github.com/torvalds/linux</a:t>
            </a:r>
            <a:r>
              <a:rPr lang="en-US" altLang="zh-CN" dirty="0"/>
              <a:t> </a:t>
            </a:r>
            <a:r>
              <a:rPr lang="zh-CN" altLang="en-US" dirty="0"/>
              <a:t>查看是否在后续版本中有补丁修复</a:t>
            </a:r>
            <a:r>
              <a:rPr lang="en-US" altLang="zh-CN" dirty="0"/>
              <a:t>(</a:t>
            </a:r>
            <a:r>
              <a:rPr lang="zh-CN" altLang="en-US" dirty="0"/>
              <a:t>重点关注</a:t>
            </a:r>
            <a:r>
              <a:rPr lang="en-US" altLang="zh-CN" dirty="0">
                <a:latin typeface="Times New Roman" panose="02020603050405020304" pitchFamily="18" charset="0"/>
                <a:cs typeface="Times New Roman" panose="02020603050405020304" pitchFamily="18" charset="0"/>
              </a:rPr>
              <a:t>/arch/</a:t>
            </a:r>
            <a:r>
              <a:rPr lang="en-US" altLang="zh-CN" dirty="0" err="1">
                <a:latin typeface="Times New Roman" panose="02020603050405020304" pitchFamily="18" charset="0"/>
                <a:cs typeface="Times New Roman" panose="02020603050405020304" pitchFamily="18" charset="0"/>
              </a:rPr>
              <a:t>riscv</a:t>
            </a:r>
            <a:r>
              <a:rPr lang="en-US" altLang="zh-CN" dirty="0">
                <a:latin typeface="Times New Roman" panose="02020603050405020304" pitchFamily="18" charset="0"/>
                <a:cs typeface="Times New Roman" panose="02020603050405020304" pitchFamily="18" charset="0"/>
              </a:rPr>
              <a:t>/kernel</a:t>
            </a:r>
            <a:r>
              <a:rPr lang="zh-CN" altLang="en-US" dirty="0"/>
              <a:t>目录下与</a:t>
            </a:r>
            <a:r>
              <a:rPr lang="en-US" altLang="zh-CN" dirty="0">
                <a:latin typeface="Times New Roman" panose="02020603050405020304" pitchFamily="18" charset="0"/>
                <a:cs typeface="Times New Roman" panose="02020603050405020304" pitchFamily="18" charset="0"/>
              </a:rPr>
              <a:t>perf</a:t>
            </a:r>
            <a:r>
              <a:rPr lang="zh-CN" altLang="en-US" dirty="0"/>
              <a:t>相关的代码</a:t>
            </a:r>
            <a:r>
              <a:rPr lang="en-US" altLang="zh-CN" dirty="0"/>
              <a:t>)</a:t>
            </a:r>
          </a:p>
          <a:p>
            <a:endParaRPr lang="en-US" altLang="zh-CN" dirty="0"/>
          </a:p>
          <a:p>
            <a:pPr marL="285750" indent="-285750">
              <a:buFont typeface="Wingdings" panose="05000000000000000000" pitchFamily="2" charset="2"/>
              <a:buChar char="Ø"/>
            </a:pPr>
            <a:r>
              <a:rPr lang="en-US" altLang="zh-CN" b="0" i="0" dirty="0">
                <a:solidFill>
                  <a:srgbClr val="222226"/>
                </a:solidFill>
                <a:effectLst/>
                <a:latin typeface="Times New Roman" panose="02020603050405020304" pitchFamily="18" charset="0"/>
                <a:cs typeface="Times New Roman" panose="02020603050405020304" pitchFamily="18" charset="0"/>
              </a:rPr>
              <a:t>perf</a:t>
            </a:r>
            <a:r>
              <a:rPr lang="zh-CN" altLang="en-US" b="0" i="0" dirty="0">
                <a:solidFill>
                  <a:srgbClr val="222226"/>
                </a:solidFill>
                <a:effectLst/>
                <a:latin typeface="-apple-system"/>
              </a:rPr>
              <a:t>热点分析只显示动态链接库的地址，而没有显示函数符号，需要考虑安装的第三方库是否缺失</a:t>
            </a:r>
            <a:endParaRPr lang="en-US" altLang="zh-CN" b="0" i="0" dirty="0">
              <a:solidFill>
                <a:srgbClr val="222226"/>
              </a:solidFill>
              <a:effectLst/>
              <a:latin typeface="-apple-system"/>
            </a:endParaRPr>
          </a:p>
          <a:p>
            <a:pPr marL="285750" indent="-285750">
              <a:buFont typeface="Wingdings" panose="05000000000000000000" pitchFamily="2" charset="2"/>
              <a:buChar char="Ø"/>
            </a:pPr>
            <a:endParaRPr lang="en-US" altLang="zh-CN" dirty="0">
              <a:solidFill>
                <a:srgbClr val="222226"/>
              </a:solidFill>
              <a:latin typeface="-apple-system"/>
            </a:endParaRPr>
          </a:p>
          <a:p>
            <a:pPr marL="285750" indent="-285750">
              <a:buFont typeface="Wingdings" panose="05000000000000000000" pitchFamily="2" charset="2"/>
              <a:buChar char="Ø"/>
            </a:pPr>
            <a:r>
              <a:rPr lang="zh-CN" altLang="en-US" dirty="0">
                <a:solidFill>
                  <a:srgbClr val="222226"/>
                </a:solidFill>
                <a:latin typeface="-apple-system"/>
              </a:rPr>
              <a:t>目前，</a:t>
            </a:r>
            <a:r>
              <a:rPr lang="en-US" altLang="zh-CN" dirty="0">
                <a:solidFill>
                  <a:srgbClr val="222226"/>
                </a:solidFill>
                <a:latin typeface="-apple-system"/>
              </a:rPr>
              <a:t>Linux5.x</a:t>
            </a:r>
            <a:r>
              <a:rPr lang="zh-CN" altLang="en-US" dirty="0">
                <a:solidFill>
                  <a:srgbClr val="222226"/>
                </a:solidFill>
                <a:latin typeface="-apple-system"/>
              </a:rPr>
              <a:t>的</a:t>
            </a:r>
            <a:r>
              <a:rPr lang="en-US" altLang="zh-CN" dirty="0">
                <a:solidFill>
                  <a:srgbClr val="222226"/>
                </a:solidFill>
                <a:latin typeface="-apple-system"/>
              </a:rPr>
              <a:t>perf</a:t>
            </a:r>
            <a:r>
              <a:rPr lang="zh-CN" altLang="en-US" dirty="0">
                <a:solidFill>
                  <a:srgbClr val="222226"/>
                </a:solidFill>
                <a:latin typeface="-apple-system"/>
              </a:rPr>
              <a:t>与</a:t>
            </a:r>
            <a:r>
              <a:rPr lang="en-US" altLang="zh-CN" dirty="0">
                <a:solidFill>
                  <a:srgbClr val="222226"/>
                </a:solidFill>
                <a:latin typeface="-apple-system"/>
              </a:rPr>
              <a:t>Linux6.x</a:t>
            </a:r>
            <a:r>
              <a:rPr lang="zh-CN" altLang="en-US" dirty="0">
                <a:solidFill>
                  <a:srgbClr val="222226"/>
                </a:solidFill>
                <a:latin typeface="-apple-system"/>
              </a:rPr>
              <a:t>的</a:t>
            </a:r>
            <a:r>
              <a:rPr lang="en-US" altLang="zh-CN" dirty="0">
                <a:solidFill>
                  <a:srgbClr val="222226"/>
                </a:solidFill>
                <a:latin typeface="Times New Roman" panose="02020603050405020304" pitchFamily="18" charset="0"/>
                <a:cs typeface="Times New Roman" panose="02020603050405020304" pitchFamily="18" charset="0"/>
              </a:rPr>
              <a:t>perf PMU</a:t>
            </a:r>
            <a:r>
              <a:rPr lang="zh-CN" altLang="en-US" dirty="0">
                <a:solidFill>
                  <a:srgbClr val="222226"/>
                </a:solidFill>
                <a:latin typeface="-apple-system"/>
                <a:cs typeface="Times New Roman" panose="02020603050405020304" pitchFamily="18" charset="0"/>
              </a:rPr>
              <a:t>代码</a:t>
            </a:r>
            <a:r>
              <a:rPr lang="zh-CN" altLang="en-US" dirty="0">
                <a:solidFill>
                  <a:srgbClr val="222226"/>
                </a:solidFill>
                <a:latin typeface="-apple-system"/>
              </a:rPr>
              <a:t>已经有了较大的区别，主要体现在</a:t>
            </a:r>
            <a:r>
              <a:rPr lang="en-US" altLang="zh-CN" dirty="0">
                <a:solidFill>
                  <a:srgbClr val="222226"/>
                </a:solidFill>
                <a:latin typeface="Times New Roman" panose="02020603050405020304" pitchFamily="18" charset="0"/>
                <a:cs typeface="Times New Roman" panose="02020603050405020304" pitchFamily="18" charset="0"/>
              </a:rPr>
              <a:t>Linux6.x PMU</a:t>
            </a:r>
            <a:r>
              <a:rPr lang="zh-CN" altLang="en-US" dirty="0">
                <a:solidFill>
                  <a:srgbClr val="222226"/>
                </a:solidFill>
                <a:latin typeface="-apple-system"/>
              </a:rPr>
              <a:t>的一部分实现被挪到了</a:t>
            </a:r>
            <a:r>
              <a:rPr lang="en-US" altLang="zh-CN" dirty="0" err="1">
                <a:solidFill>
                  <a:srgbClr val="222226"/>
                </a:solidFill>
                <a:latin typeface="Times New Roman" panose="02020603050405020304" pitchFamily="18" charset="0"/>
                <a:cs typeface="Times New Roman" panose="02020603050405020304" pitchFamily="18" charset="0"/>
              </a:rPr>
              <a:t>opensbi</a:t>
            </a:r>
            <a:r>
              <a:rPr lang="zh-CN" altLang="en-US" dirty="0">
                <a:solidFill>
                  <a:srgbClr val="222226"/>
                </a:solidFill>
                <a:latin typeface="-apple-system"/>
              </a:rPr>
              <a:t>中；而当前</a:t>
            </a:r>
            <a:r>
              <a:rPr lang="en-US" altLang="zh-CN" dirty="0">
                <a:solidFill>
                  <a:srgbClr val="222226"/>
                </a:solidFill>
                <a:latin typeface="-apple-system"/>
              </a:rPr>
              <a:t>Linux6.x</a:t>
            </a:r>
            <a:r>
              <a:rPr lang="zh-CN" altLang="en-US" dirty="0">
                <a:solidFill>
                  <a:srgbClr val="222226"/>
                </a:solidFill>
                <a:latin typeface="-apple-system"/>
              </a:rPr>
              <a:t>的</a:t>
            </a:r>
            <a:r>
              <a:rPr lang="en-US" altLang="zh-CN" dirty="0">
                <a:solidFill>
                  <a:srgbClr val="222226"/>
                </a:solidFill>
                <a:latin typeface="-apple-system"/>
              </a:rPr>
              <a:t>perf</a:t>
            </a:r>
            <a:r>
              <a:rPr lang="zh-CN" altLang="en-US" dirty="0">
                <a:solidFill>
                  <a:srgbClr val="222226"/>
                </a:solidFill>
                <a:latin typeface="-apple-system"/>
              </a:rPr>
              <a:t>正在如火如荼完善中，所以对</a:t>
            </a:r>
            <a:r>
              <a:rPr lang="en-US" altLang="zh-CN" dirty="0">
                <a:solidFill>
                  <a:srgbClr val="222226"/>
                </a:solidFill>
                <a:latin typeface="-apple-system"/>
              </a:rPr>
              <a:t>perf</a:t>
            </a:r>
            <a:r>
              <a:rPr lang="zh-CN" altLang="en-US" dirty="0">
                <a:solidFill>
                  <a:srgbClr val="222226"/>
                </a:solidFill>
                <a:latin typeface="-apple-system"/>
              </a:rPr>
              <a:t>功能要求不高的情况下，可优先使用</a:t>
            </a:r>
            <a:r>
              <a:rPr lang="en-US" altLang="zh-CN" dirty="0">
                <a:solidFill>
                  <a:srgbClr val="222226"/>
                </a:solidFill>
                <a:latin typeface="-apple-system"/>
              </a:rPr>
              <a:t>Linux5.x</a:t>
            </a:r>
          </a:p>
          <a:p>
            <a:endParaRPr lang="en-US" altLang="zh-CN" b="0" i="0" dirty="0">
              <a:solidFill>
                <a:srgbClr val="222226"/>
              </a:solidFill>
              <a:effectLst/>
              <a:latin typeface="-apple-system"/>
            </a:endParaRPr>
          </a:p>
          <a:p>
            <a:r>
              <a:rPr lang="zh-CN" altLang="en-US" dirty="0">
                <a:solidFill>
                  <a:srgbClr val="FF0000"/>
                </a:solidFill>
                <a:latin typeface="-apple-system"/>
              </a:rPr>
              <a:t>当前</a:t>
            </a:r>
            <a:r>
              <a:rPr lang="en-US" altLang="zh-CN" b="1" dirty="0">
                <a:solidFill>
                  <a:srgbClr val="FF0000"/>
                </a:solidFill>
                <a:latin typeface="Times New Roman" panose="02020603050405020304" pitchFamily="18" charset="0"/>
                <a:cs typeface="Times New Roman" panose="02020603050405020304" pitchFamily="18" charset="0"/>
              </a:rPr>
              <a:t>RISC-V</a:t>
            </a:r>
            <a:r>
              <a:rPr lang="zh-CN" altLang="en-US" dirty="0">
                <a:solidFill>
                  <a:srgbClr val="FF0000"/>
                </a:solidFill>
                <a:latin typeface="-apple-system"/>
              </a:rPr>
              <a:t>相比</a:t>
            </a:r>
            <a:r>
              <a:rPr lang="en-US" altLang="zh-CN" b="1" dirty="0">
                <a:solidFill>
                  <a:srgbClr val="FF0000"/>
                </a:solidFill>
                <a:latin typeface="Times New Roman" panose="02020603050405020304" pitchFamily="18" charset="0"/>
                <a:cs typeface="Times New Roman" panose="02020603050405020304" pitchFamily="18" charset="0"/>
              </a:rPr>
              <a:t>ARM64/X86_64</a:t>
            </a:r>
            <a:r>
              <a:rPr lang="zh-CN" altLang="en-US" dirty="0">
                <a:solidFill>
                  <a:srgbClr val="FF0000"/>
                </a:solidFill>
                <a:latin typeface="-apple-system"/>
              </a:rPr>
              <a:t>的不足之处</a:t>
            </a:r>
            <a:endParaRPr lang="en-US" altLang="zh-CN" b="0" i="0" dirty="0">
              <a:solidFill>
                <a:srgbClr val="FF0000"/>
              </a:solidFill>
              <a:effectLst/>
              <a:latin typeface="-apple-system"/>
            </a:endParaRPr>
          </a:p>
          <a:p>
            <a:pPr marL="285750" indent="-285750">
              <a:buFont typeface="Wingdings" panose="05000000000000000000" pitchFamily="2" charset="2"/>
              <a:buChar char="Ø"/>
            </a:pPr>
            <a:r>
              <a:rPr lang="en-US" altLang="zh-CN" dirty="0">
                <a:solidFill>
                  <a:srgbClr val="222226"/>
                </a:solidFill>
                <a:latin typeface="-apple-system"/>
              </a:rPr>
              <a:t>Linux5.x</a:t>
            </a:r>
            <a:r>
              <a:rPr lang="zh-CN" altLang="en-US" dirty="0">
                <a:solidFill>
                  <a:srgbClr val="222226"/>
                </a:solidFill>
                <a:latin typeface="-apple-system"/>
              </a:rPr>
              <a:t>和</a:t>
            </a:r>
            <a:r>
              <a:rPr lang="en-US" altLang="zh-CN" dirty="0">
                <a:solidFill>
                  <a:srgbClr val="222226"/>
                </a:solidFill>
                <a:latin typeface="-apple-system"/>
              </a:rPr>
              <a:t>Linux6.x</a:t>
            </a:r>
            <a:r>
              <a:rPr lang="zh-CN" altLang="en-US" dirty="0">
                <a:solidFill>
                  <a:srgbClr val="222226"/>
                </a:solidFill>
                <a:latin typeface="-apple-system"/>
              </a:rPr>
              <a:t>的</a:t>
            </a:r>
            <a:r>
              <a:rPr lang="en-US" altLang="zh-CN" dirty="0">
                <a:solidFill>
                  <a:srgbClr val="222226"/>
                </a:solidFill>
                <a:latin typeface="-apple-system"/>
              </a:rPr>
              <a:t>perf</a:t>
            </a:r>
            <a:r>
              <a:rPr lang="zh-CN" altLang="en-US" dirty="0">
                <a:solidFill>
                  <a:srgbClr val="222226"/>
                </a:solidFill>
                <a:latin typeface="-apple-system"/>
              </a:rPr>
              <a:t>测试用户态程序</a:t>
            </a:r>
            <a:r>
              <a:rPr lang="en-US" altLang="zh-CN" dirty="0">
                <a:solidFill>
                  <a:srgbClr val="222226"/>
                </a:solidFill>
                <a:latin typeface="-apple-system"/>
              </a:rPr>
              <a:t>(</a:t>
            </a:r>
            <a:r>
              <a:rPr lang="zh-CN" altLang="en-US" dirty="0">
                <a:solidFill>
                  <a:srgbClr val="222226"/>
                </a:solidFill>
                <a:latin typeface="-apple-system"/>
              </a:rPr>
              <a:t>运行时间主要在用户态</a:t>
            </a:r>
            <a:r>
              <a:rPr lang="en-US" altLang="zh-CN" dirty="0">
                <a:solidFill>
                  <a:srgbClr val="222226"/>
                </a:solidFill>
                <a:latin typeface="-apple-system"/>
              </a:rPr>
              <a:t>)</a:t>
            </a:r>
            <a:r>
              <a:rPr lang="zh-CN" altLang="en-US" dirty="0">
                <a:solidFill>
                  <a:srgbClr val="222226"/>
                </a:solidFill>
                <a:latin typeface="-apple-system"/>
              </a:rPr>
              <a:t>时，会存在某些用户态函数调用栈残缺的问题，这个需要考虑对使用者的需求产生影响</a:t>
            </a:r>
            <a:endParaRPr lang="zh-CN" altLang="en-US" b="0" i="0" dirty="0">
              <a:solidFill>
                <a:srgbClr val="222226"/>
              </a:solidFill>
              <a:effectLst/>
              <a:latin typeface="-apple-system"/>
            </a:endParaRPr>
          </a:p>
          <a:p>
            <a:pPr marL="285750" indent="-285750">
              <a:buFont typeface="Wingdings" panose="05000000000000000000" pitchFamily="2" charset="2"/>
              <a:buChar char="Ø"/>
            </a:pPr>
            <a:endParaRPr lang="en-US" altLang="zh-CN" dirty="0"/>
          </a:p>
          <a:p>
            <a:pPr marL="285750" indent="-285750">
              <a:buFont typeface="Wingdings" panose="05000000000000000000" pitchFamily="2" charset="2"/>
              <a:buChar char="Ø"/>
            </a:pPr>
            <a:r>
              <a:rPr lang="zh-CN" altLang="en-US" dirty="0"/>
              <a:t>内核自旋锁会影响</a:t>
            </a:r>
            <a:r>
              <a:rPr lang="en-US" altLang="zh-CN" dirty="0">
                <a:latin typeface="Times New Roman" panose="02020603050405020304" pitchFamily="18" charset="0"/>
                <a:cs typeface="Times New Roman" panose="02020603050405020304" pitchFamily="18" charset="0"/>
              </a:rPr>
              <a:t>perf</a:t>
            </a:r>
            <a:r>
              <a:rPr lang="zh-CN" altLang="en-US" dirty="0"/>
              <a:t>采集结果的正确性，当前邮件列表中 </a:t>
            </a:r>
            <a:r>
              <a:rPr lang="en-US" altLang="zh-CN" dirty="0">
                <a:hlinkClick r:id="rId4"/>
              </a:rPr>
              <a:t>https://lore.kernel.org/linux-riscv/874jic4hzs.ffs@tglx/</a:t>
            </a:r>
            <a:endParaRPr lang="en-US" altLang="zh-CN" dirty="0"/>
          </a:p>
          <a:p>
            <a:r>
              <a:rPr lang="en-US" altLang="zh-CN" dirty="0"/>
              <a:t>     </a:t>
            </a:r>
            <a:r>
              <a:rPr lang="zh-CN" altLang="en-US" dirty="0"/>
              <a:t>实现了</a:t>
            </a:r>
            <a:r>
              <a:rPr lang="en-US" altLang="zh-CN" dirty="0" err="1">
                <a:latin typeface="Times New Roman" panose="02020603050405020304" pitchFamily="18" charset="0"/>
                <a:cs typeface="Times New Roman" panose="02020603050405020304" pitchFamily="18" charset="0"/>
              </a:rPr>
              <a:t>riscv</a:t>
            </a:r>
            <a:r>
              <a:rPr lang="en-US" altLang="zh-CN" dirty="0">
                <a:latin typeface="Times New Roman" panose="02020603050405020304" pitchFamily="18" charset="0"/>
                <a:cs typeface="Times New Roman" panose="02020603050405020304" pitchFamily="18" charset="0"/>
              </a:rPr>
              <a:t> pseudo NMI </a:t>
            </a:r>
            <a:r>
              <a:rPr lang="en-US" altLang="zh-CN" dirty="0"/>
              <a:t>,</a:t>
            </a:r>
            <a:r>
              <a:rPr lang="zh-CN" altLang="en-US" dirty="0"/>
              <a:t>但该提交还未正式被内核官方社区收录</a:t>
            </a:r>
          </a:p>
        </p:txBody>
      </p:sp>
    </p:spTree>
    <p:extLst>
      <p:ext uri="{BB962C8B-B14F-4D97-AF65-F5344CB8AC3E}">
        <p14:creationId xmlns:p14="http://schemas.microsoft.com/office/powerpoint/2010/main" val="2703333049"/>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5CA7352F-B8F7-B9C7-7D13-2AF9E7F0454B}"/>
              </a:ext>
            </a:extLst>
          </p:cNvPr>
          <p:cNvSpPr>
            <a:spLocks noGrp="1"/>
          </p:cNvSpPr>
          <p:nvPr>
            <p:ph type="title"/>
          </p:nvPr>
        </p:nvSpPr>
        <p:spPr/>
        <p:txBody>
          <a:bodyPr/>
          <a:lstStyle/>
          <a:p>
            <a:endParaRPr lang="zh-CN" altLang="en-US"/>
          </a:p>
        </p:txBody>
      </p:sp>
      <p:sp>
        <p:nvSpPr>
          <p:cNvPr id="6" name="文本框 5">
            <a:extLst>
              <a:ext uri="{FF2B5EF4-FFF2-40B4-BE49-F238E27FC236}">
                <a16:creationId xmlns:a16="http://schemas.microsoft.com/office/drawing/2014/main" id="{BFD160D7-3690-4467-377B-BBBC999363AF}"/>
              </a:ext>
            </a:extLst>
          </p:cNvPr>
          <p:cNvSpPr txBox="1"/>
          <p:nvPr/>
        </p:nvSpPr>
        <p:spPr>
          <a:xfrm>
            <a:off x="0" y="2204864"/>
            <a:ext cx="12192000" cy="3046988"/>
          </a:xfrm>
          <a:prstGeom prst="rect">
            <a:avLst/>
          </a:prstGeom>
          <a:noFill/>
        </p:spPr>
        <p:txBody>
          <a:bodyPr wrap="square" rtlCol="0" anchor="ctr">
            <a:spAutoFit/>
          </a:bodyPr>
          <a:lstStyle/>
          <a:p>
            <a:pPr algn="ctr"/>
            <a:r>
              <a:rPr lang="en-US" altLang="zh-CN" sz="9600" b="1" dirty="0">
                <a:solidFill>
                  <a:srgbClr val="FF0000"/>
                </a:solidFill>
                <a:latin typeface="Times New Roman" panose="02020603050405020304" pitchFamily="18" charset="0"/>
                <a:cs typeface="Times New Roman" panose="02020603050405020304" pitchFamily="18" charset="0"/>
              </a:rPr>
              <a:t>Thanks</a:t>
            </a:r>
            <a:r>
              <a:rPr lang="zh-CN" altLang="en-US" sz="9600" b="1" dirty="0">
                <a:solidFill>
                  <a:srgbClr val="FF0000"/>
                </a:solidFill>
                <a:latin typeface="Times New Roman" panose="02020603050405020304" pitchFamily="18" charset="0"/>
                <a:cs typeface="Times New Roman" panose="02020603050405020304" pitchFamily="18" charset="0"/>
              </a:rPr>
              <a:t>！</a:t>
            </a:r>
            <a:endParaRPr lang="en-US" altLang="zh-CN" sz="9600" b="1" dirty="0">
              <a:solidFill>
                <a:srgbClr val="FF0000"/>
              </a:solidFill>
              <a:latin typeface="Times New Roman" panose="02020603050405020304" pitchFamily="18" charset="0"/>
              <a:cs typeface="Times New Roman" panose="02020603050405020304" pitchFamily="18" charset="0"/>
            </a:endParaRPr>
          </a:p>
          <a:p>
            <a:pPr algn="ctr"/>
            <a:r>
              <a:rPr lang="en-US" altLang="zh-CN" sz="9600" b="1" dirty="0">
                <a:solidFill>
                  <a:srgbClr val="FF0000"/>
                </a:solidFill>
                <a:latin typeface="Times New Roman" panose="02020603050405020304" pitchFamily="18" charset="0"/>
                <a:cs typeface="Times New Roman" panose="02020603050405020304" pitchFamily="18" charset="0"/>
              </a:rPr>
              <a:t>	Q&amp;A</a:t>
            </a:r>
            <a:endParaRPr lang="zh-CN" altLang="en-US" sz="9600" b="1" dirty="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99335432"/>
      </p:ext>
    </p:extLst>
  </p:cSld>
  <p:clrMapOvr>
    <a:masterClrMapping/>
  </p:clrMapOvr>
  <p:transition/>
</p:sld>
</file>

<file path=ppt/theme/theme1.xml><?xml version="1.0" encoding="utf-8"?>
<a:theme xmlns:a="http://schemas.openxmlformats.org/drawingml/2006/main" name="39_母板">
  <a:themeElements>
    <a:clrScheme name="38_母板 2">
      <a:dk1>
        <a:srgbClr val="000000"/>
      </a:dk1>
      <a:lt1>
        <a:srgbClr val="FFFFFF"/>
      </a:lt1>
      <a:dk2>
        <a:srgbClr val="778495"/>
      </a:dk2>
      <a:lt2>
        <a:srgbClr val="F0F0F0"/>
      </a:lt2>
      <a:accent1>
        <a:srgbClr val="2286A5"/>
      </a:accent1>
      <a:accent2>
        <a:srgbClr val="DE5F0F"/>
      </a:accent2>
      <a:accent3>
        <a:srgbClr val="EDAE1B"/>
      </a:accent3>
      <a:accent4>
        <a:srgbClr val="0F6079"/>
      </a:accent4>
      <a:accent5>
        <a:srgbClr val="00A3D5"/>
      </a:accent5>
      <a:accent6>
        <a:srgbClr val="0052CE"/>
      </a:accent6>
      <a:hlink>
        <a:srgbClr val="2286A5"/>
      </a:hlink>
      <a:folHlink>
        <a:srgbClr val="BFBFBF"/>
      </a:folHlink>
    </a:clrScheme>
    <a:fontScheme name="edgtmotf">
      <a:majorFont>
        <a:latin typeface=""/>
        <a:ea typeface="微软雅黑"/>
        <a:cs typeface=""/>
      </a:majorFont>
      <a:minorFont>
        <a:latin typeface=""/>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38_母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38_母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38_母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38_母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38_母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38_母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38_母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7752</TotalTime>
  <Words>1821</Words>
  <Application>Microsoft Office PowerPoint</Application>
  <PresentationFormat>宽屏</PresentationFormat>
  <Paragraphs>214</Paragraphs>
  <Slides>21</Slides>
  <Notes>21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21</vt:i4>
      </vt:variant>
    </vt:vector>
  </HeadingPairs>
  <TitlesOfParts>
    <vt:vector size="33" baseType="lpstr">
      <vt:lpstr>-apple-system</vt:lpstr>
      <vt:lpstr>等线</vt:lpstr>
      <vt:lpstr>华文隶书</vt:lpstr>
      <vt:lpstr>思源黑体 CN Bold</vt:lpstr>
      <vt:lpstr>思源黑体 CN Regular</vt:lpstr>
      <vt:lpstr>宋体</vt:lpstr>
      <vt:lpstr>Arial</vt:lpstr>
      <vt:lpstr>Times New Roman</vt:lpstr>
      <vt:lpstr>Wingdings</vt:lpstr>
      <vt:lpstr>39_母板</vt:lpstr>
      <vt:lpstr>程序包</vt:lpstr>
      <vt:lpstr>包装程序外壳对象</vt:lpstr>
      <vt:lpstr>PowerPoint 演示文稿</vt:lpstr>
      <vt:lpstr>perf运行环境与架构图</vt:lpstr>
      <vt:lpstr>perf内核源码架构</vt:lpstr>
      <vt:lpstr>perf原理1</vt:lpstr>
      <vt:lpstr>perf原理2</vt:lpstr>
      <vt:lpstr>perf原理3</vt:lpstr>
      <vt:lpstr>perf中断</vt:lpstr>
      <vt:lpstr>perf内核编译选项</vt:lpstr>
      <vt:lpstr>perf源码编译</vt:lpstr>
      <vt:lpstr>perf依赖的第三方库</vt:lpstr>
      <vt:lpstr>perf支持的命令</vt:lpstr>
      <vt:lpstr>perf list查看事件类型</vt:lpstr>
      <vt:lpstr>hackbench测试集</vt:lpstr>
      <vt:lpstr>perf stat测试出PMU性能数据  </vt:lpstr>
      <vt:lpstr>perf record栈回溯方式  </vt:lpstr>
      <vt:lpstr>perf 函数调用栈的生成  </vt:lpstr>
      <vt:lpstr>PowerPoint 演示文稿</vt:lpstr>
      <vt:lpstr>FlameGraph火焰图分析热点函数</vt:lpstr>
      <vt:lpstr>perf top定位热点函数  </vt:lpstr>
      <vt:lpstr>RISC-V perf tips  </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C库优化调研v1.0</dc:title>
  <dc:creator>fei zhang</dc:creator>
  <cp:lastModifiedBy>snsn1</cp:lastModifiedBy>
  <cp:revision>272</cp:revision>
  <dcterms:created xsi:type="dcterms:W3CDTF">2022-12-15T01:38:50Z</dcterms:created>
  <dcterms:modified xsi:type="dcterms:W3CDTF">2023-12-14T07:40:29Z</dcterms:modified>
</cp:coreProperties>
</file>